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6511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setting expectations: this is not a product overview. It is an operations-heavy walk-through designed for engineers who already know the UI. Call out that case studies are composite patterns, not named customers.
[Sources]
- Infoblox NIOS documentation: About Infoblox Grids
- Infoblox NIOS documentation: About HA Pairs
- Infoblox NIOS documentation: Managing Licenses / Managing Certificates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the audience to listen for three recurring themes: authority, synchronization, and evidence. Most advanced Infoblox incidents reduce to one of those themes.
[Sources]
- Deck structure authored for this lecture; operational themes derived from public Infoblox documentation across Grid, DNS, DHCP, HA, and audit topics.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the diagram clockwise: administrator to Grid Master, member-specific database slices, full database on the candidate, and reporting data flow. Emphasize that changes can be blocked while services still answer traffic.
[Sources]
- Infoblox NIOS documentation: About Infoblox Grids
- Infoblox NIOS documentation: Grid and partitioned database replication / reporting member behavior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where you explain why a management outage and a service outage are not the same thing. Call out that operators often test only DNS resolution and miss that the member is unsynchronized or carrying a pending restart.
[Sources]
- Infoblox NIOS documentation: Grid Communications
- Infoblox NIOS documentation: About Infoblox Grids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 home that the word coexistence hides three very different programs. Migration optimizes for speed and validation. Carveout optimizes for boundary clarity. Long-term coexistence optimizes for ownership discipline.
[Sources]
- Infoblox NIOS documentation: Configuration Example – Configuring a Grid
- Infoblox NIOS documentation: Configuring Microsoft Windows Servers
- Infoblox blog: Transform Microsoft IPAM: Supporting Windows Server 2022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class this is a composite case, then ask them which hidden dependency usually surprises teams most: reverse zones, DDNS ownership, or DHCP option inheritance. Use that discussion to reinforce inventory discipline.
[Sources]
- Composite case built from recurring patterns in Infoblox NIOS migration documentation and public Infoblox community field guidance; not a named customer.
- Infoblox NIOS documentation: Configuration Example – Configuring a Grid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why carveout programs fail even when exports/imports are technically successful: the teams never translated organizational boundaries into DDI object boundaries.
[Sources]
- Composite case built from recurring carveout patterns discussed in Infoblox field guidance and general DDI operating practices; not a named customer.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integration is a control pattern, not necessarily a permanent architecture. Good engineers use it to stage migration safely; bad engineers use it to avoid making an ownership decision.
[Sources]
- Infoblox NIOS documentation: About Managing Microsoft Windows Servers
- Infoblox NIOS documentation: Configuring Microsoft Windows Servers
- Infoblox blog: Transform Microsoft IPAM: Supporting Windows Server 2022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advanced DNS troubleshooting becomes easier if you refuse to use the phrase "DNS is broken". Force the class to say whether recursion, authority, view selection, or upstream dependency is failing.
[Sources]
- Infoblox NIOS documentation: DNS resolver configuration topics
- Infoblox NIOS documentation: DNS query logging and DNS views topics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this as the class control slide for DNS investigations. Point at each box and ask what evidence you can collect there. That turns general DNS knowledge into a concrete Infoblox workflow.
[Sources]
- Infoblox NIOS documentation: DNS query logging topics
- General DNS operational model consistent with RFC-based recursive/authoritative resolution behavior.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screenshot to point out that logging choices are about category selection, not just an on/off switch. Mention dnstap as the better option when syslog-style query logging becomes too heavy.
[Sources]
- Infoblox NIOS documentation: DNS Query Logging
- Infoblox NIOS documentation: Setting DNS Logging Categories
- Infoblox NIOS documentation: dnstap logging support in NIOS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students to memorize the symptom categories rather than specific commands. The classification process is what scales across environments and versions.
[Sources]
- Infoblox NIOS documentation: DNS query logging topics
- Infoblox reporting documentation: DNS traffic dashboards and NXDOMAIN/SERVFAIL reports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audience how they would prove view selection from both the member and the client path. That discussion usually surfaces ACLs, recursion policy, and cache state naturally.
[Sources]
- Infoblox NIOS documentation: DNS views and recursive view assignment topics
- Public Infoblox screenshot demonstrating manual DNS view ordering on a member.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lower right card to bridge DHCP into DNS. That is a good moment to remind the class that many app teams experience a DHCP problem as a DNS problem because the IP assignment worked but DDNS did not.
[Sources]
- Infoblox NIOS documentation: IPv4 DHCP protocol overview
- Infoblox NIOS documentation: DHCP relay and Option 82 topics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the two screenshots together: one proves why lease history is useful, the other shows that the data quality depends on earlier configuration decisions.
[Sources]
- Infoblox NIOS documentation: Managing Leases
- Infoblox reporting documentation: DHCP Lease History report / dashboard behavior
- Public Infoblox screenshot of Grid DHCP Properties (Advanced).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show why DHCP troubleshooting benefits from strict symptom classification just like DNS troubleshooting does. Without classification, teams jump straight to ranges and options and lose time.
[Sources]
- Infoblox NIOS documentation: DHCP protocol and relay topics
- Infoblox NIOS documentation: Managing Leases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log message aloud. It is one of those beautifully direct clues that teams ignore because they are already mentally committed to a scope-exhaustion theory.
[Sources]
- Infoblox community / public lab screenshot showing DHCPDISCOVER unknown network segment troubleshooting
- Infoblox NIOS documentation: DHCP relay and network matching topics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students should not panic when they see short initial lease timers or temporary peer imbalance. Save the panic for deadlock, conflict, or asymmetric network ownership.
[Sources]
- Infoblox NIOS documentation: Configuring DHCP failover associations
- Infoblox NIOS documentation: Recovering DHCP failover associations / deadlock recovery
- Infoblox public guidance: short initial lease in DHCP failover is expected behavior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image to make the hierarchy tangible, then stress that the real value is not the map itself but the operational meaning of the hierarchy and metadata.
[Sources]
- Infoblox NIOS documentation: IPAM object model / network containers, networks, and ranges
- Infoblox NIOS documentation: About Extensible Attributes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IPAM is not only inventory. In many outages the decisive evidence is the audit sequence that shows an object change immediately before the symptom window.
[Sources]
- Infoblox NIOS documentation: Using Audit Log / Viewing Audit Log / About Audit Log Events
- Infoblox NIOS documentation: Audit Log WAPI Events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ingestion choice as question-driven. If the team wants rapid operational breadcrumbs, syslog is fine. If they want rich object-change analytics, reporting/API access becomes more attractive.
[Sources]
- Infoblox NIOS documentation: Accessing Audit Log Information from Reporting Server via the Splunk API
- Infoblox NIOS documentation: External syslog configuration / monitoring topics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audience that the exact sourcetype and field names depend on their app and parsing strategy. The important part is the logic of the pivots: src_ip, query, member, object_name, and action.
[Sources]
- Splunkbase: Infoblox App for Splunk
- Infoblox NIOS documentation: DNS query/response log message mapping to SIEM fields
- Infoblox NIOS documentation: Accessing Audit Log Information from Reporting Server via the Splunk API</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teach the audience to start incidents with a Grid status snapshot. That is often more valuable than the first screen full of logs.
[Sources]
- Infoblox NIOS documentation: About Infoblox Grids
- Public Infoblox Grid Manager screenshot used for instructional purposes.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screenshot to explain that the passive node does not become passive by magic; it becomes passive by hearing the correct advertisements and establishing the correct HA relationship.
[Sources]
- Infoblox NIOS documentation: About HA Pairs
- Infoblox NIOS documentation: Planning for an HA Pair
- Infoblox NIOS documentation: VRRP Advertisements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connect interface design with security controls. Many environments harden the network around the appliances and accidentally break HA ports or the VPN tunnel.
[Sources]
- Infoblox NIOS documentation: Planning for an HA Pair
- Infoblox NIOS documentation: Creating a Grid Master / HA key exchange and VPN tunnel details
- Infoblox NIOS documentation: Changing Grid Properties (VPN port considerations)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the class understands why HA and switching are inseparable here. The appliance can fail over correctly and still appear unavailable if the surrounding network has not relearned the virtual MAC.
[Sources]
- Infoblox NIOS documentation: About HA Pairs / VIP and virtual MAC behavior
- Infoblox NIOS documentation: Planning for an HA Pair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critical distinction slide. Explain the promote-master workflow conceptually, then emphasize that teams should rehearse it rather than learning it during a real control-plane failure.
[Sources]
- Infoblox NIOS documentation: Promoting a Grid Master Candidate
- Infoblox NIOS CLI documentation: set promote_master
- Infoblox NIOS documentation: Grid Master Candidate promote test / staggered member restart guidance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often resonates with network engineers. Emphasize that a perfect appliance failover can still fail operationally if the surrounding network does not relearn the virtual MAC promptly.
[Sources]
- Infoblox NIOS documentation: About HA Pairs / VIP and virtual MAC behavior
- Infoblox public education / knowledge note: VRRP MAC can remain fixed after suspend/unsuspend in certain scenarios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make licensing concrete: it affects service placement, DR, and HA readiness. It is not only an administrative afterthought.
[Sources]
- Infoblox NIOS documentation: License Types
- Infoblox NIOS documentation: Managing Licenses
- Infoblox NIOS documentation: Grid-wide licenses generated from Grid Master UID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good place to remind the class that not every “member eviction” or service loss is a software bug. Sometimes the platform is faithfully enforcing license state.
[Sources]
- Infoblox NIOS documentation: NIOS Licenses and License Expiry
- Infoblox NIOS documentation: Managing Licenses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that replacing a cert can log them out. That tiny operational detail causes surprising stress during change windows if it is not expected.
[Sources]
- Infoblox NIOS documentation: Managing Certificates / Uploading HTTPS Certificates
- Infoblox NIOS documentation: Managing CA Certificates / PEM requirements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that certificates fail in clusters: trust chain, naming, and time. If they test only one of those three, they may leave the incident half-resolved.
[Sources]
- Composite case built from common certificate-management failure patterns in appliance administration.
- Infoblox NIOS documentation: Managing Certificates / CA certificates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“keep the pair stable and collect data” is sometimes the most mature response. Engineers under pressure often induce a second failure by forcing unnecessary role changes.
[Sources]
- Infoblox NIOS documentation: About HA Pairs
- Infoblox NIOS documentation: Planning for an HA Pair
- Infoblox public guidance on VRRP/MAC-related anomalies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you coach discipline. Most bad DHCP failover recoveries happen because engineers skip straight to reset or partner-down actions without capturing state first.
[Sources]
- Infoblox NIOS documentation: Configuring and Recovering DHCP Failover Associations
- Infoblox public community guidance: data to collect for DHCP failover troubleshooting</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troubleshooting sequence by reminding students that changing multiple layers at once is the enemy of learning. If they keep a proof chain, they will solve incidents faster and teach others better.
[Sources]
- Infoblox NIOS documentation: DNS query logging and troubleshooting-related reporting topics
- Infoblox NIOS documentation: DNS views and resolver configuration topics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by challenging the audience to turn one of the lecture playbooks into a runbook within a week. That is the fastest way to convert training into operational improvement.
[Sources]
- Lecture synthesis based on the Infoblox public documentation and public product material cited throughout the deck.</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jp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1005840"/>
          </a:xfrm>
          <a:prstGeom prst="rect">
            <a:avLst/>
          </a:prstGeom>
          <a:solidFill>
            <a:srgbClr val="16324F"/>
          </a:solidFill>
          <a:ln w="12700">
            <a:solidFill>
              <a:srgbClr val="16324F"/>
            </a:solidFill>
            <a:prstDash val="solid"/>
          </a:ln>
        </p:spPr>
        <p:txBody>
          <a:bodyPr/>
          <a:lstStyle/>
          <a:p>
            <a:endParaRPr lang="en-US"/>
          </a:p>
        </p:txBody>
      </p:sp>
      <p:sp>
        <p:nvSpPr>
          <p:cNvPr id="4" name="Text 2"/>
          <p:cNvSpPr/>
          <p:nvPr/>
        </p:nvSpPr>
        <p:spPr>
          <a:xfrm>
            <a:off x="502920" y="1188720"/>
            <a:ext cx="7040880" cy="502920"/>
          </a:xfrm>
          <a:prstGeom prst="rect">
            <a:avLst/>
          </a:prstGeom>
          <a:noFill/>
          <a:ln/>
        </p:spPr>
        <p:txBody>
          <a:bodyPr wrap="square" lIns="0" tIns="0" rIns="0" bIns="0" rtlCol="0" anchor="ctr"/>
          <a:lstStyle/>
          <a:p>
            <a:pPr marL="0" indent="0">
              <a:buNone/>
            </a:pPr>
            <a:r>
              <a:rPr lang="en-US" sz="2700" b="1" dirty="0">
                <a:solidFill>
                  <a:srgbClr val="16324F"/>
                </a:solidFill>
                <a:latin typeface="Aptos Display" pitchFamily="34" charset="0"/>
                <a:ea typeface="Aptos Display" pitchFamily="34" charset="-122"/>
                <a:cs typeface="Aptos Display" pitchFamily="34" charset="-120"/>
              </a:rPr>
              <a:t>INFOBLOX DDI ADVANCED OPERATIONS</a:t>
            </a:r>
            <a:endParaRPr lang="en-US" sz="2700" dirty="0"/>
          </a:p>
        </p:txBody>
      </p:sp>
      <p:sp>
        <p:nvSpPr>
          <p:cNvPr id="5" name="Text 3"/>
          <p:cNvSpPr/>
          <p:nvPr/>
        </p:nvSpPr>
        <p:spPr>
          <a:xfrm>
            <a:off x="521208" y="1828800"/>
            <a:ext cx="6949440" cy="822960"/>
          </a:xfrm>
          <a:prstGeom prst="rect">
            <a:avLst/>
          </a:prstGeom>
          <a:noFill/>
          <a:ln/>
        </p:spPr>
        <p:txBody>
          <a:bodyPr wrap="square" lIns="0" tIns="0" rIns="0" bIns="0" rtlCol="0" anchor="ctr"/>
          <a:lstStyle/>
          <a:p>
            <a:pPr marL="0" indent="0">
              <a:buNone/>
            </a:pPr>
            <a:r>
              <a:rPr lang="en-US" sz="1800" dirty="0">
                <a:solidFill>
                  <a:srgbClr val="23313F"/>
                </a:solidFill>
                <a:latin typeface="Aptos" pitchFamily="34" charset="0"/>
                <a:ea typeface="Aptos" pitchFamily="34" charset="-122"/>
                <a:cs typeface="Aptos" pitchFamily="34" charset="-120"/>
              </a:rPr>
              <a:t>Architecture, coexistence patterns, DNS and DHCP logging, IPAM analytics, Grid and HA mechanics, and day-two operational troubleshooting</a:t>
            </a:r>
            <a:endParaRPr lang="en-US" sz="1800" dirty="0"/>
          </a:p>
        </p:txBody>
      </p:sp>
      <p:pic>
        <p:nvPicPr>
          <p:cNvPr id="6" name="Image 0" descr="/mnt/data/infoblox_deck/assets/db_replication.png"/>
          <p:cNvPicPr>
            <a:picLocks noChangeAspect="1"/>
          </p:cNvPicPr>
          <p:nvPr/>
        </p:nvPicPr>
        <p:blipFill>
          <a:blip r:embed="rId3"/>
          <a:stretch>
            <a:fillRect/>
          </a:stretch>
        </p:blipFill>
        <p:spPr>
          <a:xfrm>
            <a:off x="5068956" y="2283558"/>
            <a:ext cx="5857425" cy="3522882"/>
          </a:xfrm>
          <a:prstGeom prst="rect">
            <a:avLst/>
          </a:prstGeom>
        </p:spPr>
      </p:pic>
      <p:pic>
        <p:nvPicPr>
          <p:cNvPr id="7" name="Image 1" descr="/mnt/data/infoblox_deck/assets/ha_vip_virtual_mac.png"/>
          <p:cNvPicPr>
            <a:picLocks noChangeAspect="1"/>
          </p:cNvPicPr>
          <p:nvPr/>
        </p:nvPicPr>
        <p:blipFill>
          <a:blip r:embed="rId4"/>
          <a:stretch>
            <a:fillRect/>
          </a:stretch>
        </p:blipFill>
        <p:spPr>
          <a:xfrm>
            <a:off x="502919" y="2616845"/>
            <a:ext cx="3124863" cy="3345855"/>
          </a:xfrm>
          <a:prstGeom prst="rect">
            <a:avLst/>
          </a:prstGeom>
        </p:spPr>
      </p:pic>
      <p:sp>
        <p:nvSpPr>
          <p:cNvPr id="9" name="Text 5"/>
          <p:cNvSpPr/>
          <p:nvPr/>
        </p:nvSpPr>
        <p:spPr>
          <a:xfrm>
            <a:off x="548640" y="5989320"/>
            <a:ext cx="10972800" cy="320040"/>
          </a:xfrm>
          <a:prstGeom prst="rect">
            <a:avLst/>
          </a:prstGeom>
          <a:noFill/>
          <a:ln/>
        </p:spPr>
        <p:txBody>
          <a:bodyPr wrap="square" lIns="0" tIns="0" rIns="0" bIns="0" rtlCol="0" anchor="ctr"/>
          <a:lstStyle/>
          <a:p>
            <a:pPr marL="0" indent="0">
              <a:buNone/>
            </a:pPr>
            <a:r>
              <a:rPr lang="en-US" sz="1120" i="1" dirty="0">
                <a:solidFill>
                  <a:srgbClr val="5D6872"/>
                </a:solidFill>
                <a:latin typeface="Aptos" pitchFamily="34" charset="0"/>
                <a:ea typeface="Aptos" pitchFamily="34" charset="-122"/>
                <a:cs typeface="Aptos" pitchFamily="34" charset="-120"/>
              </a:rPr>
              <a:t>Screenshots are from public Infoblox documentation, community material, or public product pages. Case studies are composite scenarios built from recurring operational patterns rather than named customers.</a:t>
            </a:r>
            <a:endParaRPr lang="en-US" sz="1120" dirty="0"/>
          </a:p>
        </p:txBody>
      </p:sp>
      <p:sp>
        <p:nvSpPr>
          <p:cNvPr id="10" name="Shape 6"/>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1" name="Text 7"/>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Advanced Infoblox lecture deck</a:t>
            </a:r>
            <a:endParaRPr lang="en-US" sz="900" dirty="0"/>
          </a:p>
        </p:txBody>
      </p:sp>
      <p:sp>
        <p:nvSpPr>
          <p:cNvPr id="12" name="Text 8"/>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SESSION MAP</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How to use this deck in a two-hour advanced class</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The pacing below gives the lecturer natural pause points for questions, live demos, or whiteboarding.</a:t>
            </a:r>
            <a:endParaRPr lang="en-US" sz="1050" dirty="0"/>
          </a:p>
        </p:txBody>
      </p:sp>
      <p:sp>
        <p:nvSpPr>
          <p:cNvPr id="7" name="Text 5"/>
          <p:cNvSpPr/>
          <p:nvPr/>
        </p:nvSpPr>
        <p:spPr>
          <a:xfrm>
            <a:off x="548640" y="1234440"/>
            <a:ext cx="5349240" cy="1691640"/>
          </a:xfrm>
          <a:prstGeom prst="rect">
            <a:avLst/>
          </a:prstGeom>
          <a:solidFill>
            <a:srgbClr val="F5F7F9"/>
          </a:solidFill>
          <a:ln w="12700">
            <a:solidFill>
              <a:srgbClr val="16324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1. Architecture and coexistence
</a:t>
            </a:r>
            <a:r>
              <a:rPr lang="en-US" sz="1540" dirty="0">
                <a:solidFill>
                  <a:srgbClr val="23313F"/>
                </a:solidFill>
                <a:latin typeface="Aptos" pitchFamily="34" charset="0"/>
                <a:ea typeface="Aptos" pitchFamily="34" charset="-122"/>
                <a:cs typeface="Aptos" pitchFamily="34" charset="-120"/>
              </a:rPr>
              <a:t>Slides 3-8. Review the Grid model, migration versus carveout patterns, and how to integrate legacy DNS/DHCP platforms without creating two competing sources of truth.</a:t>
            </a:r>
            <a:endParaRPr lang="en-US" sz="1700" dirty="0"/>
          </a:p>
        </p:txBody>
      </p:sp>
      <p:sp>
        <p:nvSpPr>
          <p:cNvPr id="8" name="Text 6"/>
          <p:cNvSpPr/>
          <p:nvPr/>
        </p:nvSpPr>
        <p:spPr>
          <a:xfrm>
            <a:off x="6263640" y="1234440"/>
            <a:ext cx="5349240" cy="1691640"/>
          </a:xfrm>
          <a:prstGeom prst="rect">
            <a:avLst/>
          </a:prstGeom>
          <a:solidFill>
            <a:srgbClr val="EEF6FB"/>
          </a:solidFill>
          <a:ln w="12700">
            <a:solidFill>
              <a:srgbClr val="0E79C1"/>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0E79C1"/>
                </a:solidFill>
                <a:latin typeface="Aptos" pitchFamily="34" charset="0"/>
                <a:ea typeface="Aptos" pitchFamily="34" charset="-122"/>
                <a:cs typeface="Aptos" pitchFamily="34" charset="-120"/>
              </a:rPr>
              <a:t>2. Service logs and operational evidence
</a:t>
            </a:r>
            <a:r>
              <a:rPr lang="en-US" sz="1540" dirty="0">
                <a:solidFill>
                  <a:srgbClr val="23313F"/>
                </a:solidFill>
                <a:latin typeface="Aptos" pitchFamily="34" charset="0"/>
                <a:ea typeface="Aptos" pitchFamily="34" charset="-122"/>
                <a:cs typeface="Aptos" pitchFamily="34" charset="-120"/>
              </a:rPr>
              <a:t>Slides 9-22. Revisit only the DNS and DHCP concepts that matter during incidents, then connect query logs, lease history, IPAM audit events, and Splunk searches into one workflow.</a:t>
            </a:r>
            <a:endParaRPr lang="en-US" sz="1700" dirty="0"/>
          </a:p>
        </p:txBody>
      </p:sp>
      <p:sp>
        <p:nvSpPr>
          <p:cNvPr id="9" name="Text 7"/>
          <p:cNvSpPr/>
          <p:nvPr/>
        </p:nvSpPr>
        <p:spPr>
          <a:xfrm>
            <a:off x="548640" y="3200400"/>
            <a:ext cx="5349240" cy="1691640"/>
          </a:xfrm>
          <a:prstGeom prst="rect">
            <a:avLst/>
          </a:prstGeom>
          <a:solidFill>
            <a:srgbClr val="F5F7F9"/>
          </a:solidFill>
          <a:ln w="12700">
            <a:solidFill>
              <a:srgbClr val="4B7F1E"/>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4B7F1E"/>
                </a:solidFill>
                <a:latin typeface="Aptos" pitchFamily="34" charset="0"/>
                <a:ea typeface="Aptos" pitchFamily="34" charset="-122"/>
                <a:cs typeface="Aptos" pitchFamily="34" charset="-120"/>
              </a:rPr>
              <a:t>3. Grid and HA mechanics
</a:t>
            </a:r>
            <a:r>
              <a:rPr lang="en-US" sz="1540" dirty="0">
                <a:solidFill>
                  <a:srgbClr val="23313F"/>
                </a:solidFill>
                <a:latin typeface="Aptos" pitchFamily="34" charset="0"/>
                <a:ea typeface="Aptos" pitchFamily="34" charset="-122"/>
                <a:cs typeface="Aptos" pitchFamily="34" charset="-120"/>
              </a:rPr>
              <a:t>Slides 23-28. Explain what the appliances are doing underneath the UI: member synchronization, VRRP, HA ports, the encrypted VPN tunnel, takeover, and virtual MAC movement.</a:t>
            </a:r>
            <a:endParaRPr lang="en-US" sz="1700" dirty="0"/>
          </a:p>
        </p:txBody>
      </p:sp>
      <p:sp>
        <p:nvSpPr>
          <p:cNvPr id="10" name="Text 8"/>
          <p:cNvSpPr/>
          <p:nvPr/>
        </p:nvSpPr>
        <p:spPr>
          <a:xfrm>
            <a:off x="6263640" y="3200400"/>
            <a:ext cx="5349240" cy="1691640"/>
          </a:xfrm>
          <a:prstGeom prst="rect">
            <a:avLst/>
          </a:prstGeom>
          <a:solidFill>
            <a:srgbClr val="EEF6FB"/>
          </a:solidFill>
          <a:ln w="12700">
            <a:solidFill>
              <a:srgbClr val="E6812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E6812F"/>
                </a:solidFill>
                <a:latin typeface="Aptos" pitchFamily="34" charset="0"/>
                <a:ea typeface="Aptos" pitchFamily="34" charset="-122"/>
                <a:cs typeface="Aptos" pitchFamily="34" charset="-120"/>
              </a:rPr>
              <a:t>4. Routine operations and failure playbooks
</a:t>
            </a:r>
            <a:r>
              <a:rPr lang="en-US" sz="1540" dirty="0">
                <a:solidFill>
                  <a:srgbClr val="23313F"/>
                </a:solidFill>
                <a:latin typeface="Aptos" pitchFamily="34" charset="0"/>
                <a:ea typeface="Aptos" pitchFamily="34" charset="-122"/>
                <a:cs typeface="Aptos" pitchFamily="34" charset="-120"/>
              </a:rPr>
              <a:t>Slides 29-36. Cover licenses, certificates, monitoring, and the three playbooks operators need most often: HA pair faults, DHCP failover association faults, and DNS resolution faults.</a:t>
            </a:r>
            <a:endParaRPr lang="en-US" sz="1700" dirty="0"/>
          </a:p>
        </p:txBody>
      </p:sp>
      <p:sp>
        <p:nvSpPr>
          <p:cNvPr id="11" name="Text 9"/>
          <p:cNvSpPr/>
          <p:nvPr/>
        </p:nvSpPr>
        <p:spPr>
          <a:xfrm>
            <a:off x="548640" y="5349240"/>
            <a:ext cx="11064240" cy="777240"/>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endParaRPr lang="en-US" sz="1700" dirty="0"/>
          </a:p>
        </p:txBody>
      </p:sp>
      <p:sp>
        <p:nvSpPr>
          <p:cNvPr id="12" name="Shape 10"/>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3" name="Text 11"/>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Session map</a:t>
            </a:r>
            <a:endParaRPr lang="en-US" sz="900" dirty="0"/>
          </a:p>
        </p:txBody>
      </p:sp>
      <p:sp>
        <p:nvSpPr>
          <p:cNvPr id="14" name="Text 12"/>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05" y="102572"/>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ARCHITECTURE</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Infoblox DDI is a distributed operating model, not just three services in one UI</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Start here because every later troubleshooting step depends on understanding where configuration lives, where service state lives, and how those two move through the Grid.</a:t>
            </a:r>
            <a:endParaRPr lang="en-US" sz="1050" dirty="0"/>
          </a:p>
        </p:txBody>
      </p:sp>
      <p:sp>
        <p:nvSpPr>
          <p:cNvPr id="7" name="Text 5"/>
          <p:cNvSpPr/>
          <p:nvPr/>
        </p:nvSpPr>
        <p:spPr>
          <a:xfrm>
            <a:off x="411480" y="1005840"/>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One object model across DNS, DHCP, and IPAM
</a:t>
            </a:r>
            <a:r>
              <a:rPr lang="en-US" sz="1540" dirty="0">
                <a:solidFill>
                  <a:srgbClr val="23313F"/>
                </a:solidFill>
                <a:latin typeface="Aptos" pitchFamily="34" charset="0"/>
                <a:ea typeface="Aptos" pitchFamily="34" charset="-122"/>
                <a:cs typeface="Aptos" pitchFamily="34" charset="-120"/>
              </a:rPr>
              <a:t>Infoblox stores records, ranges, networks, leases, and many policy objects in one shared model. That is why a host or fixed-address change can simultaneously affect DNS naming, DHCP behavior, and address inventory. The operational benefit is consistency; the operational risk is that a bad change can propagate farther than engineers expect.</a:t>
            </a:r>
            <a:endParaRPr lang="en-US" sz="1700" dirty="0"/>
          </a:p>
        </p:txBody>
      </p:sp>
      <p:sp>
        <p:nvSpPr>
          <p:cNvPr id="8" name="Text 6"/>
          <p:cNvSpPr/>
          <p:nvPr/>
        </p:nvSpPr>
        <p:spPr>
          <a:xfrm>
            <a:off x="411480" y="2761488"/>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Grid Master, members, reporting, and candidate roles
</a:t>
            </a:r>
            <a:r>
              <a:rPr lang="en-US" sz="1540" dirty="0">
                <a:solidFill>
                  <a:srgbClr val="23313F"/>
                </a:solidFill>
                <a:latin typeface="Aptos" pitchFamily="34" charset="0"/>
                <a:ea typeface="Aptos" pitchFamily="34" charset="-122"/>
                <a:cs typeface="Aptos" pitchFamily="34" charset="-120"/>
              </a:rPr>
              <a:t>The Grid Master is the control point for configuration and policy. Members run the actual services. Reporting members collect data for reporting and analytics, while a Grid Master Candidate keeps a full copy of the Grid database for disaster recovery rather than day-to-day change administration.</a:t>
            </a:r>
            <a:endParaRPr lang="en-US" sz="1700" dirty="0"/>
          </a:p>
        </p:txBody>
      </p:sp>
      <p:sp>
        <p:nvSpPr>
          <p:cNvPr id="9" name="Text 7"/>
          <p:cNvSpPr/>
          <p:nvPr/>
        </p:nvSpPr>
        <p:spPr>
          <a:xfrm>
            <a:off x="411480" y="4517136"/>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Why failures feel different at each layer
</a:t>
            </a:r>
            <a:r>
              <a:rPr lang="en-US" sz="1540" dirty="0">
                <a:solidFill>
                  <a:srgbClr val="23313F"/>
                </a:solidFill>
                <a:latin typeface="Aptos" pitchFamily="34" charset="0"/>
                <a:ea typeface="Aptos" pitchFamily="34" charset="-122"/>
                <a:cs typeface="Aptos" pitchFamily="34" charset="-120"/>
              </a:rPr>
              <a:t>A Grid Master issue usually stops controlled change but does not immediately stop DNS or DHCP already running on synchronized members. A member issue is service-local. A reporting issue hurts visibility more than availability. That distinction helps you respond without overcorrecting during an outage.</a:t>
            </a:r>
            <a:endParaRPr lang="en-US" sz="1700" dirty="0"/>
          </a:p>
        </p:txBody>
      </p:sp>
      <p:pic>
        <p:nvPicPr>
          <p:cNvPr id="10" name="Image 0" descr="/mnt/data/infoblox_deck/assets/db_replication.png"/>
          <p:cNvPicPr>
            <a:picLocks noChangeAspect="1"/>
          </p:cNvPicPr>
          <p:nvPr/>
        </p:nvPicPr>
        <p:blipFill>
          <a:blip r:embed="rId3"/>
          <a:stretch>
            <a:fillRect/>
          </a:stretch>
        </p:blipFill>
        <p:spPr>
          <a:xfrm>
            <a:off x="7269480" y="1688594"/>
            <a:ext cx="4507992" cy="3002665"/>
          </a:xfrm>
          <a:prstGeom prst="rect">
            <a:avLst/>
          </a:prstGeom>
        </p:spPr>
      </p:pic>
      <p:sp>
        <p:nvSpPr>
          <p:cNvPr id="12" name="Shape 9"/>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3" name="Text 10"/>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Architecture</a:t>
            </a:r>
            <a:endParaRPr lang="en-US" sz="900" dirty="0"/>
          </a:p>
        </p:txBody>
      </p:sp>
      <p:sp>
        <p:nvSpPr>
          <p:cNvPr id="14" name="Text 11"/>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ARCHITECTURE</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Grid anatomy: keep control traffic separate from service traffic whenever you can</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This is the mental model behind troubleshooting member sync, service reachability, and seemingly random restart requirements.</a:t>
            </a:r>
            <a:endParaRPr lang="en-US" sz="1050" dirty="0"/>
          </a:p>
        </p:txBody>
      </p:sp>
      <p:sp>
        <p:nvSpPr>
          <p:cNvPr id="7" name="Text 5"/>
          <p:cNvSpPr/>
          <p:nvPr/>
        </p:nvSpPr>
        <p:spPr>
          <a:xfrm>
            <a:off x="411480" y="1005840"/>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Grid communications are management traffic
</a:t>
            </a:r>
            <a:r>
              <a:rPr lang="en-US" sz="1540" dirty="0">
                <a:solidFill>
                  <a:srgbClr val="23313F"/>
                </a:solidFill>
                <a:latin typeface="Aptos" pitchFamily="34" charset="0"/>
                <a:ea typeface="Aptos" pitchFamily="34" charset="-122"/>
                <a:cs typeface="Aptos" pitchFamily="34" charset="-120"/>
              </a:rPr>
              <a:t>Infoblox documentation recommends using the MGMT path for Grid communications and appliance management where possible. That separates database synchronization, admin access, and maintenance from the LAN interfaces that answer DNS and DHCP for clients.</a:t>
            </a:r>
            <a:endParaRPr lang="en-US" sz="1700" dirty="0"/>
          </a:p>
        </p:txBody>
      </p:sp>
      <p:sp>
        <p:nvSpPr>
          <p:cNvPr id="8" name="Text 6"/>
          <p:cNvSpPr/>
          <p:nvPr/>
        </p:nvSpPr>
        <p:spPr>
          <a:xfrm>
            <a:off x="411480" y="2761488"/>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Members cache only what they need to serve
</a:t>
            </a:r>
            <a:r>
              <a:rPr lang="en-US" sz="1540" dirty="0">
                <a:solidFill>
                  <a:srgbClr val="23313F"/>
                </a:solidFill>
                <a:latin typeface="Aptos" pitchFamily="34" charset="0"/>
                <a:ea typeface="Aptos" pitchFamily="34" charset="-122"/>
                <a:cs typeface="Aptos" pitchFamily="34" charset="-120"/>
              </a:rPr>
              <a:t>A member does not need the entire Grid database to continue serving requests. It keeps the service-specific slice it needs. That is why a member can continue answering even if the Grid Master is unavailable for a period, provided the member is already synchronized and healthy.</a:t>
            </a:r>
            <a:endParaRPr lang="en-US" sz="1700" dirty="0"/>
          </a:p>
        </p:txBody>
      </p:sp>
      <p:sp>
        <p:nvSpPr>
          <p:cNvPr id="9" name="Text 7"/>
          <p:cNvSpPr/>
          <p:nvPr/>
        </p:nvSpPr>
        <p:spPr>
          <a:xfrm>
            <a:off x="411480" y="4517136"/>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What to check first in operations
</a:t>
            </a:r>
            <a:r>
              <a:rPr lang="en-US" sz="1540" dirty="0">
                <a:solidFill>
                  <a:srgbClr val="23313F"/>
                </a:solidFill>
                <a:latin typeface="Aptos" pitchFamily="34" charset="0"/>
                <a:ea typeface="Aptos" pitchFamily="34" charset="-122"/>
                <a:cs typeface="Aptos" pitchFamily="34" charset="-120"/>
              </a:rPr>
              <a:t>Look at member status, service status, replication state, pending restart indicators, and time synchronization. Many incidents that appear to be DNS data errors or DHCP scope errors turn out to be stale config on a member that has not restarted or synchronized as expected.</a:t>
            </a:r>
            <a:endParaRPr lang="en-US" sz="1700" dirty="0"/>
          </a:p>
        </p:txBody>
      </p:sp>
      <p:pic>
        <p:nvPicPr>
          <p:cNvPr id="10" name="Image 0" descr="/mnt/data/infoblox_deck/assets/grid_communications.png"/>
          <p:cNvPicPr>
            <a:picLocks noChangeAspect="1"/>
          </p:cNvPicPr>
          <p:nvPr/>
        </p:nvPicPr>
        <p:blipFill>
          <a:blip r:embed="rId3"/>
          <a:stretch>
            <a:fillRect/>
          </a:stretch>
        </p:blipFill>
        <p:spPr>
          <a:xfrm>
            <a:off x="7269480" y="1067195"/>
            <a:ext cx="4507992" cy="3461738"/>
          </a:xfrm>
          <a:prstGeom prst="rect">
            <a:avLst/>
          </a:prstGeom>
        </p:spPr>
      </p:pic>
      <p:sp>
        <p:nvSpPr>
          <p:cNvPr id="11" name="Text 8"/>
          <p:cNvSpPr/>
          <p:nvPr/>
        </p:nvSpPr>
        <p:spPr>
          <a:xfrm>
            <a:off x="7269480" y="4919472"/>
            <a:ext cx="4507992" cy="1133856"/>
          </a:xfrm>
          <a:prstGeom prst="rect">
            <a:avLst/>
          </a:prstGeom>
          <a:solidFill>
            <a:srgbClr val="FFF5E9"/>
          </a:solidFill>
          <a:ln w="12700">
            <a:solidFill>
              <a:srgbClr val="E6812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endParaRPr lang="en-US" sz="1700" dirty="0"/>
          </a:p>
        </p:txBody>
      </p:sp>
      <p:sp>
        <p:nvSpPr>
          <p:cNvPr id="12" name="Shape 9"/>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3" name="Text 10"/>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Architecture</a:t>
            </a:r>
            <a:endParaRPr lang="en-US" sz="900" dirty="0"/>
          </a:p>
        </p:txBody>
      </p:sp>
      <p:sp>
        <p:nvSpPr>
          <p:cNvPr id="14" name="Text 11"/>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COEXISTENCE</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Three ways two DDI environments commonly coexist during transformation</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Use this comparison to explain why migration, carveout, and long-term coexistence require different success criteria and rollback plans.</a:t>
            </a:r>
            <a:endParaRPr lang="en-US" sz="1050" dirty="0"/>
          </a:p>
        </p:txBody>
      </p:sp>
      <p:sp>
        <p:nvSpPr>
          <p:cNvPr id="7" name="Text 5"/>
          <p:cNvSpPr/>
          <p:nvPr/>
        </p:nvSpPr>
        <p:spPr>
          <a:xfrm>
            <a:off x="411480" y="1005840"/>
            <a:ext cx="3679850" cy="384048"/>
          </a:xfrm>
          <a:prstGeom prst="rect">
            <a:avLst/>
          </a:prstGeom>
          <a:solidFill>
            <a:srgbClr val="16324F"/>
          </a:solidFill>
          <a:ln w="12700">
            <a:solidFill>
              <a:srgbClr val="16324F"/>
            </a:solidFill>
          </a:ln>
        </p:spPr>
        <p:txBody>
          <a:bodyPr wrap="square" lIns="1524" tIns="1524" rIns="1524" bIns="1524" rtlCol="0" anchor="ctr"/>
          <a:lstStyle/>
          <a:p>
            <a:pPr marL="0" indent="0" algn="ctr">
              <a:buNone/>
            </a:pPr>
            <a:r>
              <a:rPr lang="en-US" sz="1650" b="1" dirty="0">
                <a:solidFill>
                  <a:srgbClr val="FFFFFF"/>
                </a:solidFill>
                <a:latin typeface="Aptos" pitchFamily="34" charset="0"/>
                <a:ea typeface="Aptos" pitchFamily="34" charset="-122"/>
                <a:cs typeface="Aptos" pitchFamily="34" charset="-120"/>
              </a:rPr>
              <a:t>Migration to a single target</a:t>
            </a:r>
            <a:endParaRPr lang="en-US" sz="1650" dirty="0"/>
          </a:p>
        </p:txBody>
      </p:sp>
      <p:sp>
        <p:nvSpPr>
          <p:cNvPr id="8" name="Text 6"/>
          <p:cNvSpPr/>
          <p:nvPr/>
        </p:nvSpPr>
        <p:spPr>
          <a:xfrm>
            <a:off x="411480" y="1444752"/>
            <a:ext cx="3679850" cy="4096512"/>
          </a:xfrm>
          <a:prstGeom prst="rect">
            <a:avLst/>
          </a:prstGeom>
          <a:solidFill>
            <a:srgbClr val="F5F7F9"/>
          </a:solidFill>
          <a:ln w="12700">
            <a:solidFill>
              <a:srgbClr val="D7DEE5"/>
            </a:solidFill>
          </a:ln>
          <a:effectLst>
            <a:outerShdw blurRad="13970" dist="12700" dir="2700000" algn="bl" rotWithShape="0">
              <a:srgbClr val="000000">
                <a:alpha val="14000"/>
              </a:srgbClr>
            </a:outerShdw>
          </a:effectLst>
        </p:spPr>
        <p:txBody>
          <a:bodyPr wrap="square" lIns="2032" tIns="2032" rIns="2032" bIns="2032" rtlCol="0" anchor="t">
            <a:normAutofit/>
          </a:bodyPr>
          <a:lstStyle/>
          <a:p>
            <a:pPr marL="0" indent="0">
              <a:buNone/>
            </a:pPr>
            <a:r>
              <a:rPr lang="en-US" sz="1510" dirty="0">
                <a:solidFill>
                  <a:srgbClr val="23313F"/>
                </a:solidFill>
                <a:latin typeface="Aptos" pitchFamily="34" charset="0"/>
                <a:ea typeface="Aptos" pitchFamily="34" charset="-122"/>
                <a:cs typeface="Aptos" pitchFamily="34" charset="-120"/>
              </a:rPr>
              <a:t>Goal: retire the legacy environment and make Infoblox authoritative.</a:t>
            </a:r>
            <a:endParaRPr lang="en-US" sz="1510" dirty="0"/>
          </a:p>
          <a:p>
            <a:pPr marL="0" indent="0">
              <a:buNone/>
            </a:pPr>
            <a:endParaRPr lang="en-US" sz="1510" dirty="0"/>
          </a:p>
          <a:p>
            <a:pPr marL="0" indent="0">
              <a:buNone/>
            </a:pPr>
            <a:r>
              <a:rPr lang="en-US" sz="1510" dirty="0">
                <a:solidFill>
                  <a:srgbClr val="23313F"/>
                </a:solidFill>
                <a:latin typeface="Aptos" pitchFamily="34" charset="0"/>
                <a:ea typeface="Aptos" pitchFamily="34" charset="-122"/>
                <a:cs typeface="Aptos" pitchFamily="34" charset="-120"/>
              </a:rPr>
              <a:t>Success looks like: all zones, scopes, options, and operational ownership move to the Grid; old servers are left only for rollback or historical validation.</a:t>
            </a:r>
            <a:endParaRPr lang="en-US" sz="1510" dirty="0"/>
          </a:p>
          <a:p>
            <a:pPr marL="0" indent="0">
              <a:buNone/>
            </a:pPr>
            <a:endParaRPr lang="en-US" sz="1510" dirty="0"/>
          </a:p>
          <a:p>
            <a:pPr marL="0" indent="0">
              <a:buNone/>
            </a:pPr>
            <a:r>
              <a:rPr lang="en-US" sz="1510" dirty="0">
                <a:solidFill>
                  <a:srgbClr val="23313F"/>
                </a:solidFill>
                <a:latin typeface="Aptos" pitchFamily="34" charset="0"/>
                <a:ea typeface="Aptos" pitchFamily="34" charset="-122"/>
                <a:cs typeface="Aptos" pitchFamily="34" charset="-120"/>
              </a:rPr>
              <a:t>Typical tactics: inventory discovery, TTL reduction, data import or AXFR, staged cutover, validation from multiple client paths, and rapid rollback windows.</a:t>
            </a:r>
            <a:endParaRPr lang="en-US" sz="1510" dirty="0"/>
          </a:p>
        </p:txBody>
      </p:sp>
      <p:sp>
        <p:nvSpPr>
          <p:cNvPr id="9" name="Text 7"/>
          <p:cNvSpPr/>
          <p:nvPr/>
        </p:nvSpPr>
        <p:spPr>
          <a:xfrm>
            <a:off x="4255922" y="1005840"/>
            <a:ext cx="3679850" cy="384048"/>
          </a:xfrm>
          <a:prstGeom prst="rect">
            <a:avLst/>
          </a:prstGeom>
          <a:solidFill>
            <a:srgbClr val="0E79C1"/>
          </a:solidFill>
          <a:ln w="12700">
            <a:solidFill>
              <a:srgbClr val="0E79C1"/>
            </a:solidFill>
          </a:ln>
        </p:spPr>
        <p:txBody>
          <a:bodyPr wrap="square" lIns="1524" tIns="1524" rIns="1524" bIns="1524" rtlCol="0" anchor="ctr"/>
          <a:lstStyle/>
          <a:p>
            <a:pPr marL="0" indent="0" algn="ctr">
              <a:buNone/>
            </a:pPr>
            <a:r>
              <a:rPr lang="en-US" sz="1650" b="1" dirty="0">
                <a:solidFill>
                  <a:srgbClr val="FFFFFF"/>
                </a:solidFill>
                <a:latin typeface="Aptos" pitchFamily="34" charset="0"/>
                <a:ea typeface="Aptos" pitchFamily="34" charset="-122"/>
                <a:cs typeface="Aptos" pitchFamily="34" charset="-120"/>
              </a:rPr>
              <a:t>Carveout / separation</a:t>
            </a:r>
            <a:endParaRPr lang="en-US" sz="1650" dirty="0"/>
          </a:p>
        </p:txBody>
      </p:sp>
      <p:sp>
        <p:nvSpPr>
          <p:cNvPr id="10" name="Text 8"/>
          <p:cNvSpPr/>
          <p:nvPr/>
        </p:nvSpPr>
        <p:spPr>
          <a:xfrm>
            <a:off x="4255922" y="1444752"/>
            <a:ext cx="3679850" cy="4096512"/>
          </a:xfrm>
          <a:prstGeom prst="rect">
            <a:avLst/>
          </a:prstGeom>
          <a:solidFill>
            <a:srgbClr val="EEF6FB"/>
          </a:solidFill>
          <a:ln w="12700">
            <a:solidFill>
              <a:srgbClr val="D7DEE5"/>
            </a:solidFill>
          </a:ln>
          <a:effectLst>
            <a:outerShdw blurRad="13970" dist="12700" dir="2700000" algn="bl" rotWithShape="0">
              <a:srgbClr val="000000">
                <a:alpha val="14000"/>
              </a:srgbClr>
            </a:outerShdw>
          </a:effectLst>
        </p:spPr>
        <p:txBody>
          <a:bodyPr wrap="square" lIns="2032" tIns="2032" rIns="2032" bIns="2032" rtlCol="0" anchor="t">
            <a:normAutofit/>
          </a:bodyPr>
          <a:lstStyle/>
          <a:p>
            <a:pPr marL="0" indent="0">
              <a:buNone/>
            </a:pPr>
            <a:r>
              <a:rPr lang="en-US" sz="1510" dirty="0">
                <a:solidFill>
                  <a:srgbClr val="23313F"/>
                </a:solidFill>
                <a:latin typeface="Aptos" pitchFamily="34" charset="0"/>
                <a:ea typeface="Aptos" pitchFamily="34" charset="-122"/>
                <a:cs typeface="Aptos" pitchFamily="34" charset="-120"/>
              </a:rPr>
              <a:t>Goal: split one environment into two sustainable operating models.</a:t>
            </a:r>
            <a:endParaRPr lang="en-US" sz="1510" dirty="0"/>
          </a:p>
          <a:p>
            <a:pPr marL="0" indent="0">
              <a:buNone/>
            </a:pPr>
            <a:endParaRPr lang="en-US" sz="1510" dirty="0"/>
          </a:p>
          <a:p>
            <a:pPr marL="0" indent="0">
              <a:buNone/>
            </a:pPr>
            <a:r>
              <a:rPr lang="en-US" sz="1510" dirty="0">
                <a:solidFill>
                  <a:srgbClr val="23313F"/>
                </a:solidFill>
                <a:latin typeface="Aptos" pitchFamily="34" charset="0"/>
                <a:ea typeface="Aptos" pitchFamily="34" charset="-122"/>
                <a:cs typeface="Aptos" pitchFamily="34" charset="-120"/>
              </a:rPr>
              <a:t>Success looks like: each business unit or program has clear ownership of forward zones, reverse zones, networks, DHCP scopes, and Extensible Attributes; shared services are delegated or forwarded explicitly.</a:t>
            </a:r>
            <a:endParaRPr lang="en-US" sz="1510" dirty="0"/>
          </a:p>
          <a:p>
            <a:pPr marL="0" indent="0">
              <a:buNone/>
            </a:pPr>
            <a:endParaRPr lang="en-US" sz="1510" dirty="0"/>
          </a:p>
          <a:p>
            <a:pPr marL="0" indent="0">
              <a:buNone/>
            </a:pPr>
            <a:r>
              <a:rPr lang="en-US" sz="1510" dirty="0">
                <a:solidFill>
                  <a:srgbClr val="23313F"/>
                </a:solidFill>
                <a:latin typeface="Aptos" pitchFamily="34" charset="0"/>
                <a:ea typeface="Aptos" pitchFamily="34" charset="-122"/>
                <a:cs typeface="Aptos" pitchFamily="34" charset="-120"/>
              </a:rPr>
              <a:t>Typical tactics: carve by network container and zone boundary, shorten leases before move day, update relay targets, and clean inherited options before export.</a:t>
            </a:r>
            <a:endParaRPr lang="en-US" sz="1510" dirty="0"/>
          </a:p>
        </p:txBody>
      </p:sp>
      <p:sp>
        <p:nvSpPr>
          <p:cNvPr id="11" name="Text 9"/>
          <p:cNvSpPr/>
          <p:nvPr/>
        </p:nvSpPr>
        <p:spPr>
          <a:xfrm>
            <a:off x="8100365" y="1005840"/>
            <a:ext cx="3679850" cy="384048"/>
          </a:xfrm>
          <a:prstGeom prst="rect">
            <a:avLst/>
          </a:prstGeom>
          <a:solidFill>
            <a:srgbClr val="4B7F1E"/>
          </a:solidFill>
          <a:ln w="12700">
            <a:solidFill>
              <a:srgbClr val="4B7F1E"/>
            </a:solidFill>
          </a:ln>
        </p:spPr>
        <p:txBody>
          <a:bodyPr wrap="square" lIns="1524" tIns="1524" rIns="1524" bIns="1524" rtlCol="0" anchor="ctr"/>
          <a:lstStyle/>
          <a:p>
            <a:pPr marL="0" indent="0" algn="ctr">
              <a:buNone/>
            </a:pPr>
            <a:r>
              <a:rPr lang="en-US" sz="1650" b="1" dirty="0">
                <a:solidFill>
                  <a:srgbClr val="FFFFFF"/>
                </a:solidFill>
                <a:latin typeface="Aptos" pitchFamily="34" charset="0"/>
                <a:ea typeface="Aptos" pitchFamily="34" charset="-122"/>
                <a:cs typeface="Aptos" pitchFamily="34" charset="-120"/>
              </a:rPr>
              <a:t>Long-term coexistence with legacy</a:t>
            </a:r>
            <a:endParaRPr lang="en-US" sz="1650" dirty="0"/>
          </a:p>
        </p:txBody>
      </p:sp>
      <p:sp>
        <p:nvSpPr>
          <p:cNvPr id="12" name="Text 10"/>
          <p:cNvSpPr/>
          <p:nvPr/>
        </p:nvSpPr>
        <p:spPr>
          <a:xfrm>
            <a:off x="8100365" y="1444752"/>
            <a:ext cx="3679850" cy="4096512"/>
          </a:xfrm>
          <a:prstGeom prst="rect">
            <a:avLst/>
          </a:prstGeom>
          <a:solidFill>
            <a:srgbClr val="F1F9E8"/>
          </a:solidFill>
          <a:ln w="12700">
            <a:solidFill>
              <a:srgbClr val="D7DEE5"/>
            </a:solidFill>
          </a:ln>
          <a:effectLst>
            <a:outerShdw blurRad="13970" dist="12700" dir="2700000" algn="bl" rotWithShape="0">
              <a:srgbClr val="000000">
                <a:alpha val="14000"/>
              </a:srgbClr>
            </a:outerShdw>
          </a:effectLst>
        </p:spPr>
        <p:txBody>
          <a:bodyPr wrap="square" lIns="2032" tIns="2032" rIns="2032" bIns="2032" rtlCol="0" anchor="t">
            <a:normAutofit/>
          </a:bodyPr>
          <a:lstStyle/>
          <a:p>
            <a:pPr marL="0" indent="0">
              <a:buNone/>
            </a:pPr>
            <a:r>
              <a:rPr lang="en-US" sz="1510" dirty="0">
                <a:solidFill>
                  <a:srgbClr val="23313F"/>
                </a:solidFill>
                <a:latin typeface="Aptos" pitchFamily="34" charset="0"/>
                <a:ea typeface="Aptos" pitchFamily="34" charset="-122"/>
                <a:cs typeface="Aptos" pitchFamily="34" charset="-120"/>
              </a:rPr>
              <a:t>Goal: manage legacy servers without forcing immediate cutover.</a:t>
            </a:r>
            <a:endParaRPr lang="en-US" sz="1510" dirty="0"/>
          </a:p>
          <a:p>
            <a:pPr marL="0" indent="0">
              <a:buNone/>
            </a:pPr>
            <a:endParaRPr lang="en-US" sz="1510" dirty="0"/>
          </a:p>
          <a:p>
            <a:pPr marL="0" indent="0">
              <a:buNone/>
            </a:pPr>
            <a:r>
              <a:rPr lang="en-US" sz="1510" dirty="0">
                <a:solidFill>
                  <a:srgbClr val="23313F"/>
                </a:solidFill>
                <a:latin typeface="Aptos" pitchFamily="34" charset="0"/>
                <a:ea typeface="Aptos" pitchFamily="34" charset="-122"/>
                <a:cs typeface="Aptos" pitchFamily="34" charset="-120"/>
              </a:rPr>
              <a:t>Success looks like: one system remains the source of truth for each object class, while conditional forwarders, secondary zones, or Microsoft integration provide visibility and controlled management.</a:t>
            </a:r>
            <a:endParaRPr lang="en-US" sz="1510" dirty="0"/>
          </a:p>
          <a:p>
            <a:pPr marL="0" indent="0">
              <a:buNone/>
            </a:pPr>
            <a:endParaRPr lang="en-US" sz="1510" dirty="0"/>
          </a:p>
          <a:p>
            <a:pPr marL="0" indent="0">
              <a:buNone/>
            </a:pPr>
            <a:r>
              <a:rPr lang="en-US" sz="1510" dirty="0">
                <a:solidFill>
                  <a:srgbClr val="23313F"/>
                </a:solidFill>
                <a:latin typeface="Aptos" pitchFamily="34" charset="0"/>
                <a:ea typeface="Aptos" pitchFamily="34" charset="-122"/>
                <a:cs typeface="Aptos" pitchFamily="34" charset="-120"/>
              </a:rPr>
              <a:t>Typical risks: duplicate ownership, mismatched DNS views, stale reservations, and conflicting change windows between teams.</a:t>
            </a:r>
            <a:endParaRPr lang="en-US" sz="1510" dirty="0"/>
          </a:p>
        </p:txBody>
      </p:sp>
      <p:sp>
        <p:nvSpPr>
          <p:cNvPr id="13" name="Text 11"/>
          <p:cNvSpPr/>
          <p:nvPr/>
        </p:nvSpPr>
        <p:spPr>
          <a:xfrm>
            <a:off x="411480" y="5650992"/>
            <a:ext cx="11368735" cy="493776"/>
          </a:xfrm>
          <a:prstGeom prst="rect">
            <a:avLst/>
          </a:prstGeom>
          <a:solidFill>
            <a:srgbClr val="FFF5E9"/>
          </a:solidFill>
          <a:ln w="12700">
            <a:solidFill>
              <a:srgbClr val="E6812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endParaRPr lang="en-US" sz="1700" dirty="0"/>
          </a:p>
        </p:txBody>
      </p:sp>
      <p:sp>
        <p:nvSpPr>
          <p:cNvPr id="14" name="Shape 12"/>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5" name="Text 13"/>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Coexistence</a:t>
            </a:r>
            <a:endParaRPr lang="en-US" sz="900" dirty="0"/>
          </a:p>
        </p:txBody>
      </p:sp>
      <p:sp>
        <p:nvSpPr>
          <p:cNvPr id="16" name="Text 14"/>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MIGRATION</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Composite case: consolidating BIND and Windows DDI into Infoblox</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This scenario combines patterns seen in real migrations: fragmented ownership, stale TTL strategy, and incomplete validation of DHCP option inheritance.</a:t>
            </a:r>
            <a:endParaRPr lang="en-US" sz="1050" dirty="0"/>
          </a:p>
        </p:txBody>
      </p:sp>
      <p:sp>
        <p:nvSpPr>
          <p:cNvPr id="7" name="Text 5"/>
          <p:cNvSpPr/>
          <p:nvPr/>
        </p:nvSpPr>
        <p:spPr>
          <a:xfrm>
            <a:off x="411480" y="1005840"/>
            <a:ext cx="6583680" cy="1298448"/>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Environment
</a:t>
            </a:r>
            <a:r>
              <a:rPr lang="en-US" sz="1540" dirty="0">
                <a:solidFill>
                  <a:srgbClr val="23313F"/>
                </a:solidFill>
                <a:latin typeface="Aptos" pitchFamily="34" charset="0"/>
                <a:ea typeface="Aptos" pitchFamily="34" charset="-122"/>
                <a:cs typeface="Aptos" pitchFamily="34" charset="-120"/>
              </a:rPr>
              <a:t>The estate includes a BIND authoritative pair for core zones, two Windows DHCP servers for campus scopes, and spreadsheets used as pseudo-IPAM. The biggest non-technical problem is that ownership is split between network and server teams, so no one has a complete inventory of zones, reservations, or option inheritance.</a:t>
            </a:r>
            <a:endParaRPr lang="en-US" sz="1700" dirty="0"/>
          </a:p>
        </p:txBody>
      </p:sp>
      <p:sp>
        <p:nvSpPr>
          <p:cNvPr id="8" name="Text 6"/>
          <p:cNvSpPr/>
          <p:nvPr/>
        </p:nvSpPr>
        <p:spPr>
          <a:xfrm>
            <a:off x="411480" y="2468880"/>
            <a:ext cx="6583680" cy="1298448"/>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Approach
</a:t>
            </a:r>
            <a:r>
              <a:rPr lang="en-US" sz="1540" dirty="0">
                <a:solidFill>
                  <a:srgbClr val="23313F"/>
                </a:solidFill>
                <a:latin typeface="Aptos" pitchFamily="34" charset="0"/>
                <a:ea typeface="Aptos" pitchFamily="34" charset="-122"/>
                <a:cs typeface="Aptos" pitchFamily="34" charset="-120"/>
              </a:rPr>
              <a:t>The team first freezes discretionary changes, lowers TTLs for high-risk zones, exports and validates zone data, inventories DHCP scopes and options, and decides which legacy objects will be imported versus rebuilt cleanly in Infoblox. Parallel validation is performed from multiple network segments before the nameserver and relay cutovers.</a:t>
            </a:r>
            <a:endParaRPr lang="en-US" sz="1700" dirty="0"/>
          </a:p>
        </p:txBody>
      </p:sp>
      <p:sp>
        <p:nvSpPr>
          <p:cNvPr id="9" name="Text 7"/>
          <p:cNvSpPr/>
          <p:nvPr/>
        </p:nvSpPr>
        <p:spPr>
          <a:xfrm>
            <a:off x="411480" y="3931920"/>
            <a:ext cx="6583680" cy="1298448"/>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Failure patterns to avoid
</a:t>
            </a:r>
            <a:r>
              <a:rPr lang="en-US" sz="1540" dirty="0">
                <a:solidFill>
                  <a:srgbClr val="23313F"/>
                </a:solidFill>
                <a:latin typeface="Aptos" pitchFamily="34" charset="0"/>
                <a:ea typeface="Aptos" pitchFamily="34" charset="-122"/>
                <a:cs typeface="Aptos" pitchFamily="34" charset="-120"/>
              </a:rPr>
              <a:t>The most common migration mistakes are importing stale records as if they were current truth, forgetting reverse zones and DDNS ownership, and assuming a scope-level option in Windows maps one-to-one with the intended inherited behavior in Infoblox. Those mistakes create partial success that looks fine in the UI but fails in production.</a:t>
            </a:r>
            <a:endParaRPr lang="en-US" sz="1700" dirty="0"/>
          </a:p>
        </p:txBody>
      </p:sp>
      <p:sp>
        <p:nvSpPr>
          <p:cNvPr id="10" name="Text 8"/>
          <p:cNvSpPr/>
          <p:nvPr/>
        </p:nvSpPr>
        <p:spPr>
          <a:xfrm>
            <a:off x="7269480" y="1005840"/>
            <a:ext cx="4507992" cy="4389120"/>
          </a:xfrm>
          <a:prstGeom prst="rect">
            <a:avLst/>
          </a:prstGeom>
          <a:solidFill>
            <a:srgbClr val="EEF6FB"/>
          </a:solidFill>
          <a:ln w="12700">
            <a:solidFill>
              <a:srgbClr val="0E79C1"/>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Recommended migration sequence
</a:t>
            </a:r>
            <a:r>
              <a:rPr lang="en-US" sz="1540" dirty="0">
                <a:solidFill>
                  <a:srgbClr val="23313F"/>
                </a:solidFill>
                <a:latin typeface="Aptos" pitchFamily="34" charset="0"/>
                <a:ea typeface="Aptos" pitchFamily="34" charset="-122"/>
                <a:cs typeface="Aptos" pitchFamily="34" charset="-120"/>
              </a:rPr>
              <a:t>1) Discovery and ownership mapping. 2) Lower TTLs early enough to matter. 3) Import or transfer data and clean it. 4) Validate forward, reverse, reservations, and DDNS behavior from representative clients. 5) Cut over relays and NS records. 6) Keep a rollback window while caches expire.</a:t>
            </a:r>
            <a:endParaRPr lang="en-US" sz="1700" dirty="0"/>
          </a:p>
        </p:txBody>
      </p:sp>
      <p:sp>
        <p:nvSpPr>
          <p:cNvPr id="11" name="Text 9"/>
          <p:cNvSpPr/>
          <p:nvPr/>
        </p:nvSpPr>
        <p:spPr>
          <a:xfrm>
            <a:off x="411480" y="5504688"/>
            <a:ext cx="11368735" cy="640080"/>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Lesson
</a:t>
            </a:r>
            <a:r>
              <a:rPr lang="en-US" sz="1440" dirty="0">
                <a:solidFill>
                  <a:srgbClr val="23313F"/>
                </a:solidFill>
                <a:latin typeface="Aptos" pitchFamily="34" charset="0"/>
                <a:ea typeface="Aptos" pitchFamily="34" charset="-122"/>
                <a:cs typeface="Aptos" pitchFamily="34" charset="-120"/>
              </a:rPr>
              <a:t>Successful migration is mostly about proving authority and inheritance, not just copying objects. If you do not know which system truly owns a record or scope before cutover, you do not yet have a migration plan.</a:t>
            </a:r>
            <a:endParaRPr lang="en-US" sz="1700" dirty="0"/>
          </a:p>
        </p:txBody>
      </p:sp>
      <p:sp>
        <p:nvSpPr>
          <p:cNvPr id="12" name="Shape 10"/>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3" name="Text 11"/>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Migration</a:t>
            </a:r>
            <a:endParaRPr lang="en-US" sz="900" dirty="0"/>
          </a:p>
        </p:txBody>
      </p:sp>
      <p:sp>
        <p:nvSpPr>
          <p:cNvPr id="14" name="Text 12"/>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CARVEOUT</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Composite case: carving a business unit out of a shared DDI environment</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Carveout is harder than migration because both environments must remain correct afterward, not just during the cutover weekend.</a:t>
            </a:r>
            <a:endParaRPr lang="en-US" sz="1050" dirty="0"/>
          </a:p>
        </p:txBody>
      </p:sp>
      <p:sp>
        <p:nvSpPr>
          <p:cNvPr id="7" name="Text 5"/>
          <p:cNvSpPr/>
          <p:nvPr/>
        </p:nvSpPr>
        <p:spPr>
          <a:xfrm>
            <a:off x="411480" y="1005840"/>
            <a:ext cx="6583680" cy="1298448"/>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Environment
</a:t>
            </a:r>
            <a:r>
              <a:rPr lang="en-US" sz="1540" dirty="0">
                <a:solidFill>
                  <a:srgbClr val="23313F"/>
                </a:solidFill>
                <a:latin typeface="Aptos" pitchFamily="34" charset="0"/>
                <a:ea typeface="Aptos" pitchFamily="34" charset="-122"/>
                <a:cs typeface="Aptos" pitchFamily="34" charset="-120"/>
              </a:rPr>
              <a:t>A business unit is being separated from a larger enterprise. It needs independent DNS, DHCP, and IPAM, but still depends on shared identity, security tooling, and a handful of shared application namespaces. Existing networks and reverse zones were designed for the enterprise as one administrative boundary, not two.</a:t>
            </a:r>
            <a:endParaRPr lang="en-US" sz="1700" dirty="0"/>
          </a:p>
        </p:txBody>
      </p:sp>
      <p:sp>
        <p:nvSpPr>
          <p:cNvPr id="8" name="Text 6"/>
          <p:cNvSpPr/>
          <p:nvPr/>
        </p:nvSpPr>
        <p:spPr>
          <a:xfrm>
            <a:off x="411480" y="2468880"/>
            <a:ext cx="6583680" cy="1298448"/>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Design choices that matter
</a:t>
            </a:r>
            <a:r>
              <a:rPr lang="en-US" sz="1540" dirty="0">
                <a:solidFill>
                  <a:srgbClr val="23313F"/>
                </a:solidFill>
                <a:latin typeface="Aptos" pitchFamily="34" charset="0"/>
                <a:ea typeface="Aptos" pitchFamily="34" charset="-122"/>
                <a:cs typeface="Aptos" pitchFamily="34" charset="-120"/>
              </a:rPr>
              <a:t>The cleanest carveout uses network containers and delegated subzones that mirror new ownership. Shared names should be delegated or conditionally forwarded, not cloned casually. DHCP cutover is safer when lease timers are shortened in advance and relay targets are updated only after the recipient environment truly owns the corresponding networks.</a:t>
            </a:r>
            <a:endParaRPr lang="en-US" sz="1700" dirty="0"/>
          </a:p>
        </p:txBody>
      </p:sp>
      <p:sp>
        <p:nvSpPr>
          <p:cNvPr id="9" name="Text 7"/>
          <p:cNvSpPr/>
          <p:nvPr/>
        </p:nvSpPr>
        <p:spPr>
          <a:xfrm>
            <a:off x="411480" y="3931920"/>
            <a:ext cx="6583680" cy="1298448"/>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What breaks most often
</a:t>
            </a:r>
            <a:r>
              <a:rPr lang="en-US" sz="1540" dirty="0">
                <a:solidFill>
                  <a:srgbClr val="23313F"/>
                </a:solidFill>
                <a:latin typeface="Aptos" pitchFamily="34" charset="0"/>
                <a:ea typeface="Aptos" pitchFamily="34" charset="-122"/>
                <a:cs typeface="Aptos" pitchFamily="34" charset="-120"/>
              </a:rPr>
              <a:t>Operators frequently forget inherited options and Extensible Attributes, causing the receiving environment to lose operational metadata even when raw subnets arrive intact. Another common failure is orphaned DDNS records: the old environment stops leasing, but still appears authoritative for a reverse zone or host naming convention.</a:t>
            </a:r>
            <a:endParaRPr lang="en-US" sz="1700" dirty="0"/>
          </a:p>
        </p:txBody>
      </p:sp>
      <p:sp>
        <p:nvSpPr>
          <p:cNvPr id="10" name="Text 8"/>
          <p:cNvSpPr/>
          <p:nvPr/>
        </p:nvSpPr>
        <p:spPr>
          <a:xfrm>
            <a:off x="7269480" y="1005840"/>
            <a:ext cx="4507992" cy="4389120"/>
          </a:xfrm>
          <a:prstGeom prst="rect">
            <a:avLst/>
          </a:prstGeom>
          <a:solidFill>
            <a:srgbClr val="FFF5E9"/>
          </a:solidFill>
          <a:ln w="12700">
            <a:solidFill>
              <a:srgbClr val="E6812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Carveout control points
</a:t>
            </a:r>
            <a:r>
              <a:rPr lang="en-US" sz="1540" dirty="0">
                <a:solidFill>
                  <a:srgbClr val="23313F"/>
                </a:solidFill>
                <a:latin typeface="Aptos" pitchFamily="34" charset="0"/>
                <a:ea typeface="Aptos" pitchFamily="34" charset="-122"/>
                <a:cs typeface="Aptos" pitchFamily="34" charset="-120"/>
              </a:rPr>
              <a:t>Use four control points: authoritative zone boundary, reverse delegation boundary, network container ownership, and DHCP relay target ownership. If any of those four remain ambiguous, the two environments will continue stepping on each other after separation.</a:t>
            </a:r>
            <a:endParaRPr lang="en-US" sz="1700" dirty="0"/>
          </a:p>
        </p:txBody>
      </p:sp>
      <p:sp>
        <p:nvSpPr>
          <p:cNvPr id="11" name="Text 9"/>
          <p:cNvSpPr/>
          <p:nvPr/>
        </p:nvSpPr>
        <p:spPr>
          <a:xfrm>
            <a:off x="411480" y="5504688"/>
            <a:ext cx="11368735" cy="640080"/>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Lesson
</a:t>
            </a:r>
            <a:r>
              <a:rPr lang="en-US" sz="1440" dirty="0">
                <a:solidFill>
                  <a:srgbClr val="23313F"/>
                </a:solidFill>
                <a:latin typeface="Aptos" pitchFamily="34" charset="0"/>
                <a:ea typeface="Aptos" pitchFamily="34" charset="-122"/>
                <a:cs typeface="Aptos" pitchFamily="34" charset="-120"/>
              </a:rPr>
              <a:t>Migration is about consolidation; carveout is about durable boundaries. Make the new operational ownership model visible in zone delegation, network containers, and Extensible Attributes before you call the cutover complete.</a:t>
            </a:r>
            <a:endParaRPr lang="en-US" sz="1700" dirty="0"/>
          </a:p>
        </p:txBody>
      </p:sp>
      <p:sp>
        <p:nvSpPr>
          <p:cNvPr id="12" name="Shape 10"/>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3" name="Text 11"/>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Carveout</a:t>
            </a:r>
            <a:endParaRPr lang="en-US" sz="900" dirty="0"/>
          </a:p>
        </p:txBody>
      </p:sp>
      <p:sp>
        <p:nvSpPr>
          <p:cNvPr id="14" name="Text 12"/>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LEGACY INTEGRATION</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Legacy server integration: reduce cutover risk without creating two masters</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This is the bridge pattern between coexistence and full migration. It is useful, but only when ownership remains explicit.</a:t>
            </a:r>
            <a:endParaRPr lang="en-US" sz="1050" dirty="0"/>
          </a:p>
        </p:txBody>
      </p:sp>
      <p:sp>
        <p:nvSpPr>
          <p:cNvPr id="7" name="Text 5"/>
          <p:cNvSpPr/>
          <p:nvPr/>
        </p:nvSpPr>
        <p:spPr>
          <a:xfrm>
            <a:off x="411480" y="1005840"/>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Microsoft DNS and DHCP integration
</a:t>
            </a:r>
            <a:r>
              <a:rPr lang="en-US" sz="1540" dirty="0">
                <a:solidFill>
                  <a:srgbClr val="23313F"/>
                </a:solidFill>
                <a:latin typeface="Aptos" pitchFamily="34" charset="0"/>
                <a:ea typeface="Aptos" pitchFamily="34" charset="-122"/>
                <a:cs typeface="Aptos" pitchFamily="34" charset="-120"/>
              </a:rPr>
              <a:t>Infoblox can centrally manage Microsoft DNS and DHCP servers using the Microsoft management capability rather than forcing immediate replacement. The value is centralized visibility, synchronized data, reporting, and RBAC while the legacy Microsoft estate continues running where it already is.</a:t>
            </a:r>
            <a:endParaRPr lang="en-US" sz="1700" dirty="0"/>
          </a:p>
        </p:txBody>
      </p:sp>
      <p:sp>
        <p:nvSpPr>
          <p:cNvPr id="8" name="Text 6"/>
          <p:cNvSpPr/>
          <p:nvPr/>
        </p:nvSpPr>
        <p:spPr>
          <a:xfrm>
            <a:off x="411480" y="2761488"/>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BIND and other legacy patterns
</a:t>
            </a:r>
            <a:r>
              <a:rPr lang="en-US" sz="1540" dirty="0">
                <a:solidFill>
                  <a:srgbClr val="23313F"/>
                </a:solidFill>
                <a:latin typeface="Aptos" pitchFamily="34" charset="0"/>
                <a:ea typeface="Aptos" pitchFamily="34" charset="-122"/>
                <a:cs typeface="Aptos" pitchFamily="34" charset="-120"/>
              </a:rPr>
              <a:t>For non-Microsoft DNS, the first bridge is usually conditional forwarding, secondary zones, or a carefully bounded authoritative split. That lets you prove query flow and delegation correctness before you decide whether to rebuild or import full data sets into Infoblox.</a:t>
            </a:r>
            <a:endParaRPr lang="en-US" sz="1700" dirty="0"/>
          </a:p>
        </p:txBody>
      </p:sp>
      <p:sp>
        <p:nvSpPr>
          <p:cNvPr id="9" name="Text 7"/>
          <p:cNvSpPr/>
          <p:nvPr/>
        </p:nvSpPr>
        <p:spPr>
          <a:xfrm>
            <a:off x="411480" y="4517136"/>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Do not tolerate dual ownership
</a:t>
            </a:r>
            <a:r>
              <a:rPr lang="en-US" sz="1540" dirty="0">
                <a:solidFill>
                  <a:srgbClr val="23313F"/>
                </a:solidFill>
                <a:latin typeface="Aptos" pitchFamily="34" charset="0"/>
                <a:ea typeface="Aptos" pitchFamily="34" charset="-122"/>
                <a:cs typeface="Aptos" pitchFamily="34" charset="-120"/>
              </a:rPr>
              <a:t>The bridge model fails when both sides are allowed to be edited as if each were authoritative. Decide which system owns the object, where the audit trail lives, and which change window is binding. Otherwise your troubleshooting time will be spent reconciling administrative drift rather than service issues.</a:t>
            </a:r>
            <a:endParaRPr lang="en-US" sz="1700" dirty="0"/>
          </a:p>
        </p:txBody>
      </p:sp>
      <p:pic>
        <p:nvPicPr>
          <p:cNvPr id="10" name="Image 0" descr="/mnt/data/infoblox_deck/assets/microsoft_integration.png"/>
          <p:cNvPicPr>
            <a:picLocks noChangeAspect="1"/>
          </p:cNvPicPr>
          <p:nvPr/>
        </p:nvPicPr>
        <p:blipFill>
          <a:blip r:embed="rId3"/>
          <a:stretch>
            <a:fillRect/>
          </a:stretch>
        </p:blipFill>
        <p:spPr>
          <a:xfrm>
            <a:off x="8500359" y="1005840"/>
            <a:ext cx="2046234" cy="1691640"/>
          </a:xfrm>
          <a:prstGeom prst="rect">
            <a:avLst/>
          </a:prstGeom>
        </p:spPr>
      </p:pic>
      <p:pic>
        <p:nvPicPr>
          <p:cNvPr id="11" name="Image 1" descr="/mnt/data/infoblox_deck/assets/microsoft_servers.png"/>
          <p:cNvPicPr>
            <a:picLocks noChangeAspect="1"/>
          </p:cNvPicPr>
          <p:nvPr/>
        </p:nvPicPr>
        <p:blipFill>
          <a:blip r:embed="rId4"/>
          <a:stretch>
            <a:fillRect/>
          </a:stretch>
        </p:blipFill>
        <p:spPr>
          <a:xfrm>
            <a:off x="8172949" y="2907792"/>
            <a:ext cx="2701055" cy="1691640"/>
          </a:xfrm>
          <a:prstGeom prst="rect">
            <a:avLst/>
          </a:prstGeom>
        </p:spPr>
      </p:pic>
      <p:sp>
        <p:nvSpPr>
          <p:cNvPr id="12" name="Text 8"/>
          <p:cNvSpPr/>
          <p:nvPr/>
        </p:nvSpPr>
        <p:spPr>
          <a:xfrm>
            <a:off x="7269480" y="4919472"/>
            <a:ext cx="4507992" cy="1133856"/>
          </a:xfrm>
          <a:prstGeom prst="rect">
            <a:avLst/>
          </a:prstGeom>
          <a:solidFill>
            <a:srgbClr val="FFF5E9"/>
          </a:solidFill>
          <a:ln w="12700">
            <a:solidFill>
              <a:srgbClr val="E6812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Licensing reminder
</a:t>
            </a:r>
            <a:r>
              <a:rPr lang="en-US" sz="1540" dirty="0">
                <a:solidFill>
                  <a:srgbClr val="23313F"/>
                </a:solidFill>
                <a:latin typeface="Aptos" pitchFamily="34" charset="0"/>
                <a:ea typeface="Aptos" pitchFamily="34" charset="-122"/>
                <a:cs typeface="Aptos" pitchFamily="34" charset="-120"/>
              </a:rPr>
              <a:t>Managing Microsoft servers requires the appropriate Microsoft management license. During rollout, verify the license is present before troubleshooting what appears to be a discovery or synchronization fault.</a:t>
            </a:r>
            <a:endParaRPr lang="en-US" sz="1700" dirty="0"/>
          </a:p>
        </p:txBody>
      </p:sp>
      <p:sp>
        <p:nvSpPr>
          <p:cNvPr id="13" name="Shape 9"/>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4" name="Text 10"/>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Legacy integration</a:t>
            </a:r>
            <a:endParaRPr lang="en-US" sz="900" dirty="0"/>
          </a:p>
        </p:txBody>
      </p:sp>
      <p:sp>
        <p:nvSpPr>
          <p:cNvPr id="15" name="Text 11"/>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DNS</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DNS recap for operators: only the concepts you need when incidents happen</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This is not a theory lesson. The point is to sharpen the mental model used when you inspect query logs, views, and resolver behavior on Infoblox.</a:t>
            </a:r>
            <a:endParaRPr lang="en-US" sz="1050" dirty="0"/>
          </a:p>
        </p:txBody>
      </p:sp>
      <p:sp>
        <p:nvSpPr>
          <p:cNvPr id="7" name="Text 5"/>
          <p:cNvSpPr/>
          <p:nvPr/>
        </p:nvSpPr>
        <p:spPr>
          <a:xfrm>
            <a:off x="411480" y="1005840"/>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Authoritative versus recursive is the first branch in any investigation
</a:t>
            </a:r>
            <a:r>
              <a:rPr lang="en-US" sz="1540" dirty="0">
                <a:solidFill>
                  <a:srgbClr val="23313F"/>
                </a:solidFill>
                <a:latin typeface="Aptos" pitchFamily="34" charset="0"/>
                <a:ea typeface="Aptos" pitchFamily="34" charset="-122"/>
                <a:cs typeface="Aptos" pitchFamily="34" charset="-120"/>
              </a:rPr>
              <a:t>If the member is authoritative for the answer, the problem space is record data, zone delegation, views, ACLs, DNSSEC, or service restart state. If the member is recursive, the problem space shifts to cache, forwarders, root-hint reachability, response handling, and upstream authority behavior.</a:t>
            </a:r>
            <a:endParaRPr lang="en-US" sz="1700" dirty="0"/>
          </a:p>
        </p:txBody>
      </p:sp>
      <p:sp>
        <p:nvSpPr>
          <p:cNvPr id="8" name="Text 6"/>
          <p:cNvSpPr/>
          <p:nvPr/>
        </p:nvSpPr>
        <p:spPr>
          <a:xfrm>
            <a:off x="411480" y="2761488"/>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Views, ACLs, and policy create intentionally different truths
</a:t>
            </a:r>
            <a:r>
              <a:rPr lang="en-US" sz="1540" dirty="0">
                <a:solidFill>
                  <a:srgbClr val="23313F"/>
                </a:solidFill>
                <a:latin typeface="Aptos" pitchFamily="34" charset="0"/>
                <a:ea typeface="Aptos" pitchFamily="34" charset="-122"/>
                <a:cs typeface="Aptos" pitchFamily="34" charset="-120"/>
              </a:rPr>
              <a:t>One Infoblox member can legitimately return different answers to different clients because of DNS views and recursion controls. That is powerful, but it is also why engineers can misdiagnose a view-order or client-match problem as "random DNS" when the appliance is actually being consistent with its policy logic.</a:t>
            </a:r>
            <a:endParaRPr lang="en-US" sz="1700" dirty="0"/>
          </a:p>
        </p:txBody>
      </p:sp>
      <p:sp>
        <p:nvSpPr>
          <p:cNvPr id="9" name="Text 7"/>
          <p:cNvSpPr/>
          <p:nvPr/>
        </p:nvSpPr>
        <p:spPr>
          <a:xfrm>
            <a:off x="411480" y="4517136"/>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TTL is an operational timer, not a record decoration
</a:t>
            </a:r>
            <a:r>
              <a:rPr lang="en-US" sz="1540" dirty="0">
                <a:solidFill>
                  <a:srgbClr val="23313F"/>
                </a:solidFill>
                <a:latin typeface="Aptos" pitchFamily="34" charset="0"/>
                <a:ea typeface="Aptos" pitchFamily="34" charset="-122"/>
                <a:cs typeface="Aptos" pitchFamily="34" charset="-120"/>
              </a:rPr>
              <a:t>TTL controls rollback speed, cache persistence, and the time a bad answer can remain visible after you have already fixed the source data. Negative caching matters too: an NXDOMAIN can persist after the record is added if the original negative TTL was long enough.</a:t>
            </a:r>
            <a:endParaRPr lang="en-US" sz="1700" dirty="0"/>
          </a:p>
        </p:txBody>
      </p:sp>
      <p:pic>
        <p:nvPicPr>
          <p:cNvPr id="10" name="Image 0" descr="/mnt/data/infoblox_deck/assets/dns_resolvers.png"/>
          <p:cNvPicPr>
            <a:picLocks noChangeAspect="1"/>
          </p:cNvPicPr>
          <p:nvPr/>
        </p:nvPicPr>
        <p:blipFill>
          <a:blip r:embed="rId3"/>
          <a:stretch>
            <a:fillRect/>
          </a:stretch>
        </p:blipFill>
        <p:spPr>
          <a:xfrm>
            <a:off x="7269480" y="1402063"/>
            <a:ext cx="4507992" cy="2792001"/>
          </a:xfrm>
          <a:prstGeom prst="rect">
            <a:avLst/>
          </a:prstGeom>
        </p:spPr>
      </p:pic>
      <p:sp>
        <p:nvSpPr>
          <p:cNvPr id="11" name="Text 8"/>
          <p:cNvSpPr/>
          <p:nvPr/>
        </p:nvSpPr>
        <p:spPr>
          <a:xfrm>
            <a:off x="7269480" y="4919472"/>
            <a:ext cx="4507992" cy="1133856"/>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Operator shortcut
</a:t>
            </a:r>
            <a:r>
              <a:rPr lang="en-US" sz="1480" dirty="0">
                <a:solidFill>
                  <a:srgbClr val="23313F"/>
                </a:solidFill>
                <a:latin typeface="Aptos" pitchFamily="34" charset="0"/>
                <a:ea typeface="Aptos" pitchFamily="34" charset="-122"/>
                <a:cs typeface="Aptos" pitchFamily="34" charset="-120"/>
              </a:rPr>
              <a:t>Before changing a record, prove: who answered, from which view, and whether the answer came from cache or authoritative data. That single discipline avoids many self-inflicted outages.</a:t>
            </a:r>
            <a:endParaRPr lang="en-US" sz="1700" dirty="0"/>
          </a:p>
        </p:txBody>
      </p:sp>
      <p:sp>
        <p:nvSpPr>
          <p:cNvPr id="12" name="Shape 9"/>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3" name="Text 10"/>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DNS</a:t>
            </a:r>
            <a:endParaRPr lang="en-US" sz="900" dirty="0"/>
          </a:p>
        </p:txBody>
      </p:sp>
      <p:sp>
        <p:nvSpPr>
          <p:cNvPr id="14" name="Text 11"/>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DNS</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DNS query path and failure domains</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The lecturer can use this slide as a whiteboard replacement: follow the request from client to answer and show where each class of evidence is collected.</a:t>
            </a:r>
            <a:endParaRPr lang="en-US" sz="1050" dirty="0"/>
          </a:p>
        </p:txBody>
      </p:sp>
      <p:sp>
        <p:nvSpPr>
          <p:cNvPr id="7" name="Text 5"/>
          <p:cNvSpPr/>
          <p:nvPr/>
        </p:nvSpPr>
        <p:spPr>
          <a:xfrm>
            <a:off x="594360" y="1417320"/>
            <a:ext cx="1783080" cy="1417320"/>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Client
</a:t>
            </a:r>
            <a:r>
              <a:rPr lang="en-US" sz="1380" dirty="0">
                <a:solidFill>
                  <a:srgbClr val="23313F"/>
                </a:solidFill>
                <a:latin typeface="Aptos" pitchFamily="34" charset="0"/>
                <a:ea typeface="Aptos" pitchFamily="34" charset="-122"/>
                <a:cs typeface="Aptos" pitchFamily="34" charset="-120"/>
              </a:rPr>
              <a:t>Symptoms appear here first: browser timeout, app delay, intermittent lookup, or stale cached answer.</a:t>
            </a:r>
            <a:endParaRPr lang="en-US" sz="1700" dirty="0"/>
          </a:p>
        </p:txBody>
      </p:sp>
      <p:sp>
        <p:nvSpPr>
          <p:cNvPr id="8" name="Text 6"/>
          <p:cNvSpPr/>
          <p:nvPr/>
        </p:nvSpPr>
        <p:spPr>
          <a:xfrm>
            <a:off x="2971800" y="1417320"/>
            <a:ext cx="1783080" cy="1417320"/>
          </a:xfrm>
          <a:prstGeom prst="rect">
            <a:avLst/>
          </a:prstGeom>
          <a:solidFill>
            <a:srgbClr val="EEF6FB"/>
          </a:solidFill>
          <a:ln w="12700">
            <a:solidFill>
              <a:srgbClr val="0E79C1"/>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0E79C1"/>
                </a:solidFill>
                <a:latin typeface="Aptos" pitchFamily="34" charset="0"/>
                <a:ea typeface="Aptos" pitchFamily="34" charset="-122"/>
                <a:cs typeface="Aptos" pitchFamily="34" charset="-120"/>
              </a:rPr>
              <a:t>Infoblox member
</a:t>
            </a:r>
            <a:r>
              <a:rPr lang="en-US" sz="1380" dirty="0">
                <a:solidFill>
                  <a:srgbClr val="23313F"/>
                </a:solidFill>
                <a:latin typeface="Aptos" pitchFamily="34" charset="0"/>
                <a:ea typeface="Aptos" pitchFamily="34" charset="-122"/>
                <a:cs typeface="Aptos" pitchFamily="34" charset="-120"/>
              </a:rPr>
              <a:t>Decides view match, cache use, recursion, local authority, query logging, and whether to forward or iterate.</a:t>
            </a:r>
            <a:endParaRPr lang="en-US" sz="1700" dirty="0"/>
          </a:p>
        </p:txBody>
      </p:sp>
      <p:sp>
        <p:nvSpPr>
          <p:cNvPr id="9" name="Text 7"/>
          <p:cNvSpPr/>
          <p:nvPr/>
        </p:nvSpPr>
        <p:spPr>
          <a:xfrm>
            <a:off x="5349240" y="1417320"/>
            <a:ext cx="1783080" cy="1417320"/>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Forwarder / root
</a:t>
            </a:r>
            <a:r>
              <a:rPr lang="en-US" sz="1380" dirty="0">
                <a:solidFill>
                  <a:srgbClr val="23313F"/>
                </a:solidFill>
                <a:latin typeface="Aptos" pitchFamily="34" charset="0"/>
                <a:ea typeface="Aptos" pitchFamily="34" charset="-122"/>
                <a:cs typeface="Aptos" pitchFamily="34" charset="-120"/>
              </a:rPr>
              <a:t>Only relevant if recursion leaves the member. Problems here show up as timeout, SERVFAIL, or long latency.</a:t>
            </a:r>
            <a:endParaRPr lang="en-US" sz="1700" dirty="0"/>
          </a:p>
        </p:txBody>
      </p:sp>
      <p:sp>
        <p:nvSpPr>
          <p:cNvPr id="10" name="Text 8"/>
          <p:cNvSpPr/>
          <p:nvPr/>
        </p:nvSpPr>
        <p:spPr>
          <a:xfrm>
            <a:off x="7726680" y="1417320"/>
            <a:ext cx="1783080" cy="1417320"/>
          </a:xfrm>
          <a:prstGeom prst="rect">
            <a:avLst/>
          </a:prstGeom>
          <a:solidFill>
            <a:srgbClr val="EEF6FB"/>
          </a:solidFill>
          <a:ln w="12700">
            <a:solidFill>
              <a:srgbClr val="0E79C1"/>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0E79C1"/>
                </a:solidFill>
                <a:latin typeface="Aptos" pitchFamily="34" charset="0"/>
                <a:ea typeface="Aptos" pitchFamily="34" charset="-122"/>
                <a:cs typeface="Aptos" pitchFamily="34" charset="-120"/>
              </a:rPr>
              <a:t>Authoritative server
</a:t>
            </a:r>
            <a:r>
              <a:rPr lang="en-US" sz="1380" dirty="0">
                <a:solidFill>
                  <a:srgbClr val="23313F"/>
                </a:solidFill>
                <a:latin typeface="Aptos" pitchFamily="34" charset="0"/>
                <a:ea typeface="Aptos" pitchFamily="34" charset="-122"/>
                <a:cs typeface="Aptos" pitchFamily="34" charset="-120"/>
              </a:rPr>
              <a:t>Owns the final record set. Delegation errors, stale zone data, or DNSSEC issues often live here.</a:t>
            </a:r>
            <a:endParaRPr lang="en-US" sz="1700" dirty="0"/>
          </a:p>
        </p:txBody>
      </p:sp>
      <p:sp>
        <p:nvSpPr>
          <p:cNvPr id="11" name="Text 9"/>
          <p:cNvSpPr/>
          <p:nvPr/>
        </p:nvSpPr>
        <p:spPr>
          <a:xfrm>
            <a:off x="9921240" y="1417320"/>
            <a:ext cx="1783080" cy="1417320"/>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Response path
</a:t>
            </a:r>
            <a:r>
              <a:rPr lang="en-US" sz="1380" dirty="0">
                <a:solidFill>
                  <a:srgbClr val="23313F"/>
                </a:solidFill>
                <a:latin typeface="Aptos" pitchFamily="34" charset="0"/>
                <a:ea typeface="Aptos" pitchFamily="34" charset="-122"/>
                <a:cs typeface="Aptos" pitchFamily="34" charset="-120"/>
              </a:rPr>
              <a:t>Caches, negative caches, and MTU/firewall issues can make a fixed record still look broken to the client.</a:t>
            </a:r>
            <a:endParaRPr lang="en-US" sz="1700" dirty="0"/>
          </a:p>
        </p:txBody>
      </p:sp>
      <p:sp>
        <p:nvSpPr>
          <p:cNvPr id="12" name="Text 10"/>
          <p:cNvSpPr/>
          <p:nvPr/>
        </p:nvSpPr>
        <p:spPr>
          <a:xfrm>
            <a:off x="594360" y="3154680"/>
            <a:ext cx="3657600" cy="1965960"/>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Proof points at the member
</a:t>
            </a:r>
            <a:r>
              <a:rPr lang="en-US" sz="1500" dirty="0">
                <a:solidFill>
                  <a:srgbClr val="23313F"/>
                </a:solidFill>
                <a:latin typeface="Aptos" pitchFamily="34" charset="0"/>
                <a:ea typeface="Aptos" pitchFamily="34" charset="-122"/>
                <a:cs typeface="Aptos" pitchFamily="34" charset="-120"/>
              </a:rPr>
              <a:t>Use query logs, dig or nslookup from the member itself, view and ACL inspection, and packet capture only if logs cannot explain the path. If a member can resolve or answer correctly from its own perspective, shift the investigation outward to the client path or upstream dependencies.</a:t>
            </a:r>
            <a:endParaRPr lang="en-US" sz="1700" dirty="0"/>
          </a:p>
        </p:txBody>
      </p:sp>
      <p:sp>
        <p:nvSpPr>
          <p:cNvPr id="13" name="Text 11"/>
          <p:cNvSpPr/>
          <p:nvPr/>
        </p:nvSpPr>
        <p:spPr>
          <a:xfrm>
            <a:off x="4434840" y="3154680"/>
            <a:ext cx="3657600" cy="1965960"/>
          </a:xfrm>
          <a:prstGeom prst="rect">
            <a:avLst/>
          </a:prstGeom>
          <a:solidFill>
            <a:srgbClr val="EEF6FB"/>
          </a:solidFill>
          <a:ln w="12700">
            <a:solidFill>
              <a:srgbClr val="0E79C1"/>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Proof points for authoritative problems
</a:t>
            </a:r>
            <a:r>
              <a:rPr lang="en-US" sz="1500" dirty="0">
                <a:solidFill>
                  <a:srgbClr val="23313F"/>
                </a:solidFill>
                <a:latin typeface="Aptos" pitchFamily="34" charset="0"/>
                <a:ea typeface="Aptos" pitchFamily="34" charset="-122"/>
                <a:cs typeface="Aptos" pitchFamily="34" charset="-120"/>
              </a:rPr>
              <a:t>Check which zone is authoritative, whether the correct member or view loaded the zone, whether a restart is pending, whether delegation and glue are correct, and whether negative caching is still in effect on resolvers that queried before the fix.</a:t>
            </a:r>
            <a:endParaRPr lang="en-US" sz="1700" dirty="0"/>
          </a:p>
        </p:txBody>
      </p:sp>
      <p:sp>
        <p:nvSpPr>
          <p:cNvPr id="14" name="Text 12"/>
          <p:cNvSpPr/>
          <p:nvPr/>
        </p:nvSpPr>
        <p:spPr>
          <a:xfrm>
            <a:off x="8275320" y="3154680"/>
            <a:ext cx="3337560" cy="1965960"/>
          </a:xfrm>
          <a:prstGeom prst="rect">
            <a:avLst/>
          </a:prstGeom>
          <a:solidFill>
            <a:srgbClr val="FFF5E9"/>
          </a:solidFill>
          <a:ln w="12700">
            <a:solidFill>
              <a:srgbClr val="E6812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E6812F"/>
                </a:solidFill>
                <a:latin typeface="Aptos" pitchFamily="34" charset="0"/>
                <a:ea typeface="Aptos" pitchFamily="34" charset="-122"/>
                <a:cs typeface="Aptos" pitchFamily="34" charset="-120"/>
              </a:rPr>
              <a:t>What not to do
</a:t>
            </a:r>
            <a:r>
              <a:rPr lang="en-US" sz="1500" dirty="0">
                <a:solidFill>
                  <a:srgbClr val="23313F"/>
                </a:solidFill>
                <a:latin typeface="Aptos" pitchFamily="34" charset="0"/>
                <a:ea typeface="Aptos" pitchFamily="34" charset="-122"/>
                <a:cs typeface="Aptos" pitchFamily="34" charset="-120"/>
              </a:rPr>
              <a:t>Do not change multiple layers at once. If you adjust the record, the view, and the forwarder path together, you destroy the evidence chain that would have told you which layer was truly wrong.</a:t>
            </a:r>
            <a:endParaRPr lang="en-US" sz="1700" dirty="0"/>
          </a:p>
        </p:txBody>
      </p:sp>
      <p:sp>
        <p:nvSpPr>
          <p:cNvPr id="15" name="Shape 13"/>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6" name="Text 14"/>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DNS query path</a:t>
            </a:r>
            <a:endParaRPr lang="en-US" sz="900" dirty="0"/>
          </a:p>
        </p:txBody>
      </p:sp>
      <p:sp>
        <p:nvSpPr>
          <p:cNvPr id="17" name="Text 15"/>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DNS LOGGING</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DNS query logging: enable only what helps answer the question you actually have</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Verbose logging is powerful and expensive. Advanced operators know when to turn categories on, how long to leave them on, and where to export them for analysis.</a:t>
            </a:r>
            <a:endParaRPr lang="en-US" sz="1050" dirty="0"/>
          </a:p>
        </p:txBody>
      </p:sp>
      <p:sp>
        <p:nvSpPr>
          <p:cNvPr id="7" name="Text 5"/>
          <p:cNvSpPr/>
          <p:nvPr/>
        </p:nvSpPr>
        <p:spPr>
          <a:xfrm>
            <a:off x="411480" y="1005840"/>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Where query logging is configured
</a:t>
            </a:r>
            <a:r>
              <a:rPr lang="en-US" sz="1540" dirty="0">
                <a:solidFill>
                  <a:srgbClr val="23313F"/>
                </a:solidFill>
                <a:latin typeface="Aptos" pitchFamily="34" charset="0"/>
                <a:ea typeface="Aptos" pitchFamily="34" charset="-122"/>
                <a:cs typeface="Aptos" pitchFamily="34" charset="-120"/>
              </a:rPr>
              <a:t>Infoblox allows DNS logging to be enabled at the Grid level or at the member level. That matters because broad logging during a major incident can create noise and overhead across many members when only one view, site, or resolver path actually needs inspection.</a:t>
            </a:r>
            <a:endParaRPr lang="en-US" sz="1700" dirty="0"/>
          </a:p>
        </p:txBody>
      </p:sp>
      <p:sp>
        <p:nvSpPr>
          <p:cNvPr id="8" name="Text 6"/>
          <p:cNvSpPr/>
          <p:nvPr/>
        </p:nvSpPr>
        <p:spPr>
          <a:xfrm>
            <a:off x="411480" y="2761488"/>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Category selection is the real tuning knob
</a:t>
            </a:r>
            <a:r>
              <a:rPr lang="en-US" sz="1540" dirty="0">
                <a:solidFill>
                  <a:srgbClr val="23313F"/>
                </a:solidFill>
                <a:latin typeface="Aptos" pitchFamily="34" charset="0"/>
                <a:ea typeface="Aptos" pitchFamily="34" charset="-122"/>
                <a:cs typeface="Aptos" pitchFamily="34" charset="-120"/>
              </a:rPr>
              <a:t>The categories determine whether you see client events, resolver behavior, query and response details, security actions, transfer activity, and more. Query and response categories tell you what happened; resolver, network, and security categories often explain why it happened.</a:t>
            </a:r>
            <a:endParaRPr lang="en-US" sz="1700" dirty="0"/>
          </a:p>
        </p:txBody>
      </p:sp>
      <p:sp>
        <p:nvSpPr>
          <p:cNvPr id="9" name="Text 7"/>
          <p:cNvSpPr/>
          <p:nvPr/>
        </p:nvSpPr>
        <p:spPr>
          <a:xfrm>
            <a:off x="411480" y="4517136"/>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Volume strategy for advanced environments
</a:t>
            </a:r>
            <a:r>
              <a:rPr lang="en-US" sz="1540" dirty="0">
                <a:solidFill>
                  <a:srgbClr val="23313F"/>
                </a:solidFill>
                <a:latin typeface="Aptos" pitchFamily="34" charset="0"/>
                <a:ea typeface="Aptos" pitchFamily="34" charset="-122"/>
                <a:cs typeface="Aptos" pitchFamily="34" charset="-120"/>
              </a:rPr>
              <a:t>For short diagnostic windows, syslog query logging is often sufficient. For high-rate environments or deeper packet-like visibility, dnstap is more efficient. Either way, define the start and end of your capture window so the team does not normalize excessive logging as the default operating mode.</a:t>
            </a:r>
            <a:endParaRPr lang="en-US" sz="1700" dirty="0"/>
          </a:p>
        </p:txBody>
      </p:sp>
      <p:pic>
        <p:nvPicPr>
          <p:cNvPr id="10" name="Image 0" descr="/mnt/data/infoblox_deck/assets/dns_logging_categories.png"/>
          <p:cNvPicPr>
            <a:picLocks noChangeAspect="1"/>
          </p:cNvPicPr>
          <p:nvPr/>
        </p:nvPicPr>
        <p:blipFill>
          <a:blip r:embed="rId3"/>
          <a:stretch>
            <a:fillRect/>
          </a:stretch>
        </p:blipFill>
        <p:spPr>
          <a:xfrm>
            <a:off x="7269480" y="1263390"/>
            <a:ext cx="4507992" cy="3069348"/>
          </a:xfrm>
          <a:prstGeom prst="rect">
            <a:avLst/>
          </a:prstGeom>
        </p:spPr>
      </p:pic>
      <p:sp>
        <p:nvSpPr>
          <p:cNvPr id="11" name="Text 8"/>
          <p:cNvSpPr/>
          <p:nvPr/>
        </p:nvSpPr>
        <p:spPr>
          <a:xfrm>
            <a:off x="7269480" y="4919472"/>
            <a:ext cx="4507992" cy="1133856"/>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Practical rule
</a:t>
            </a:r>
            <a:r>
              <a:rPr lang="en-US" sz="1480" dirty="0">
                <a:solidFill>
                  <a:srgbClr val="23313F"/>
                </a:solidFill>
                <a:latin typeface="Aptos" pitchFamily="34" charset="0"/>
                <a:ea typeface="Aptos" pitchFamily="34" charset="-122"/>
                <a:cs typeface="Aptos" pitchFamily="34" charset="-120"/>
              </a:rPr>
              <a:t>If you cannot explain why a logging category is enabled, it should probably be off until a specific incident or use case justifies it.</a:t>
            </a:r>
            <a:endParaRPr lang="en-US" sz="1700" dirty="0"/>
          </a:p>
        </p:txBody>
      </p:sp>
      <p:sp>
        <p:nvSpPr>
          <p:cNvPr id="12" name="Shape 9"/>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3" name="Text 10"/>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DNS logging</a:t>
            </a:r>
            <a:endParaRPr lang="en-US" sz="900" dirty="0"/>
          </a:p>
        </p:txBody>
      </p:sp>
      <p:sp>
        <p:nvSpPr>
          <p:cNvPr id="14" name="Text 11"/>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DNS TROUBLESHOOTING</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A practical DNS troubleshooting matrix for Infoblox operators</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Teach this matrix as a decision tree: classify the symptom first, then gather the shortest proof that narrows the failure domain before you change anything.</a:t>
            </a:r>
            <a:endParaRPr lang="en-US" sz="1050" dirty="0"/>
          </a:p>
        </p:txBody>
      </p:sp>
      <p:sp>
        <p:nvSpPr>
          <p:cNvPr id="7" name="Text 5"/>
          <p:cNvSpPr/>
          <p:nvPr/>
        </p:nvSpPr>
        <p:spPr>
          <a:xfrm>
            <a:off x="411480" y="1005840"/>
            <a:ext cx="2194560" cy="310896"/>
          </a:xfrm>
          <a:prstGeom prst="rect">
            <a:avLst/>
          </a:prstGeom>
          <a:solidFill>
            <a:srgbClr val="16324F"/>
          </a:solidFill>
          <a:ln w="12700">
            <a:solidFill>
              <a:srgbClr val="16324F"/>
            </a:solidFill>
          </a:ln>
        </p:spPr>
        <p:txBody>
          <a:bodyPr wrap="square" lIns="1143" tIns="1143" rIns="1143" bIns="1143" rtlCol="0" anchor="ctr"/>
          <a:lstStyle/>
          <a:p>
            <a:pPr marL="0" indent="0" algn="ctr">
              <a:buNone/>
            </a:pPr>
            <a:r>
              <a:rPr lang="en-US" sz="1270" b="1" dirty="0">
                <a:solidFill>
                  <a:srgbClr val="FFFFFF"/>
                </a:solidFill>
                <a:latin typeface="Aptos" pitchFamily="34" charset="0"/>
                <a:ea typeface="Aptos" pitchFamily="34" charset="-122"/>
                <a:cs typeface="Aptos" pitchFamily="34" charset="-120"/>
              </a:rPr>
              <a:t>Symptom / question</a:t>
            </a:r>
            <a:endParaRPr lang="en-US" sz="1270" dirty="0"/>
          </a:p>
        </p:txBody>
      </p:sp>
      <p:sp>
        <p:nvSpPr>
          <p:cNvPr id="8" name="Text 6"/>
          <p:cNvSpPr/>
          <p:nvPr/>
        </p:nvSpPr>
        <p:spPr>
          <a:xfrm>
            <a:off x="2697480" y="1005840"/>
            <a:ext cx="2194560" cy="310896"/>
          </a:xfrm>
          <a:prstGeom prst="rect">
            <a:avLst/>
          </a:prstGeom>
          <a:solidFill>
            <a:srgbClr val="16324F"/>
          </a:solidFill>
          <a:ln w="12700">
            <a:solidFill>
              <a:srgbClr val="16324F"/>
            </a:solidFill>
          </a:ln>
        </p:spPr>
        <p:txBody>
          <a:bodyPr wrap="square" lIns="1143" tIns="1143" rIns="1143" bIns="1143" rtlCol="0" anchor="ctr"/>
          <a:lstStyle/>
          <a:p>
            <a:pPr marL="0" indent="0" algn="ctr">
              <a:buNone/>
            </a:pPr>
            <a:r>
              <a:rPr lang="en-US" sz="1270" b="1" dirty="0">
                <a:solidFill>
                  <a:srgbClr val="FFFFFF"/>
                </a:solidFill>
                <a:latin typeface="Aptos" pitchFamily="34" charset="0"/>
                <a:ea typeface="Aptos" pitchFamily="34" charset="-122"/>
                <a:cs typeface="Aptos" pitchFamily="34" charset="-120"/>
              </a:rPr>
              <a:t>Likely domain</a:t>
            </a:r>
            <a:endParaRPr lang="en-US" sz="1270" dirty="0"/>
          </a:p>
        </p:txBody>
      </p:sp>
      <p:sp>
        <p:nvSpPr>
          <p:cNvPr id="9" name="Text 7"/>
          <p:cNvSpPr/>
          <p:nvPr/>
        </p:nvSpPr>
        <p:spPr>
          <a:xfrm>
            <a:off x="4965192" y="1005840"/>
            <a:ext cx="2926080" cy="310896"/>
          </a:xfrm>
          <a:prstGeom prst="rect">
            <a:avLst/>
          </a:prstGeom>
          <a:solidFill>
            <a:srgbClr val="16324F"/>
          </a:solidFill>
          <a:ln w="12700">
            <a:solidFill>
              <a:srgbClr val="16324F"/>
            </a:solidFill>
          </a:ln>
        </p:spPr>
        <p:txBody>
          <a:bodyPr wrap="square" lIns="1143" tIns="1143" rIns="1143" bIns="1143" rtlCol="0" anchor="ctr"/>
          <a:lstStyle/>
          <a:p>
            <a:pPr marL="0" indent="0" algn="ctr">
              <a:buNone/>
            </a:pPr>
            <a:r>
              <a:rPr lang="en-US" sz="1270" b="1" dirty="0">
                <a:solidFill>
                  <a:srgbClr val="FFFFFF"/>
                </a:solidFill>
                <a:latin typeface="Aptos" pitchFamily="34" charset="0"/>
                <a:ea typeface="Aptos" pitchFamily="34" charset="-122"/>
                <a:cs typeface="Aptos" pitchFamily="34" charset="-120"/>
              </a:rPr>
              <a:t>First proof point</a:t>
            </a:r>
            <a:endParaRPr lang="en-US" sz="1270" dirty="0"/>
          </a:p>
        </p:txBody>
      </p:sp>
      <p:sp>
        <p:nvSpPr>
          <p:cNvPr id="10" name="Text 8"/>
          <p:cNvSpPr/>
          <p:nvPr/>
        </p:nvSpPr>
        <p:spPr>
          <a:xfrm>
            <a:off x="8001000" y="1005840"/>
            <a:ext cx="3749040" cy="310896"/>
          </a:xfrm>
          <a:prstGeom prst="rect">
            <a:avLst/>
          </a:prstGeom>
          <a:solidFill>
            <a:srgbClr val="16324F"/>
          </a:solidFill>
          <a:ln w="12700">
            <a:solidFill>
              <a:srgbClr val="16324F"/>
            </a:solidFill>
          </a:ln>
        </p:spPr>
        <p:txBody>
          <a:bodyPr wrap="square" lIns="1143" tIns="1143" rIns="1143" bIns="1143" rtlCol="0" anchor="ctr"/>
          <a:lstStyle/>
          <a:p>
            <a:pPr marL="0" indent="0" algn="ctr">
              <a:buNone/>
            </a:pPr>
            <a:r>
              <a:rPr lang="en-US" sz="1270" b="1" dirty="0">
                <a:solidFill>
                  <a:srgbClr val="FFFFFF"/>
                </a:solidFill>
                <a:latin typeface="Aptos" pitchFamily="34" charset="0"/>
                <a:ea typeface="Aptos" pitchFamily="34" charset="-122"/>
                <a:cs typeface="Aptos" pitchFamily="34" charset="-120"/>
              </a:rPr>
              <a:t>Typical Infoblox action</a:t>
            </a:r>
            <a:endParaRPr lang="en-US" sz="1270" dirty="0"/>
          </a:p>
        </p:txBody>
      </p:sp>
      <p:sp>
        <p:nvSpPr>
          <p:cNvPr id="11" name="Text 9"/>
          <p:cNvSpPr/>
          <p:nvPr/>
        </p:nvSpPr>
        <p:spPr>
          <a:xfrm>
            <a:off x="411480" y="1335024"/>
            <a:ext cx="2194560" cy="1115568"/>
          </a:xfrm>
          <a:prstGeom prst="rect">
            <a:avLst/>
          </a:prstGeom>
          <a:solidFill>
            <a:srgbClr val="F5F7F9"/>
          </a:solidFill>
          <a:ln w="12700">
            <a:solidFill>
              <a:srgbClr val="D7DEE5"/>
            </a:solidFill>
          </a:ln>
        </p:spPr>
        <p:txBody>
          <a:bodyPr wrap="square" lIns="1524" tIns="1524" rIns="1524" bIns="1524" rtlCol="0" anchor="t">
            <a:normAutofit/>
          </a:bodyPr>
          <a:lstStyle/>
          <a:p>
            <a:pPr marL="0" indent="0">
              <a:buNone/>
            </a:pPr>
            <a:r>
              <a:rPr lang="en-US" sz="1380" dirty="0">
                <a:solidFill>
                  <a:srgbClr val="23313F"/>
                </a:solidFill>
                <a:latin typeface="Aptos" pitchFamily="34" charset="0"/>
                <a:ea typeface="Aptos" pitchFamily="34" charset="-122"/>
                <a:cs typeface="Aptos" pitchFamily="34" charset="-120"/>
              </a:rPr>
              <a:t>NXDOMAIN or record not found</a:t>
            </a:r>
            <a:endParaRPr lang="en-US" sz="1380" dirty="0"/>
          </a:p>
        </p:txBody>
      </p:sp>
      <p:sp>
        <p:nvSpPr>
          <p:cNvPr id="12" name="Text 10"/>
          <p:cNvSpPr/>
          <p:nvPr/>
        </p:nvSpPr>
        <p:spPr>
          <a:xfrm>
            <a:off x="2697480" y="1335024"/>
            <a:ext cx="2194560" cy="1115568"/>
          </a:xfrm>
          <a:prstGeom prst="rect">
            <a:avLst/>
          </a:prstGeom>
          <a:solidFill>
            <a:srgbClr val="F5F7F9"/>
          </a:solidFill>
          <a:ln w="12700">
            <a:solidFill>
              <a:srgbClr val="D7DEE5"/>
            </a:solidFill>
          </a:ln>
        </p:spPr>
        <p:txBody>
          <a:bodyPr wrap="square" lIns="1524" tIns="1524" rIns="1524" bIns="1524" rtlCol="0" anchor="t">
            <a:normAutofit/>
          </a:bodyPr>
          <a:lstStyle/>
          <a:p>
            <a:pPr marL="0" indent="0">
              <a:buNone/>
            </a:pPr>
            <a:r>
              <a:rPr lang="en-US" sz="1380" dirty="0">
                <a:solidFill>
                  <a:srgbClr val="23313F"/>
                </a:solidFill>
                <a:latin typeface="Aptos" pitchFamily="34" charset="0"/>
                <a:ea typeface="Aptos" pitchFamily="34" charset="-122"/>
                <a:cs typeface="Aptos" pitchFamily="34" charset="-120"/>
              </a:rPr>
              <a:t>Wrong zone, wrong view, missing record, stale negative cache, or delegation gap.</a:t>
            </a:r>
            <a:endParaRPr lang="en-US" sz="1380" dirty="0"/>
          </a:p>
        </p:txBody>
      </p:sp>
      <p:sp>
        <p:nvSpPr>
          <p:cNvPr id="13" name="Text 11"/>
          <p:cNvSpPr/>
          <p:nvPr/>
        </p:nvSpPr>
        <p:spPr>
          <a:xfrm>
            <a:off x="4965192" y="1335024"/>
            <a:ext cx="2926080" cy="1115568"/>
          </a:xfrm>
          <a:prstGeom prst="rect">
            <a:avLst/>
          </a:prstGeom>
          <a:solidFill>
            <a:srgbClr val="F5F7F9"/>
          </a:solidFill>
          <a:ln w="12700">
            <a:solidFill>
              <a:srgbClr val="D7DEE5"/>
            </a:solidFill>
          </a:ln>
        </p:spPr>
        <p:txBody>
          <a:bodyPr wrap="square" lIns="1524" tIns="1524" rIns="1524" bIns="1524" rtlCol="0" anchor="t">
            <a:normAutofit/>
          </a:bodyPr>
          <a:lstStyle/>
          <a:p>
            <a:pPr marL="0" indent="0">
              <a:buNone/>
            </a:pPr>
            <a:r>
              <a:rPr lang="en-US" sz="1380" dirty="0">
                <a:solidFill>
                  <a:srgbClr val="23313F"/>
                </a:solidFill>
                <a:latin typeface="Aptos" pitchFamily="34" charset="0"/>
                <a:ea typeface="Aptos" pitchFamily="34" charset="-122"/>
                <a:cs typeface="Aptos" pitchFamily="34" charset="-120"/>
              </a:rPr>
              <a:t>Query the member directly from the affected client path; compare authoritative answer, view match, and cache behavior.</a:t>
            </a:r>
            <a:endParaRPr lang="en-US" sz="1380" dirty="0"/>
          </a:p>
        </p:txBody>
      </p:sp>
      <p:sp>
        <p:nvSpPr>
          <p:cNvPr id="14" name="Text 12"/>
          <p:cNvSpPr/>
          <p:nvPr/>
        </p:nvSpPr>
        <p:spPr>
          <a:xfrm>
            <a:off x="8001000" y="1335024"/>
            <a:ext cx="3749040" cy="1115568"/>
          </a:xfrm>
          <a:prstGeom prst="rect">
            <a:avLst/>
          </a:prstGeom>
          <a:solidFill>
            <a:srgbClr val="F5F7F9"/>
          </a:solidFill>
          <a:ln w="12700">
            <a:solidFill>
              <a:srgbClr val="D7DEE5"/>
            </a:solidFill>
          </a:ln>
        </p:spPr>
        <p:txBody>
          <a:bodyPr wrap="square" lIns="1524" tIns="1524" rIns="1524" bIns="1524" rtlCol="0" anchor="t">
            <a:normAutofit/>
          </a:bodyPr>
          <a:lstStyle/>
          <a:p>
            <a:pPr marL="0" indent="0">
              <a:buNone/>
            </a:pPr>
            <a:r>
              <a:rPr lang="en-US" sz="1380" dirty="0">
                <a:solidFill>
                  <a:srgbClr val="23313F"/>
                </a:solidFill>
                <a:latin typeface="Aptos" pitchFamily="34" charset="0"/>
                <a:ea typeface="Aptos" pitchFamily="34" charset="-122"/>
                <a:cs typeface="Aptos" pitchFamily="34" charset="-120"/>
              </a:rPr>
              <a:t>Verify zone authority and view order, add or correct the record only after proving the member and client are using the same view; account for negative TTL before declaring the fix ineffective.</a:t>
            </a:r>
            <a:endParaRPr lang="en-US" sz="1380" dirty="0"/>
          </a:p>
        </p:txBody>
      </p:sp>
      <p:sp>
        <p:nvSpPr>
          <p:cNvPr id="15" name="Text 13"/>
          <p:cNvSpPr/>
          <p:nvPr/>
        </p:nvSpPr>
        <p:spPr>
          <a:xfrm>
            <a:off x="411480" y="2450592"/>
            <a:ext cx="2194560" cy="1115568"/>
          </a:xfrm>
          <a:prstGeom prst="rect">
            <a:avLst/>
          </a:prstGeom>
          <a:solidFill>
            <a:srgbClr val="EEF6FB"/>
          </a:solidFill>
          <a:ln w="12700">
            <a:solidFill>
              <a:srgbClr val="D7DEE5"/>
            </a:solidFill>
          </a:ln>
        </p:spPr>
        <p:txBody>
          <a:bodyPr wrap="square" lIns="1524" tIns="1524" rIns="1524" bIns="1524" rtlCol="0" anchor="t">
            <a:normAutofit/>
          </a:bodyPr>
          <a:lstStyle/>
          <a:p>
            <a:pPr marL="0" indent="0">
              <a:buNone/>
            </a:pPr>
            <a:r>
              <a:rPr lang="en-US" sz="1380" dirty="0">
                <a:solidFill>
                  <a:srgbClr val="23313F"/>
                </a:solidFill>
                <a:latin typeface="Aptos" pitchFamily="34" charset="0"/>
                <a:ea typeface="Aptos" pitchFamily="34" charset="-122"/>
                <a:cs typeface="Aptos" pitchFamily="34" charset="-120"/>
              </a:rPr>
              <a:t>SERVFAIL</a:t>
            </a:r>
            <a:endParaRPr lang="en-US" sz="1380" dirty="0"/>
          </a:p>
        </p:txBody>
      </p:sp>
      <p:sp>
        <p:nvSpPr>
          <p:cNvPr id="16" name="Text 14"/>
          <p:cNvSpPr/>
          <p:nvPr/>
        </p:nvSpPr>
        <p:spPr>
          <a:xfrm>
            <a:off x="2697480" y="2450592"/>
            <a:ext cx="2194560" cy="1115568"/>
          </a:xfrm>
          <a:prstGeom prst="rect">
            <a:avLst/>
          </a:prstGeom>
          <a:solidFill>
            <a:srgbClr val="EEF6FB"/>
          </a:solidFill>
          <a:ln w="12700">
            <a:solidFill>
              <a:srgbClr val="D7DEE5"/>
            </a:solidFill>
          </a:ln>
        </p:spPr>
        <p:txBody>
          <a:bodyPr wrap="square" lIns="1524" tIns="1524" rIns="1524" bIns="1524" rtlCol="0" anchor="t">
            <a:normAutofit/>
          </a:bodyPr>
          <a:lstStyle/>
          <a:p>
            <a:pPr marL="0" indent="0">
              <a:buNone/>
            </a:pPr>
            <a:r>
              <a:rPr lang="en-US" sz="1380" dirty="0">
                <a:solidFill>
                  <a:srgbClr val="23313F"/>
                </a:solidFill>
                <a:latin typeface="Aptos" pitchFamily="34" charset="0"/>
                <a:ea typeface="Aptos" pitchFamily="34" charset="-122"/>
                <a:cs typeface="Aptos" pitchFamily="34" charset="-120"/>
              </a:rPr>
              <a:t>Upstream recursion problem, DNSSEC validation issue, broken forwarder path, or malformed authority response.</a:t>
            </a:r>
            <a:endParaRPr lang="en-US" sz="1380" dirty="0"/>
          </a:p>
        </p:txBody>
      </p:sp>
      <p:sp>
        <p:nvSpPr>
          <p:cNvPr id="17" name="Text 15"/>
          <p:cNvSpPr/>
          <p:nvPr/>
        </p:nvSpPr>
        <p:spPr>
          <a:xfrm>
            <a:off x="4965192" y="2450592"/>
            <a:ext cx="2926080" cy="1115568"/>
          </a:xfrm>
          <a:prstGeom prst="rect">
            <a:avLst/>
          </a:prstGeom>
          <a:solidFill>
            <a:srgbClr val="EEF6FB"/>
          </a:solidFill>
          <a:ln w="12700">
            <a:solidFill>
              <a:srgbClr val="D7DEE5"/>
            </a:solidFill>
          </a:ln>
        </p:spPr>
        <p:txBody>
          <a:bodyPr wrap="square" lIns="1524" tIns="1524" rIns="1524" bIns="1524" rtlCol="0" anchor="t">
            <a:normAutofit/>
          </a:bodyPr>
          <a:lstStyle/>
          <a:p>
            <a:pPr marL="0" indent="0">
              <a:buNone/>
            </a:pPr>
            <a:r>
              <a:rPr lang="en-US" sz="1380" dirty="0">
                <a:solidFill>
                  <a:srgbClr val="23313F"/>
                </a:solidFill>
                <a:latin typeface="Aptos" pitchFamily="34" charset="0"/>
                <a:ea typeface="Aptos" pitchFamily="34" charset="-122"/>
                <a:cs typeface="Aptos" pitchFamily="34" charset="-120"/>
              </a:rPr>
              <a:t>Test recursion from the member, inspect resolver and security categories, and compare behavior with an upstream dig +trace.</a:t>
            </a:r>
            <a:endParaRPr lang="en-US" sz="1380" dirty="0"/>
          </a:p>
        </p:txBody>
      </p:sp>
      <p:sp>
        <p:nvSpPr>
          <p:cNvPr id="18" name="Text 16"/>
          <p:cNvSpPr/>
          <p:nvPr/>
        </p:nvSpPr>
        <p:spPr>
          <a:xfrm>
            <a:off x="8001000" y="2450592"/>
            <a:ext cx="3749040" cy="1115568"/>
          </a:xfrm>
          <a:prstGeom prst="rect">
            <a:avLst/>
          </a:prstGeom>
          <a:solidFill>
            <a:srgbClr val="EEF6FB"/>
          </a:solidFill>
          <a:ln w="12700">
            <a:solidFill>
              <a:srgbClr val="D7DEE5"/>
            </a:solidFill>
          </a:ln>
        </p:spPr>
        <p:txBody>
          <a:bodyPr wrap="square" lIns="1524" tIns="1524" rIns="1524" bIns="1524" rtlCol="0" anchor="t">
            <a:normAutofit/>
          </a:bodyPr>
          <a:lstStyle/>
          <a:p>
            <a:pPr marL="0" indent="0">
              <a:buNone/>
            </a:pPr>
            <a:r>
              <a:rPr lang="en-US" sz="1380" dirty="0">
                <a:solidFill>
                  <a:srgbClr val="23313F"/>
                </a:solidFill>
                <a:latin typeface="Aptos" pitchFamily="34" charset="0"/>
                <a:ea typeface="Aptos" pitchFamily="34" charset="-122"/>
                <a:cs typeface="Aptos" pitchFamily="34" charset="-120"/>
              </a:rPr>
              <a:t>Check forwarders, root-hint reachability, DNSSEC state, and upstream authoritative health before editing local data.</a:t>
            </a:r>
            <a:endParaRPr lang="en-US" sz="1380" dirty="0"/>
          </a:p>
        </p:txBody>
      </p:sp>
      <p:sp>
        <p:nvSpPr>
          <p:cNvPr id="19" name="Text 17"/>
          <p:cNvSpPr/>
          <p:nvPr/>
        </p:nvSpPr>
        <p:spPr>
          <a:xfrm>
            <a:off x="411480" y="3566160"/>
            <a:ext cx="2194560" cy="1115568"/>
          </a:xfrm>
          <a:prstGeom prst="rect">
            <a:avLst/>
          </a:prstGeom>
          <a:solidFill>
            <a:srgbClr val="F5F7F9"/>
          </a:solidFill>
          <a:ln w="12700">
            <a:solidFill>
              <a:srgbClr val="D7DEE5"/>
            </a:solidFill>
          </a:ln>
        </p:spPr>
        <p:txBody>
          <a:bodyPr wrap="square" lIns="1524" tIns="1524" rIns="1524" bIns="1524" rtlCol="0" anchor="t">
            <a:normAutofit/>
          </a:bodyPr>
          <a:lstStyle/>
          <a:p>
            <a:pPr marL="0" indent="0">
              <a:buNone/>
            </a:pPr>
            <a:r>
              <a:rPr lang="en-US" sz="1380" dirty="0">
                <a:solidFill>
                  <a:srgbClr val="23313F"/>
                </a:solidFill>
                <a:latin typeface="Aptos" pitchFamily="34" charset="0"/>
                <a:ea typeface="Aptos" pitchFamily="34" charset="-122"/>
                <a:cs typeface="Aptos" pitchFamily="34" charset="-120"/>
              </a:rPr>
              <a:t>Timeout or very slow response</a:t>
            </a:r>
            <a:endParaRPr lang="en-US" sz="1380" dirty="0"/>
          </a:p>
        </p:txBody>
      </p:sp>
      <p:sp>
        <p:nvSpPr>
          <p:cNvPr id="20" name="Text 18"/>
          <p:cNvSpPr/>
          <p:nvPr/>
        </p:nvSpPr>
        <p:spPr>
          <a:xfrm>
            <a:off x="2697480" y="3566160"/>
            <a:ext cx="2194560" cy="1115568"/>
          </a:xfrm>
          <a:prstGeom prst="rect">
            <a:avLst/>
          </a:prstGeom>
          <a:solidFill>
            <a:srgbClr val="F5F7F9"/>
          </a:solidFill>
          <a:ln w="12700">
            <a:solidFill>
              <a:srgbClr val="D7DEE5"/>
            </a:solidFill>
          </a:ln>
        </p:spPr>
        <p:txBody>
          <a:bodyPr wrap="square" lIns="1524" tIns="1524" rIns="1524" bIns="1524" rtlCol="0" anchor="t">
            <a:normAutofit/>
          </a:bodyPr>
          <a:lstStyle/>
          <a:p>
            <a:pPr marL="0" indent="0">
              <a:buNone/>
            </a:pPr>
            <a:r>
              <a:rPr lang="en-US" sz="1380" dirty="0">
                <a:solidFill>
                  <a:srgbClr val="23313F"/>
                </a:solidFill>
                <a:latin typeface="Aptos" pitchFamily="34" charset="0"/>
                <a:ea typeface="Aptos" pitchFamily="34" charset="-122"/>
                <a:cs typeface="Aptos" pitchFamily="34" charset="-120"/>
              </a:rPr>
              <a:t>Network path issue, MTU/firewall problem, unreachable forwarder, or overloaded resolver path.</a:t>
            </a:r>
            <a:endParaRPr lang="en-US" sz="1380" dirty="0"/>
          </a:p>
        </p:txBody>
      </p:sp>
      <p:sp>
        <p:nvSpPr>
          <p:cNvPr id="21" name="Text 19"/>
          <p:cNvSpPr/>
          <p:nvPr/>
        </p:nvSpPr>
        <p:spPr>
          <a:xfrm>
            <a:off x="4965192" y="3566160"/>
            <a:ext cx="2926080" cy="1115568"/>
          </a:xfrm>
          <a:prstGeom prst="rect">
            <a:avLst/>
          </a:prstGeom>
          <a:solidFill>
            <a:srgbClr val="F5F7F9"/>
          </a:solidFill>
          <a:ln w="12700">
            <a:solidFill>
              <a:srgbClr val="D7DEE5"/>
            </a:solidFill>
          </a:ln>
        </p:spPr>
        <p:txBody>
          <a:bodyPr wrap="square" lIns="1524" tIns="1524" rIns="1524" bIns="1524" rtlCol="0" anchor="t">
            <a:normAutofit/>
          </a:bodyPr>
          <a:lstStyle/>
          <a:p>
            <a:pPr marL="0" indent="0">
              <a:buNone/>
            </a:pPr>
            <a:r>
              <a:rPr lang="en-US" sz="1380" dirty="0">
                <a:solidFill>
                  <a:srgbClr val="23313F"/>
                </a:solidFill>
                <a:latin typeface="Aptos" pitchFamily="34" charset="0"/>
                <a:ea typeface="Aptos" pitchFamily="34" charset="-122"/>
                <a:cs typeface="Aptos" pitchFamily="34" charset="-120"/>
              </a:rPr>
              <a:t>Measure latency from client and member, check whether the member logs the request, and test reachability to forwarders or authoritative servers.</a:t>
            </a:r>
            <a:endParaRPr lang="en-US" sz="1380" dirty="0"/>
          </a:p>
        </p:txBody>
      </p:sp>
      <p:sp>
        <p:nvSpPr>
          <p:cNvPr id="22" name="Text 20"/>
          <p:cNvSpPr/>
          <p:nvPr/>
        </p:nvSpPr>
        <p:spPr>
          <a:xfrm>
            <a:off x="8001000" y="3566160"/>
            <a:ext cx="3749040" cy="1115568"/>
          </a:xfrm>
          <a:prstGeom prst="rect">
            <a:avLst/>
          </a:prstGeom>
          <a:solidFill>
            <a:srgbClr val="F5F7F9"/>
          </a:solidFill>
          <a:ln w="12700">
            <a:solidFill>
              <a:srgbClr val="D7DEE5"/>
            </a:solidFill>
          </a:ln>
        </p:spPr>
        <p:txBody>
          <a:bodyPr wrap="square" lIns="1524" tIns="1524" rIns="1524" bIns="1524" rtlCol="0" anchor="t">
            <a:normAutofit/>
          </a:bodyPr>
          <a:lstStyle/>
          <a:p>
            <a:pPr marL="0" indent="0">
              <a:buNone/>
            </a:pPr>
            <a:r>
              <a:rPr lang="en-US" sz="1380" dirty="0">
                <a:solidFill>
                  <a:srgbClr val="23313F"/>
                </a:solidFill>
                <a:latin typeface="Aptos" pitchFamily="34" charset="0"/>
                <a:ea typeface="Aptos" pitchFamily="34" charset="-122"/>
                <a:cs typeface="Aptos" pitchFamily="34" charset="-120"/>
              </a:rPr>
              <a:t>Fix pathing or upstream dependency first; do not change records to solve a transport problem.</a:t>
            </a:r>
            <a:endParaRPr lang="en-US" sz="1380" dirty="0"/>
          </a:p>
        </p:txBody>
      </p:sp>
      <p:sp>
        <p:nvSpPr>
          <p:cNvPr id="23" name="Text 21"/>
          <p:cNvSpPr/>
          <p:nvPr/>
        </p:nvSpPr>
        <p:spPr>
          <a:xfrm>
            <a:off x="411480" y="4681728"/>
            <a:ext cx="2194560" cy="1115568"/>
          </a:xfrm>
          <a:prstGeom prst="rect">
            <a:avLst/>
          </a:prstGeom>
          <a:solidFill>
            <a:srgbClr val="EEF6FB"/>
          </a:solidFill>
          <a:ln w="12700">
            <a:solidFill>
              <a:srgbClr val="D7DEE5"/>
            </a:solidFill>
          </a:ln>
        </p:spPr>
        <p:txBody>
          <a:bodyPr wrap="square" lIns="1524" tIns="1524" rIns="1524" bIns="1524" rtlCol="0" anchor="t">
            <a:normAutofit/>
          </a:bodyPr>
          <a:lstStyle/>
          <a:p>
            <a:pPr marL="0" indent="0">
              <a:buNone/>
            </a:pPr>
            <a:r>
              <a:rPr lang="en-US" sz="1380" dirty="0">
                <a:solidFill>
                  <a:srgbClr val="23313F"/>
                </a:solidFill>
                <a:latin typeface="Aptos" pitchFamily="34" charset="0"/>
                <a:ea typeface="Aptos" pitchFamily="34" charset="-122"/>
                <a:cs typeface="Aptos" pitchFamily="34" charset="-120"/>
              </a:rPr>
              <a:t>Wrong answer or intermittent answer</a:t>
            </a:r>
            <a:endParaRPr lang="en-US" sz="1380" dirty="0"/>
          </a:p>
        </p:txBody>
      </p:sp>
      <p:sp>
        <p:nvSpPr>
          <p:cNvPr id="24" name="Text 22"/>
          <p:cNvSpPr/>
          <p:nvPr/>
        </p:nvSpPr>
        <p:spPr>
          <a:xfrm>
            <a:off x="2697480" y="4681728"/>
            <a:ext cx="2194560" cy="1115568"/>
          </a:xfrm>
          <a:prstGeom prst="rect">
            <a:avLst/>
          </a:prstGeom>
          <a:solidFill>
            <a:srgbClr val="EEF6FB"/>
          </a:solidFill>
          <a:ln w="12700">
            <a:solidFill>
              <a:srgbClr val="D7DEE5"/>
            </a:solidFill>
          </a:ln>
        </p:spPr>
        <p:txBody>
          <a:bodyPr wrap="square" lIns="1524" tIns="1524" rIns="1524" bIns="1524" rtlCol="0" anchor="t">
            <a:normAutofit/>
          </a:bodyPr>
          <a:lstStyle/>
          <a:p>
            <a:pPr marL="0" indent="0">
              <a:buNone/>
            </a:pPr>
            <a:r>
              <a:rPr lang="en-US" sz="1380" dirty="0">
                <a:solidFill>
                  <a:srgbClr val="23313F"/>
                </a:solidFill>
                <a:latin typeface="Aptos" pitchFamily="34" charset="0"/>
                <a:ea typeface="Aptos" pitchFamily="34" charset="-122"/>
                <a:cs typeface="Aptos" pitchFamily="34" charset="-120"/>
              </a:rPr>
              <a:t>Wrong view order, stale cache, split-horizon policy, secondary zone lag, or inconsistent upstream authority.</a:t>
            </a:r>
            <a:endParaRPr lang="en-US" sz="1380" dirty="0"/>
          </a:p>
        </p:txBody>
      </p:sp>
      <p:sp>
        <p:nvSpPr>
          <p:cNvPr id="25" name="Text 23"/>
          <p:cNvSpPr/>
          <p:nvPr/>
        </p:nvSpPr>
        <p:spPr>
          <a:xfrm>
            <a:off x="4965192" y="4681728"/>
            <a:ext cx="2926080" cy="1115568"/>
          </a:xfrm>
          <a:prstGeom prst="rect">
            <a:avLst/>
          </a:prstGeom>
          <a:solidFill>
            <a:srgbClr val="EEF6FB"/>
          </a:solidFill>
          <a:ln w="12700">
            <a:solidFill>
              <a:srgbClr val="D7DEE5"/>
            </a:solidFill>
          </a:ln>
        </p:spPr>
        <p:txBody>
          <a:bodyPr wrap="square" lIns="1524" tIns="1524" rIns="1524" bIns="1524" rtlCol="0" anchor="t">
            <a:normAutofit/>
          </a:bodyPr>
          <a:lstStyle/>
          <a:p>
            <a:pPr marL="0" indent="0">
              <a:buNone/>
            </a:pPr>
            <a:r>
              <a:rPr lang="en-US" sz="1380" dirty="0">
                <a:solidFill>
                  <a:srgbClr val="23313F"/>
                </a:solidFill>
                <a:latin typeface="Aptos" pitchFamily="34" charset="0"/>
                <a:ea typeface="Aptos" pitchFamily="34" charset="-122"/>
                <a:cs typeface="Aptos" pitchFamily="34" charset="-120"/>
              </a:rPr>
              <a:t>Compare answers by client subnet and by querying the member directly with explicit server selection.</a:t>
            </a:r>
            <a:endParaRPr lang="en-US" sz="1380" dirty="0"/>
          </a:p>
        </p:txBody>
      </p:sp>
      <p:sp>
        <p:nvSpPr>
          <p:cNvPr id="26" name="Text 24"/>
          <p:cNvSpPr/>
          <p:nvPr/>
        </p:nvSpPr>
        <p:spPr>
          <a:xfrm>
            <a:off x="8001000" y="4681728"/>
            <a:ext cx="3749040" cy="1115568"/>
          </a:xfrm>
          <a:prstGeom prst="rect">
            <a:avLst/>
          </a:prstGeom>
          <a:solidFill>
            <a:srgbClr val="EEF6FB"/>
          </a:solidFill>
          <a:ln w="12700">
            <a:solidFill>
              <a:srgbClr val="D7DEE5"/>
            </a:solidFill>
          </a:ln>
        </p:spPr>
        <p:txBody>
          <a:bodyPr wrap="square" lIns="1524" tIns="1524" rIns="1524" bIns="1524" rtlCol="0" anchor="t">
            <a:normAutofit/>
          </a:bodyPr>
          <a:lstStyle/>
          <a:p>
            <a:pPr marL="0" indent="0">
              <a:buNone/>
            </a:pPr>
            <a:r>
              <a:rPr lang="en-US" sz="1380" dirty="0">
                <a:solidFill>
                  <a:srgbClr val="23313F"/>
                </a:solidFill>
                <a:latin typeface="Aptos" pitchFamily="34" charset="0"/>
                <a:ea typeface="Aptos" pitchFamily="34" charset="-122"/>
                <a:cs typeface="Aptos" pitchFamily="34" charset="-120"/>
              </a:rPr>
              <a:t>Inspect views, ACLs, cache TTL, secondary transfer state, and pending restart flags before assuming record data is corrupt.</a:t>
            </a:r>
            <a:endParaRPr lang="en-US" sz="1380" dirty="0"/>
          </a:p>
        </p:txBody>
      </p:sp>
      <p:sp>
        <p:nvSpPr>
          <p:cNvPr id="27" name="Shape 25"/>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28" name="Text 26"/>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DNS troubleshooting</a:t>
            </a:r>
            <a:endParaRPr lang="en-US" sz="900" dirty="0"/>
          </a:p>
        </p:txBody>
      </p:sp>
      <p:sp>
        <p:nvSpPr>
          <p:cNvPr id="29" name="Text 27"/>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DNS CASE STUDY</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Composite DNS case: internal clients received the external answer because the view order was wrong</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This case is common in mature environments because the data is correct in both views; only the matching logic is wrong.</a:t>
            </a:r>
            <a:endParaRPr lang="en-US" sz="1050" dirty="0"/>
          </a:p>
        </p:txBody>
      </p:sp>
      <p:sp>
        <p:nvSpPr>
          <p:cNvPr id="7" name="Text 5"/>
          <p:cNvSpPr/>
          <p:nvPr/>
        </p:nvSpPr>
        <p:spPr>
          <a:xfrm>
            <a:off x="411480" y="1005840"/>
            <a:ext cx="6583680" cy="1298448"/>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Symptom
</a:t>
            </a:r>
            <a:r>
              <a:rPr lang="en-US" sz="1540" dirty="0">
                <a:solidFill>
                  <a:srgbClr val="23313F"/>
                </a:solidFill>
                <a:latin typeface="Aptos" pitchFamily="34" charset="0"/>
                <a:ea typeface="Aptos" pitchFamily="34" charset="-122"/>
                <a:cs typeface="Aptos" pitchFamily="34" charset="-120"/>
              </a:rPr>
              <a:t>Internal users begin resolving a partner or application name to the public address even though an internal view exists. A quick spot-check from an administrator machine may still work, which misleads the team into thinking the problem is caching or random recursion behavior.</a:t>
            </a:r>
            <a:endParaRPr lang="en-US" sz="1700" dirty="0"/>
          </a:p>
        </p:txBody>
      </p:sp>
      <p:sp>
        <p:nvSpPr>
          <p:cNvPr id="8" name="Text 6"/>
          <p:cNvSpPr/>
          <p:nvPr/>
        </p:nvSpPr>
        <p:spPr>
          <a:xfrm>
            <a:off x="411480" y="2468880"/>
            <a:ext cx="6583680" cy="1298448"/>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Finding
</a:t>
            </a:r>
            <a:r>
              <a:rPr lang="en-US" sz="1540" dirty="0">
                <a:solidFill>
                  <a:srgbClr val="23313F"/>
                </a:solidFill>
                <a:latin typeface="Aptos" pitchFamily="34" charset="0"/>
                <a:ea typeface="Aptos" pitchFamily="34" charset="-122"/>
                <a:cs typeface="Aptos" pitchFamily="34" charset="-120"/>
              </a:rPr>
              <a:t>The member participates in multiple DNS views. Manual ordering placed the default view ahead of the internal view, so affected clients matched the default view first. Because both views contained plausible data, the failure looked like a data error instead of a policy-selection error.</a:t>
            </a:r>
            <a:endParaRPr lang="en-US" sz="1700" dirty="0"/>
          </a:p>
        </p:txBody>
      </p:sp>
      <p:sp>
        <p:nvSpPr>
          <p:cNvPr id="9" name="Text 7"/>
          <p:cNvSpPr/>
          <p:nvPr/>
        </p:nvSpPr>
        <p:spPr>
          <a:xfrm>
            <a:off x="411480" y="3931920"/>
            <a:ext cx="6583680" cy="1298448"/>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Fix
</a:t>
            </a:r>
            <a:r>
              <a:rPr lang="en-US" sz="1540" dirty="0">
                <a:solidFill>
                  <a:srgbClr val="23313F"/>
                </a:solidFill>
                <a:latin typeface="Aptos" pitchFamily="34" charset="0"/>
                <a:ea typeface="Aptos" pitchFamily="34" charset="-122"/>
                <a:cs typeface="Aptos" pitchFamily="34" charset="-120"/>
              </a:rPr>
              <a:t>Correct the view order or client-match logic, then retest from representative clients. Validate both forward and reverse behavior where relevant, and keep TTL/negative-cache expectations in mind so the team does not mistake propagation delay for a failed fix.</a:t>
            </a:r>
            <a:endParaRPr lang="en-US" sz="1700" dirty="0"/>
          </a:p>
        </p:txBody>
      </p:sp>
      <p:pic>
        <p:nvPicPr>
          <p:cNvPr id="10" name="Image 0" descr="/mnt/data/infoblox_deck/assets/dns_views_wrong_order.png"/>
          <p:cNvPicPr>
            <a:picLocks noChangeAspect="1"/>
          </p:cNvPicPr>
          <p:nvPr/>
        </p:nvPicPr>
        <p:blipFill>
          <a:blip r:embed="rId3"/>
          <a:stretch>
            <a:fillRect/>
          </a:stretch>
        </p:blipFill>
        <p:spPr>
          <a:xfrm>
            <a:off x="7980180" y="1005840"/>
            <a:ext cx="3086592" cy="2651760"/>
          </a:xfrm>
          <a:prstGeom prst="rect">
            <a:avLst/>
          </a:prstGeom>
        </p:spPr>
      </p:pic>
      <p:sp>
        <p:nvSpPr>
          <p:cNvPr id="11" name="Text 8"/>
          <p:cNvSpPr/>
          <p:nvPr/>
        </p:nvSpPr>
        <p:spPr>
          <a:xfrm>
            <a:off x="7269480" y="3840480"/>
            <a:ext cx="4507992" cy="1554480"/>
          </a:xfrm>
          <a:prstGeom prst="rect">
            <a:avLst/>
          </a:prstGeom>
          <a:solidFill>
            <a:srgbClr val="EEF6FB"/>
          </a:solidFill>
          <a:ln w="12700">
            <a:solidFill>
              <a:srgbClr val="0E79C1"/>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Why this case matters
</a:t>
            </a:r>
            <a:r>
              <a:rPr lang="en-US" sz="1540" dirty="0">
                <a:solidFill>
                  <a:srgbClr val="23313F"/>
                </a:solidFill>
                <a:latin typeface="Aptos" pitchFamily="34" charset="0"/>
                <a:ea typeface="Aptos" pitchFamily="34" charset="-122"/>
                <a:cs typeface="Aptos" pitchFamily="34" charset="-120"/>
              </a:rPr>
              <a:t>Advanced environments often have both internal and default views for legitimate reasons. That means engineers must prove which view answered, not simply whether the record exists somewhere in the Grid.</a:t>
            </a:r>
            <a:endParaRPr lang="en-US" sz="1700" dirty="0"/>
          </a:p>
        </p:txBody>
      </p:sp>
      <p:sp>
        <p:nvSpPr>
          <p:cNvPr id="12" name="Text 9"/>
          <p:cNvSpPr/>
          <p:nvPr/>
        </p:nvSpPr>
        <p:spPr>
          <a:xfrm>
            <a:off x="411480" y="5504688"/>
            <a:ext cx="11368735" cy="640080"/>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Lesson
</a:t>
            </a:r>
            <a:r>
              <a:rPr lang="en-US" sz="1440" dirty="0">
                <a:solidFill>
                  <a:srgbClr val="23313F"/>
                </a:solidFill>
                <a:latin typeface="Aptos" pitchFamily="34" charset="0"/>
                <a:ea typeface="Aptos" pitchFamily="34" charset="-122"/>
                <a:cs typeface="Aptos" pitchFamily="34" charset="-120"/>
              </a:rPr>
              <a:t>When a record looks correct but clients still receive the wrong answer, suspect the selection logic before you assume the data is wrong. View order and client matching are policy bugs that often masquerade as data bugs.</a:t>
            </a:r>
            <a:endParaRPr lang="en-US" sz="1700" dirty="0"/>
          </a:p>
        </p:txBody>
      </p:sp>
      <p:sp>
        <p:nvSpPr>
          <p:cNvPr id="13" name="Shape 10"/>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4" name="Text 11"/>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DNS case study</a:t>
            </a:r>
            <a:endParaRPr lang="en-US" sz="900" dirty="0"/>
          </a:p>
        </p:txBody>
      </p:sp>
      <p:sp>
        <p:nvSpPr>
          <p:cNvPr id="15" name="Text 12"/>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DHCP</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DHCP workflow deep dive: more than the DORA acronym</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Advanced operators need to know what changes between initial acquisition, renew, rebind, relay-based delivery, and DDNS update behavior.</a:t>
            </a:r>
            <a:endParaRPr lang="en-US" sz="1050" dirty="0"/>
          </a:p>
        </p:txBody>
      </p:sp>
      <p:sp>
        <p:nvSpPr>
          <p:cNvPr id="7" name="Text 5"/>
          <p:cNvSpPr/>
          <p:nvPr/>
        </p:nvSpPr>
        <p:spPr>
          <a:xfrm>
            <a:off x="411480" y="1234440"/>
            <a:ext cx="2739314" cy="960120"/>
          </a:xfrm>
          <a:prstGeom prst="rect">
            <a:avLst/>
          </a:prstGeom>
          <a:solidFill>
            <a:srgbClr val="F5F7F9"/>
          </a:solidFill>
          <a:ln w="12700">
            <a:solidFill>
              <a:srgbClr val="D7DEE5"/>
            </a:solidFill>
          </a:ln>
          <a:effectLst>
            <a:outerShdw blurRad="12700" dist="12700" dir="2700000" algn="bl" rotWithShape="0">
              <a:srgbClr val="000000">
                <a:alpha val="14000"/>
              </a:srgbClr>
            </a:outerShdw>
          </a:effectLst>
        </p:spPr>
        <p:txBody>
          <a:bodyPr wrap="square" lIns="1778" tIns="1778" rIns="1778" bIns="1778" rtlCol="0" anchor="ctr">
            <a:normAutofit/>
          </a:bodyPr>
          <a:lstStyle/>
          <a:p>
            <a:pPr marL="0" indent="0">
              <a:buNone/>
            </a:pPr>
            <a:r>
              <a:rPr lang="en-US" sz="1700" b="1" dirty="0">
                <a:solidFill>
                  <a:srgbClr val="16324F"/>
                </a:solidFill>
              </a:rPr>
              <a:t>1. Discover
</a:t>
            </a:r>
            <a:r>
              <a:rPr lang="en-US" sz="1470" dirty="0">
                <a:solidFill>
                  <a:srgbClr val="23313F"/>
                </a:solidFill>
              </a:rPr>
              <a:t>Client broadcasts because it does not yet know the server. Relay devices may insert GIADDR or Option 82 to anchor the request to the correct network context.</a:t>
            </a:r>
            <a:endParaRPr lang="en-US" sz="1700" dirty="0"/>
          </a:p>
        </p:txBody>
      </p:sp>
      <p:sp>
        <p:nvSpPr>
          <p:cNvPr id="8" name="Text 6"/>
          <p:cNvSpPr/>
          <p:nvPr/>
        </p:nvSpPr>
        <p:spPr>
          <a:xfrm>
            <a:off x="3287954" y="1234440"/>
            <a:ext cx="2739314" cy="960120"/>
          </a:xfrm>
          <a:prstGeom prst="rect">
            <a:avLst/>
          </a:prstGeom>
          <a:solidFill>
            <a:srgbClr val="EEF6FB"/>
          </a:solidFill>
          <a:ln w="12700">
            <a:solidFill>
              <a:srgbClr val="0E79C1"/>
            </a:solidFill>
          </a:ln>
          <a:effectLst>
            <a:outerShdw blurRad="12700" dist="12700" dir="2700000" algn="bl" rotWithShape="0">
              <a:srgbClr val="000000">
                <a:alpha val="14000"/>
              </a:srgbClr>
            </a:outerShdw>
          </a:effectLst>
        </p:spPr>
        <p:txBody>
          <a:bodyPr wrap="square" lIns="1778" tIns="1778" rIns="1778" bIns="1778" rtlCol="0" anchor="ctr">
            <a:normAutofit/>
          </a:bodyPr>
          <a:lstStyle/>
          <a:p>
            <a:pPr marL="0" indent="0">
              <a:buNone/>
            </a:pPr>
            <a:r>
              <a:rPr lang="en-US" sz="1700" b="1" dirty="0">
                <a:solidFill>
                  <a:srgbClr val="16324F"/>
                </a:solidFill>
              </a:rPr>
              <a:t>2. Offer
</a:t>
            </a:r>
            <a:r>
              <a:rPr lang="en-US" sz="1470" dirty="0">
                <a:solidFill>
                  <a:srgbClr val="23313F"/>
                </a:solidFill>
              </a:rPr>
              <a:t>The server offers an address and options based on network match, reservation logic, policy, and available lease state.</a:t>
            </a:r>
            <a:endParaRPr lang="en-US" sz="1700" dirty="0"/>
          </a:p>
        </p:txBody>
      </p:sp>
      <p:sp>
        <p:nvSpPr>
          <p:cNvPr id="9" name="Text 7"/>
          <p:cNvSpPr/>
          <p:nvPr/>
        </p:nvSpPr>
        <p:spPr>
          <a:xfrm>
            <a:off x="6164428" y="1234440"/>
            <a:ext cx="2739314" cy="960120"/>
          </a:xfrm>
          <a:prstGeom prst="rect">
            <a:avLst/>
          </a:prstGeom>
          <a:solidFill>
            <a:srgbClr val="F5F7F9"/>
          </a:solidFill>
          <a:ln w="12700">
            <a:solidFill>
              <a:srgbClr val="D7DEE5"/>
            </a:solidFill>
          </a:ln>
          <a:effectLst>
            <a:outerShdw blurRad="12700" dist="12700" dir="2700000" algn="bl" rotWithShape="0">
              <a:srgbClr val="000000">
                <a:alpha val="14000"/>
              </a:srgbClr>
            </a:outerShdw>
          </a:effectLst>
        </p:spPr>
        <p:txBody>
          <a:bodyPr wrap="square" lIns="1778" tIns="1778" rIns="1778" bIns="1778" rtlCol="0" anchor="ctr">
            <a:normAutofit/>
          </a:bodyPr>
          <a:lstStyle/>
          <a:p>
            <a:pPr marL="0" indent="0">
              <a:buNone/>
            </a:pPr>
            <a:r>
              <a:rPr lang="en-US" sz="1700" b="1" dirty="0">
                <a:solidFill>
                  <a:srgbClr val="16324F"/>
                </a:solidFill>
              </a:rPr>
              <a:t>3. Request
</a:t>
            </a:r>
            <a:r>
              <a:rPr lang="en-US" sz="1470" dirty="0">
                <a:solidFill>
                  <a:srgbClr val="23313F"/>
                </a:solidFill>
              </a:rPr>
              <a:t>The client explicitly requests the offered lease. During renewals, the request may be unicast to the original server instead of broadcast.</a:t>
            </a:r>
            <a:endParaRPr lang="en-US" sz="1700" dirty="0"/>
          </a:p>
        </p:txBody>
      </p:sp>
      <p:sp>
        <p:nvSpPr>
          <p:cNvPr id="10" name="Text 8"/>
          <p:cNvSpPr/>
          <p:nvPr/>
        </p:nvSpPr>
        <p:spPr>
          <a:xfrm>
            <a:off x="9040901" y="1234440"/>
            <a:ext cx="2739314" cy="960120"/>
          </a:xfrm>
          <a:prstGeom prst="rect">
            <a:avLst/>
          </a:prstGeom>
          <a:solidFill>
            <a:srgbClr val="F1F9E8"/>
          </a:solidFill>
          <a:ln w="12700">
            <a:solidFill>
              <a:srgbClr val="8BC53F"/>
            </a:solidFill>
          </a:ln>
          <a:effectLst>
            <a:outerShdw blurRad="12700" dist="12700" dir="2700000" algn="bl" rotWithShape="0">
              <a:srgbClr val="000000">
                <a:alpha val="14000"/>
              </a:srgbClr>
            </a:outerShdw>
          </a:effectLst>
        </p:spPr>
        <p:txBody>
          <a:bodyPr wrap="square" lIns="1778" tIns="1778" rIns="1778" bIns="1778" rtlCol="0" anchor="ctr">
            <a:normAutofit/>
          </a:bodyPr>
          <a:lstStyle/>
          <a:p>
            <a:pPr marL="0" indent="0">
              <a:buNone/>
            </a:pPr>
            <a:r>
              <a:rPr lang="en-US" sz="1700" b="1" dirty="0">
                <a:solidFill>
                  <a:srgbClr val="16324F"/>
                </a:solidFill>
              </a:rPr>
              <a:t>4. Acknowledge
</a:t>
            </a:r>
            <a:r>
              <a:rPr lang="en-US" sz="1470" dirty="0">
                <a:solidFill>
                  <a:srgbClr val="23313F"/>
                </a:solidFill>
              </a:rPr>
              <a:t>The server commits the lease and may trigger DDNS updates depending on your update policy and naming workflow.</a:t>
            </a:r>
            <a:endParaRPr lang="en-US" sz="1700" dirty="0"/>
          </a:p>
        </p:txBody>
      </p:sp>
      <p:sp>
        <p:nvSpPr>
          <p:cNvPr id="11" name="Text 9"/>
          <p:cNvSpPr/>
          <p:nvPr/>
        </p:nvSpPr>
        <p:spPr>
          <a:xfrm>
            <a:off x="411480" y="2395728"/>
            <a:ext cx="3679850" cy="3493008"/>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Relay and network identity matter more than most teams realize
</a:t>
            </a:r>
            <a:r>
              <a:rPr lang="en-US" sz="1540" dirty="0">
                <a:solidFill>
                  <a:srgbClr val="23313F"/>
                </a:solidFill>
                <a:latin typeface="Aptos" pitchFamily="34" charset="0"/>
                <a:ea typeface="Aptos" pitchFamily="34" charset="-122"/>
                <a:cs typeface="Aptos" pitchFamily="34" charset="-120"/>
              </a:rPr>
              <a:t>Infoblox decides which network object should serve the request using GIADDR, interface context, and policy. If the relay target or subnet identity is wrong, the scope can look healthy in the UI while the client receives nothing because the request no longer maps to any valid network.</a:t>
            </a:r>
            <a:endParaRPr lang="en-US" sz="1700" dirty="0"/>
          </a:p>
        </p:txBody>
      </p:sp>
      <p:sp>
        <p:nvSpPr>
          <p:cNvPr id="12" name="Text 10"/>
          <p:cNvSpPr/>
          <p:nvPr/>
        </p:nvSpPr>
        <p:spPr>
          <a:xfrm>
            <a:off x="4255922" y="2395728"/>
            <a:ext cx="3679850" cy="3493008"/>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Renew and rebind behavior explains many “intermittent” issues
</a:t>
            </a:r>
            <a:r>
              <a:rPr lang="en-US" sz="1540" dirty="0">
                <a:solidFill>
                  <a:srgbClr val="23313F"/>
                </a:solidFill>
                <a:latin typeface="Aptos" pitchFamily="34" charset="0"/>
                <a:ea typeface="Aptos" pitchFamily="34" charset="-122"/>
                <a:cs typeface="Aptos" pitchFamily="34" charset="-120"/>
              </a:rPr>
              <a:t>A client with an old lease may keep renewing successfully even while new clients fail. That creates the illusion that DHCP is partially healthy when only the renewal path is healthy. Always separate initial acquisition failures from renew or rebind failures in your troubleshooting notes.</a:t>
            </a:r>
            <a:endParaRPr lang="en-US" sz="1700" dirty="0"/>
          </a:p>
        </p:txBody>
      </p:sp>
      <p:sp>
        <p:nvSpPr>
          <p:cNvPr id="13" name="Text 11"/>
          <p:cNvSpPr/>
          <p:nvPr/>
        </p:nvSpPr>
        <p:spPr>
          <a:xfrm>
            <a:off x="8100365" y="2395728"/>
            <a:ext cx="3679850" cy="3493008"/>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DDNS is part of the operational workflow, not an afterthought
</a:t>
            </a:r>
            <a:r>
              <a:rPr lang="en-US" sz="1540" dirty="0">
                <a:solidFill>
                  <a:srgbClr val="23313F"/>
                </a:solidFill>
                <a:latin typeface="Aptos" pitchFamily="34" charset="0"/>
                <a:ea typeface="Aptos" pitchFamily="34" charset="-122"/>
                <a:cs typeface="Aptos" pitchFamily="34" charset="-120"/>
              </a:rPr>
              <a:t>If host naming, reverse records, or lease ownership rules are wrong, the address assignment may succeed while application resolution still fails. That is why DHCP and DNS troubleshooting frequently need to be performed together, especially during migration and carveout events.</a:t>
            </a:r>
            <a:endParaRPr lang="en-US" sz="1700" dirty="0"/>
          </a:p>
        </p:txBody>
      </p:sp>
      <p:sp>
        <p:nvSpPr>
          <p:cNvPr id="14" name="Shape 12"/>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5" name="Text 13"/>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DHCP</a:t>
            </a:r>
            <a:endParaRPr lang="en-US" sz="900" dirty="0"/>
          </a:p>
        </p:txBody>
      </p:sp>
      <p:sp>
        <p:nvSpPr>
          <p:cNvPr id="16" name="Text 14"/>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DHCP LOGS</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DHCP lease logs and lease history: what they tell you and what they do not</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Lease history is one of the most valuable troubleshooting and forensic tools in NIOS, but only if you enabled the right logging before the incident.</a:t>
            </a:r>
            <a:endParaRPr lang="en-US" sz="1050" dirty="0"/>
          </a:p>
        </p:txBody>
      </p:sp>
      <p:sp>
        <p:nvSpPr>
          <p:cNvPr id="7" name="Text 5"/>
          <p:cNvSpPr/>
          <p:nvPr/>
        </p:nvSpPr>
        <p:spPr>
          <a:xfrm>
            <a:off x="411480" y="1005840"/>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Lease history is not magic; it depends on logging strategy
</a:t>
            </a:r>
            <a:r>
              <a:rPr lang="en-US" sz="1540" dirty="0">
                <a:solidFill>
                  <a:srgbClr val="23313F"/>
                </a:solidFill>
                <a:latin typeface="Aptos" pitchFamily="34" charset="0"/>
                <a:ea typeface="Aptos" pitchFamily="34" charset="-122"/>
                <a:cs typeface="Aptos" pitchFamily="34" charset="-120"/>
              </a:rPr>
              <a:t>Infoblox can track lease history, including lease issue, release, renewal, and related attributes such as MAC or DUID, hostname, member, and timestamps. But you only get that history if logging has been enabled at the appropriate scope before the event you are investigating.</a:t>
            </a:r>
            <a:endParaRPr lang="en-US" sz="1700" dirty="0"/>
          </a:p>
        </p:txBody>
      </p:sp>
      <p:sp>
        <p:nvSpPr>
          <p:cNvPr id="8" name="Text 6"/>
          <p:cNvSpPr/>
          <p:nvPr/>
        </p:nvSpPr>
        <p:spPr>
          <a:xfrm>
            <a:off x="411480" y="2761488"/>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What the history is best at proving
</a:t>
            </a:r>
            <a:r>
              <a:rPr lang="en-US" sz="1540" dirty="0">
                <a:solidFill>
                  <a:srgbClr val="23313F"/>
                </a:solidFill>
                <a:latin typeface="Aptos" pitchFamily="34" charset="0"/>
                <a:ea typeface="Aptos" pitchFamily="34" charset="-122"/>
                <a:cs typeface="Aptos" pitchFamily="34" charset="-120"/>
              </a:rPr>
              <a:t>Lease history is excellent for answering “who had this address,” “which member assigned it,” “when did the client move,” and “was the lease dynamic or fixed.” It is much less useful if the real issue is that the request never matched a network in the first place, because in that case no lease was ever created.</a:t>
            </a:r>
            <a:endParaRPr lang="en-US" sz="1700" dirty="0"/>
          </a:p>
        </p:txBody>
      </p:sp>
      <p:sp>
        <p:nvSpPr>
          <p:cNvPr id="9" name="Text 7"/>
          <p:cNvSpPr/>
          <p:nvPr/>
        </p:nvSpPr>
        <p:spPr>
          <a:xfrm>
            <a:off x="411480" y="4517136"/>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Settings that improve the audit trail
</a:t>
            </a:r>
            <a:r>
              <a:rPr lang="en-US" sz="1540" dirty="0">
                <a:solidFill>
                  <a:srgbClr val="23313F"/>
                </a:solidFill>
                <a:latin typeface="Aptos" pitchFamily="34" charset="0"/>
                <a:ea typeface="Aptos" pitchFamily="34" charset="-122"/>
                <a:cs typeface="Aptos" pitchFamily="34" charset="-120"/>
              </a:rPr>
              <a:t>Options such as capturing hostname and lease time for fixed addresses improve the usefulness of logs for reserved devices that otherwise look static and uninteresting. In advanced environments, those devices are often the most operationally critical.</a:t>
            </a:r>
            <a:endParaRPr lang="en-US" sz="1700" dirty="0"/>
          </a:p>
        </p:txBody>
      </p:sp>
      <p:pic>
        <p:nvPicPr>
          <p:cNvPr id="10" name="Image 0" descr="/mnt/data/infoblox_deck/assets/dhcp_lease_history_report.jpg"/>
          <p:cNvPicPr>
            <a:picLocks noChangeAspect="1"/>
          </p:cNvPicPr>
          <p:nvPr/>
        </p:nvPicPr>
        <p:blipFill>
          <a:blip r:embed="rId3"/>
          <a:stretch>
            <a:fillRect/>
          </a:stretch>
        </p:blipFill>
        <p:spPr>
          <a:xfrm>
            <a:off x="7995645" y="1005840"/>
            <a:ext cx="3055663" cy="1691640"/>
          </a:xfrm>
          <a:prstGeom prst="rect">
            <a:avLst/>
          </a:prstGeom>
        </p:spPr>
      </p:pic>
      <p:pic>
        <p:nvPicPr>
          <p:cNvPr id="11" name="Image 1" descr="/mnt/data/infoblox_deck/assets/dhcp_properties_advanced.jpg"/>
          <p:cNvPicPr>
            <a:picLocks noChangeAspect="1"/>
          </p:cNvPicPr>
          <p:nvPr/>
        </p:nvPicPr>
        <p:blipFill>
          <a:blip r:embed="rId4"/>
          <a:stretch>
            <a:fillRect/>
          </a:stretch>
        </p:blipFill>
        <p:spPr>
          <a:xfrm>
            <a:off x="8144456" y="2907792"/>
            <a:ext cx="2758040" cy="1691640"/>
          </a:xfrm>
          <a:prstGeom prst="rect">
            <a:avLst/>
          </a:prstGeom>
        </p:spPr>
      </p:pic>
      <p:sp>
        <p:nvSpPr>
          <p:cNvPr id="12" name="Text 8"/>
          <p:cNvSpPr/>
          <p:nvPr/>
        </p:nvSpPr>
        <p:spPr>
          <a:xfrm>
            <a:off x="7269480" y="4919472"/>
            <a:ext cx="4507992" cy="1133856"/>
          </a:xfrm>
          <a:prstGeom prst="rect">
            <a:avLst/>
          </a:prstGeom>
          <a:solidFill>
            <a:srgbClr val="FFF5E9"/>
          </a:solidFill>
          <a:ln w="12700">
            <a:solidFill>
              <a:srgbClr val="E6812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Operational caution
</a:t>
            </a:r>
            <a:r>
              <a:rPr lang="en-US" sz="1540" dirty="0">
                <a:solidFill>
                  <a:srgbClr val="23313F"/>
                </a:solidFill>
                <a:latin typeface="Aptos" pitchFamily="34" charset="0"/>
                <a:ea typeface="Aptos" pitchFamily="34" charset="-122"/>
                <a:cs typeface="Aptos" pitchFamily="34" charset="-120"/>
              </a:rPr>
              <a:t>Lease-history style reporting can be more expensive than many teams expect. Enable it intentionally, keep it sized for real troubleshooting value, and export the data you truly need to long-term analytics.</a:t>
            </a:r>
            <a:endParaRPr lang="en-US" sz="1700" dirty="0"/>
          </a:p>
        </p:txBody>
      </p:sp>
      <p:sp>
        <p:nvSpPr>
          <p:cNvPr id="13" name="Shape 9"/>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4" name="Text 10"/>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DHCP logs</a:t>
            </a:r>
            <a:endParaRPr lang="en-US" sz="900" dirty="0"/>
          </a:p>
        </p:txBody>
      </p:sp>
      <p:sp>
        <p:nvSpPr>
          <p:cNvPr id="15" name="Text 11"/>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DHCP TROUBLESHOOTING</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A disciplined DHCP troubleshooting workflow</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Classify the failure before you touch a scope: no address, wrong address or options, or conflict/churn. Each path has different proof points.</a:t>
            </a:r>
            <a:endParaRPr lang="en-US" sz="1050" dirty="0"/>
          </a:p>
        </p:txBody>
      </p:sp>
      <p:sp>
        <p:nvSpPr>
          <p:cNvPr id="7" name="Text 5"/>
          <p:cNvSpPr/>
          <p:nvPr/>
        </p:nvSpPr>
        <p:spPr>
          <a:xfrm>
            <a:off x="411480" y="1005840"/>
            <a:ext cx="3679850" cy="384048"/>
          </a:xfrm>
          <a:prstGeom prst="rect">
            <a:avLst/>
          </a:prstGeom>
          <a:solidFill>
            <a:srgbClr val="16324F"/>
          </a:solidFill>
          <a:ln w="12700">
            <a:solidFill>
              <a:srgbClr val="16324F"/>
            </a:solidFill>
          </a:ln>
        </p:spPr>
        <p:txBody>
          <a:bodyPr wrap="square" lIns="1524" tIns="1524" rIns="1524" bIns="1524" rtlCol="0" anchor="ctr"/>
          <a:lstStyle/>
          <a:p>
            <a:pPr marL="0" indent="0" algn="ctr">
              <a:buNone/>
            </a:pPr>
            <a:r>
              <a:rPr lang="en-US" sz="1650" b="1" dirty="0">
                <a:solidFill>
                  <a:srgbClr val="FFFFFF"/>
                </a:solidFill>
                <a:latin typeface="Aptos" pitchFamily="34" charset="0"/>
                <a:ea typeface="Aptos" pitchFamily="34" charset="-122"/>
                <a:cs typeface="Aptos" pitchFamily="34" charset="-120"/>
              </a:rPr>
              <a:t>No address assigned</a:t>
            </a:r>
            <a:endParaRPr lang="en-US" sz="1650" dirty="0"/>
          </a:p>
        </p:txBody>
      </p:sp>
      <p:sp>
        <p:nvSpPr>
          <p:cNvPr id="8" name="Text 6"/>
          <p:cNvSpPr/>
          <p:nvPr/>
        </p:nvSpPr>
        <p:spPr>
          <a:xfrm>
            <a:off x="411480" y="1444752"/>
            <a:ext cx="3679850" cy="4096512"/>
          </a:xfrm>
          <a:prstGeom prst="rect">
            <a:avLst/>
          </a:prstGeom>
          <a:solidFill>
            <a:srgbClr val="F5F7F9"/>
          </a:solidFill>
          <a:ln w="12700">
            <a:solidFill>
              <a:srgbClr val="D7DEE5"/>
            </a:solidFill>
          </a:ln>
          <a:effectLst>
            <a:outerShdw blurRad="13970" dist="12700" dir="2700000" algn="bl" rotWithShape="0">
              <a:srgbClr val="000000">
                <a:alpha val="14000"/>
              </a:srgbClr>
            </a:outerShdw>
          </a:effectLst>
        </p:spPr>
        <p:txBody>
          <a:bodyPr wrap="square" lIns="2032" tIns="2032" rIns="2032" bIns="2032" rtlCol="0" anchor="t">
            <a:normAutofit/>
          </a:bodyPr>
          <a:lstStyle/>
          <a:p>
            <a:pPr marL="0" indent="0">
              <a:buNone/>
            </a:pPr>
            <a:r>
              <a:rPr lang="en-US" sz="1510" dirty="0">
                <a:solidFill>
                  <a:srgbClr val="23313F"/>
                </a:solidFill>
                <a:latin typeface="Aptos" pitchFamily="34" charset="0"/>
                <a:ea typeface="Aptos" pitchFamily="34" charset="-122"/>
                <a:cs typeface="Aptos" pitchFamily="34" charset="-120"/>
              </a:rPr>
              <a:t>Symptoms: APIPA or no lease at all.</a:t>
            </a:r>
            <a:endParaRPr lang="en-US" sz="1510" dirty="0"/>
          </a:p>
          <a:p>
            <a:pPr marL="0" indent="0">
              <a:buNone/>
            </a:pPr>
            <a:endParaRPr lang="en-US" sz="1510" dirty="0"/>
          </a:p>
          <a:p>
            <a:pPr marL="0" indent="0">
              <a:buNone/>
            </a:pPr>
            <a:r>
              <a:rPr lang="en-US" sz="1510" dirty="0">
                <a:solidFill>
                  <a:srgbClr val="23313F"/>
                </a:solidFill>
                <a:latin typeface="Aptos" pitchFamily="34" charset="0"/>
                <a:ea typeface="Aptos" pitchFamily="34" charset="-122"/>
                <a:cs typeface="Aptos" pitchFamily="34" charset="-120"/>
              </a:rPr>
              <a:t>Start with relay or subnet identity: did the request reach Infoblox, and did it map to a valid network on the correct member or failover pair?</a:t>
            </a:r>
            <a:endParaRPr lang="en-US" sz="1510" dirty="0"/>
          </a:p>
          <a:p>
            <a:pPr marL="0" indent="0">
              <a:buNone/>
            </a:pPr>
            <a:endParaRPr lang="en-US" sz="1510" dirty="0"/>
          </a:p>
          <a:p>
            <a:pPr marL="0" indent="0">
              <a:buNone/>
            </a:pPr>
            <a:r>
              <a:rPr lang="en-US" sz="1510" dirty="0">
                <a:solidFill>
                  <a:srgbClr val="23313F"/>
                </a:solidFill>
                <a:latin typeface="Aptos" pitchFamily="34" charset="0"/>
                <a:ea typeface="Aptos" pitchFamily="34" charset="-122"/>
                <a:cs typeface="Aptos" pitchFamily="34" charset="-120"/>
              </a:rPr>
              <a:t>Then check utilization, disabled scope state, access controls, and whether the request is being dropped as an unknown network segment or policy mismatch.</a:t>
            </a:r>
            <a:endParaRPr lang="en-US" sz="1510" dirty="0"/>
          </a:p>
        </p:txBody>
      </p:sp>
      <p:sp>
        <p:nvSpPr>
          <p:cNvPr id="9" name="Text 7"/>
          <p:cNvSpPr/>
          <p:nvPr/>
        </p:nvSpPr>
        <p:spPr>
          <a:xfrm>
            <a:off x="4255922" y="1005840"/>
            <a:ext cx="3679850" cy="384048"/>
          </a:xfrm>
          <a:prstGeom prst="rect">
            <a:avLst/>
          </a:prstGeom>
          <a:solidFill>
            <a:srgbClr val="0E79C1"/>
          </a:solidFill>
          <a:ln w="12700">
            <a:solidFill>
              <a:srgbClr val="0E79C1"/>
            </a:solidFill>
          </a:ln>
        </p:spPr>
        <p:txBody>
          <a:bodyPr wrap="square" lIns="1524" tIns="1524" rIns="1524" bIns="1524" rtlCol="0" anchor="ctr"/>
          <a:lstStyle/>
          <a:p>
            <a:pPr marL="0" indent="0" algn="ctr">
              <a:buNone/>
            </a:pPr>
            <a:r>
              <a:rPr lang="en-US" sz="1650" b="1" dirty="0">
                <a:solidFill>
                  <a:srgbClr val="FFFFFF"/>
                </a:solidFill>
                <a:latin typeface="Aptos" pitchFamily="34" charset="0"/>
                <a:ea typeface="Aptos" pitchFamily="34" charset="-122"/>
                <a:cs typeface="Aptos" pitchFamily="34" charset="-120"/>
              </a:rPr>
              <a:t>Wrong address or wrong options</a:t>
            </a:r>
            <a:endParaRPr lang="en-US" sz="1650" dirty="0"/>
          </a:p>
        </p:txBody>
      </p:sp>
      <p:sp>
        <p:nvSpPr>
          <p:cNvPr id="10" name="Text 8"/>
          <p:cNvSpPr/>
          <p:nvPr/>
        </p:nvSpPr>
        <p:spPr>
          <a:xfrm>
            <a:off x="4255922" y="1444752"/>
            <a:ext cx="3679850" cy="4096512"/>
          </a:xfrm>
          <a:prstGeom prst="rect">
            <a:avLst/>
          </a:prstGeom>
          <a:solidFill>
            <a:srgbClr val="EEF6FB"/>
          </a:solidFill>
          <a:ln w="12700">
            <a:solidFill>
              <a:srgbClr val="D7DEE5"/>
            </a:solidFill>
          </a:ln>
          <a:effectLst>
            <a:outerShdw blurRad="13970" dist="12700" dir="2700000" algn="bl" rotWithShape="0">
              <a:srgbClr val="000000">
                <a:alpha val="14000"/>
              </a:srgbClr>
            </a:outerShdw>
          </a:effectLst>
        </p:spPr>
        <p:txBody>
          <a:bodyPr wrap="square" lIns="2032" tIns="2032" rIns="2032" bIns="2032" rtlCol="0" anchor="t">
            <a:normAutofit/>
          </a:bodyPr>
          <a:lstStyle/>
          <a:p>
            <a:pPr marL="0" indent="0">
              <a:buNone/>
            </a:pPr>
            <a:r>
              <a:rPr lang="en-US" sz="1510" dirty="0">
                <a:solidFill>
                  <a:srgbClr val="23313F"/>
                </a:solidFill>
                <a:latin typeface="Aptos" pitchFamily="34" charset="0"/>
                <a:ea typeface="Aptos" pitchFamily="34" charset="-122"/>
                <a:cs typeface="Aptos" pitchFamily="34" charset="-120"/>
              </a:rPr>
              <a:t>Symptoms: client gets an address, but from the wrong scope or with the wrong gateway, DNS, or boot options.</a:t>
            </a:r>
            <a:endParaRPr lang="en-US" sz="1510" dirty="0"/>
          </a:p>
          <a:p>
            <a:pPr marL="0" indent="0">
              <a:buNone/>
            </a:pPr>
            <a:endParaRPr lang="en-US" sz="1510" dirty="0"/>
          </a:p>
          <a:p>
            <a:pPr marL="0" indent="0">
              <a:buNone/>
            </a:pPr>
            <a:r>
              <a:rPr lang="en-US" sz="1510" dirty="0">
                <a:solidFill>
                  <a:srgbClr val="23313F"/>
                </a:solidFill>
                <a:latin typeface="Aptos" pitchFamily="34" charset="0"/>
                <a:ea typeface="Aptos" pitchFamily="34" charset="-122"/>
                <a:cs typeface="Aptos" pitchFamily="34" charset="-120"/>
              </a:rPr>
              <a:t>Check network match, reservations, option inheritance, failover peer ownership, and whether a fixed address or host object overrides the inherited values the engineer expected to be active.</a:t>
            </a:r>
            <a:endParaRPr lang="en-US" sz="1510" dirty="0"/>
          </a:p>
        </p:txBody>
      </p:sp>
      <p:sp>
        <p:nvSpPr>
          <p:cNvPr id="11" name="Text 9"/>
          <p:cNvSpPr/>
          <p:nvPr/>
        </p:nvSpPr>
        <p:spPr>
          <a:xfrm>
            <a:off x="8100365" y="1005840"/>
            <a:ext cx="3679850" cy="384048"/>
          </a:xfrm>
          <a:prstGeom prst="rect">
            <a:avLst/>
          </a:prstGeom>
          <a:solidFill>
            <a:srgbClr val="E6812F"/>
          </a:solidFill>
          <a:ln w="12700">
            <a:solidFill>
              <a:srgbClr val="E6812F"/>
            </a:solidFill>
          </a:ln>
        </p:spPr>
        <p:txBody>
          <a:bodyPr wrap="square" lIns="1524" tIns="1524" rIns="1524" bIns="1524" rtlCol="0" anchor="ctr"/>
          <a:lstStyle/>
          <a:p>
            <a:pPr marL="0" indent="0" algn="ctr">
              <a:buNone/>
            </a:pPr>
            <a:r>
              <a:rPr lang="en-US" sz="1650" b="1" dirty="0">
                <a:solidFill>
                  <a:srgbClr val="FFFFFF"/>
                </a:solidFill>
                <a:latin typeface="Aptos" pitchFamily="34" charset="0"/>
                <a:ea typeface="Aptos" pitchFamily="34" charset="-122"/>
                <a:cs typeface="Aptos" pitchFamily="34" charset="-120"/>
              </a:rPr>
              <a:t>Address conflict or excessive churn</a:t>
            </a:r>
            <a:endParaRPr lang="en-US" sz="1650" dirty="0"/>
          </a:p>
        </p:txBody>
      </p:sp>
      <p:sp>
        <p:nvSpPr>
          <p:cNvPr id="12" name="Text 10"/>
          <p:cNvSpPr/>
          <p:nvPr/>
        </p:nvSpPr>
        <p:spPr>
          <a:xfrm>
            <a:off x="8100365" y="1444752"/>
            <a:ext cx="3679850" cy="4096512"/>
          </a:xfrm>
          <a:prstGeom prst="rect">
            <a:avLst/>
          </a:prstGeom>
          <a:solidFill>
            <a:srgbClr val="FFF5E9"/>
          </a:solidFill>
          <a:ln w="12700">
            <a:solidFill>
              <a:srgbClr val="D7DEE5"/>
            </a:solidFill>
          </a:ln>
          <a:effectLst>
            <a:outerShdw blurRad="13970" dist="12700" dir="2700000" algn="bl" rotWithShape="0">
              <a:srgbClr val="000000">
                <a:alpha val="14000"/>
              </a:srgbClr>
            </a:outerShdw>
          </a:effectLst>
        </p:spPr>
        <p:txBody>
          <a:bodyPr wrap="square" lIns="2032" tIns="2032" rIns="2032" bIns="2032" rtlCol="0" anchor="t">
            <a:normAutofit/>
          </a:bodyPr>
          <a:lstStyle/>
          <a:p>
            <a:pPr marL="0" indent="0">
              <a:buNone/>
            </a:pPr>
            <a:r>
              <a:rPr lang="en-US" sz="1510" dirty="0">
                <a:solidFill>
                  <a:srgbClr val="23313F"/>
                </a:solidFill>
                <a:latin typeface="Aptos" pitchFamily="34" charset="0"/>
                <a:ea typeface="Aptos" pitchFamily="34" charset="-122"/>
                <a:cs typeface="Aptos" pitchFamily="34" charset="-120"/>
              </a:rPr>
              <a:t>Symptoms: duplicate IP, frequent reassignments, unstable clients, or seemingly random movement.</a:t>
            </a:r>
            <a:endParaRPr lang="en-US" sz="1510" dirty="0"/>
          </a:p>
          <a:p>
            <a:pPr marL="0" indent="0">
              <a:buNone/>
            </a:pPr>
            <a:endParaRPr lang="en-US" sz="1510" dirty="0"/>
          </a:p>
          <a:p>
            <a:pPr marL="0" indent="0">
              <a:buNone/>
            </a:pPr>
            <a:r>
              <a:rPr lang="en-US" sz="1510" dirty="0">
                <a:solidFill>
                  <a:srgbClr val="23313F"/>
                </a:solidFill>
                <a:latin typeface="Aptos" pitchFamily="34" charset="0"/>
                <a:ea typeface="Aptos" pitchFamily="34" charset="-122"/>
                <a:cs typeface="Aptos" pitchFamily="34" charset="-120"/>
              </a:rPr>
              <a:t>Check for static assignments outside IPAM, shortened timers, bad client IDs, duplicate MACs, or relay changes that moved clients between scopes. Lease history is the proof path here, not guesswork.</a:t>
            </a:r>
            <a:endParaRPr lang="en-US" sz="1510" dirty="0"/>
          </a:p>
        </p:txBody>
      </p:sp>
      <p:sp>
        <p:nvSpPr>
          <p:cNvPr id="13" name="Text 11"/>
          <p:cNvSpPr/>
          <p:nvPr/>
        </p:nvSpPr>
        <p:spPr>
          <a:xfrm>
            <a:off x="411480" y="5650992"/>
            <a:ext cx="11368735" cy="493776"/>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One rule that saves time
</a:t>
            </a:r>
            <a:r>
              <a:rPr lang="en-US" sz="1540" dirty="0">
                <a:solidFill>
                  <a:srgbClr val="23313F"/>
                </a:solidFill>
                <a:latin typeface="Aptos" pitchFamily="34" charset="0"/>
                <a:ea typeface="Aptos" pitchFamily="34" charset="-122"/>
                <a:cs typeface="Aptos" pitchFamily="34" charset="-120"/>
              </a:rPr>
              <a:t>Always validate GIADDR or relay context before changing a DHCP range. A large fraction of “DHCP server” incidents are actually network-identity incidents.</a:t>
            </a:r>
            <a:endParaRPr lang="en-US" sz="1700" dirty="0"/>
          </a:p>
        </p:txBody>
      </p:sp>
      <p:sp>
        <p:nvSpPr>
          <p:cNvPr id="14" name="Shape 12"/>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5" name="Text 13"/>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DHCP troubleshooting</a:t>
            </a:r>
            <a:endParaRPr lang="en-US" sz="900" dirty="0"/>
          </a:p>
        </p:txBody>
      </p:sp>
      <p:sp>
        <p:nvSpPr>
          <p:cNvPr id="16" name="Text 14"/>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DHCP CASE STUDY</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Composite DHCP case: “unknown network segment” after a new VLAN was cut over</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This case is especially common during campus refreshes, cloud extension, and carveout events where relay paths change faster than DDI object ownership.</a:t>
            </a:r>
            <a:endParaRPr lang="en-US" sz="1050" dirty="0"/>
          </a:p>
        </p:txBody>
      </p:sp>
      <p:sp>
        <p:nvSpPr>
          <p:cNvPr id="7" name="Text 5"/>
          <p:cNvSpPr/>
          <p:nvPr/>
        </p:nvSpPr>
        <p:spPr>
          <a:xfrm>
            <a:off x="411480" y="1005840"/>
            <a:ext cx="6583680" cy="1298448"/>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Symptom
</a:t>
            </a:r>
            <a:r>
              <a:rPr lang="en-US" sz="1540" dirty="0">
                <a:solidFill>
                  <a:srgbClr val="23313F"/>
                </a:solidFill>
                <a:latin typeface="Aptos" pitchFamily="34" charset="0"/>
                <a:ea typeface="Aptos" pitchFamily="34" charset="-122"/>
                <a:cs typeface="Aptos" pitchFamily="34" charset="-120"/>
              </a:rPr>
              <a:t>New clients on a recently introduced VLAN do not receive addresses, but existing devices on nearby subnets continue operating normally. Engineers quickly assume a scope-exhaustion problem because the DHCP server is reachable and older clients elsewhere are still healthy.</a:t>
            </a:r>
            <a:endParaRPr lang="en-US" sz="1700" dirty="0"/>
          </a:p>
        </p:txBody>
      </p:sp>
      <p:sp>
        <p:nvSpPr>
          <p:cNvPr id="8" name="Text 6"/>
          <p:cNvSpPr/>
          <p:nvPr/>
        </p:nvSpPr>
        <p:spPr>
          <a:xfrm>
            <a:off x="411480" y="2468880"/>
            <a:ext cx="6583680" cy="1298448"/>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Evidence
</a:t>
            </a:r>
            <a:r>
              <a:rPr lang="en-US" sz="1540" dirty="0">
                <a:solidFill>
                  <a:srgbClr val="23313F"/>
                </a:solidFill>
                <a:latin typeface="Aptos" pitchFamily="34" charset="0"/>
                <a:ea typeface="Aptos" pitchFamily="34" charset="-122"/>
                <a:cs typeface="Aptos" pitchFamily="34" charset="-120"/>
              </a:rPr>
              <a:t>The syslog view shows DISCOVER messages being logged as coming from an unknown network segment. Lease history remains empty for the affected subnet because no lease was ever committed. Packet captures confirm the requests arrive, but the network identity in the relay context does not match any valid served network.</a:t>
            </a:r>
            <a:endParaRPr lang="en-US" sz="1700" dirty="0"/>
          </a:p>
        </p:txBody>
      </p:sp>
      <p:sp>
        <p:nvSpPr>
          <p:cNvPr id="9" name="Text 7"/>
          <p:cNvSpPr/>
          <p:nvPr/>
        </p:nvSpPr>
        <p:spPr>
          <a:xfrm>
            <a:off x="411480" y="3931920"/>
            <a:ext cx="6583680" cy="1298448"/>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Root cause and fix
</a:t>
            </a:r>
            <a:r>
              <a:rPr lang="en-US" sz="1540" dirty="0">
                <a:solidFill>
                  <a:srgbClr val="23313F"/>
                </a:solidFill>
                <a:latin typeface="Aptos" pitchFamily="34" charset="0"/>
                <a:ea typeface="Aptos" pitchFamily="34" charset="-122"/>
                <a:cs typeface="Aptos" pitchFamily="34" charset="-120"/>
              </a:rPr>
              <a:t>The relay target was updated before the matching Infoblox network and failover assignment were complete. The fix is to create or correctly assign the network object, validate relay context and member ownership, and then retest with a fresh client request rather than relying on old renewals.</a:t>
            </a:r>
            <a:endParaRPr lang="en-US" sz="1700" dirty="0"/>
          </a:p>
        </p:txBody>
      </p:sp>
      <p:pic>
        <p:nvPicPr>
          <p:cNvPr id="10" name="Image 0" descr="/mnt/data/infoblox_deck/assets/dhcp_syslog_unknown_network.png"/>
          <p:cNvPicPr>
            <a:picLocks noChangeAspect="1"/>
          </p:cNvPicPr>
          <p:nvPr/>
        </p:nvPicPr>
        <p:blipFill>
          <a:blip r:embed="rId3"/>
          <a:stretch>
            <a:fillRect/>
          </a:stretch>
        </p:blipFill>
        <p:spPr>
          <a:xfrm>
            <a:off x="7269480" y="1267209"/>
            <a:ext cx="4507992" cy="2129022"/>
          </a:xfrm>
          <a:prstGeom prst="rect">
            <a:avLst/>
          </a:prstGeom>
        </p:spPr>
      </p:pic>
      <p:sp>
        <p:nvSpPr>
          <p:cNvPr id="11" name="Text 8"/>
          <p:cNvSpPr/>
          <p:nvPr/>
        </p:nvSpPr>
        <p:spPr>
          <a:xfrm>
            <a:off x="7269480" y="3840480"/>
            <a:ext cx="4507992" cy="1554480"/>
          </a:xfrm>
          <a:prstGeom prst="rect">
            <a:avLst/>
          </a:prstGeom>
          <a:solidFill>
            <a:srgbClr val="FFF5E9"/>
          </a:solidFill>
          <a:ln w="12700">
            <a:solidFill>
              <a:srgbClr val="E6812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Why this case fools teams
</a:t>
            </a:r>
            <a:r>
              <a:rPr lang="en-US" sz="1540" dirty="0">
                <a:solidFill>
                  <a:srgbClr val="23313F"/>
                </a:solidFill>
                <a:latin typeface="Aptos" pitchFamily="34" charset="0"/>
                <a:ea typeface="Aptos" pitchFamily="34" charset="-122"/>
                <a:cs typeface="Aptos" pitchFamily="34" charset="-120"/>
              </a:rPr>
              <a:t>Because the server is up and logs are present, operators often conclude that DHCP itself is healthy. In reality the server is healthy but the request has no valid network context, so the workflow fails before lease logic can even begin.</a:t>
            </a:r>
            <a:endParaRPr lang="en-US" sz="1700" dirty="0"/>
          </a:p>
        </p:txBody>
      </p:sp>
      <p:sp>
        <p:nvSpPr>
          <p:cNvPr id="12" name="Text 9"/>
          <p:cNvSpPr/>
          <p:nvPr/>
        </p:nvSpPr>
        <p:spPr>
          <a:xfrm>
            <a:off x="411480" y="5504688"/>
            <a:ext cx="11368735" cy="640080"/>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Lesson
</a:t>
            </a:r>
            <a:r>
              <a:rPr lang="en-US" sz="1440" dirty="0">
                <a:solidFill>
                  <a:srgbClr val="23313F"/>
                </a:solidFill>
                <a:latin typeface="Aptos" pitchFamily="34" charset="0"/>
                <a:ea typeface="Aptos" pitchFamily="34" charset="-122"/>
                <a:cs typeface="Aptos" pitchFamily="34" charset="-120"/>
              </a:rPr>
              <a:t>If the appliance says “unknown network segment,” do not start by resizing scopes. Start by proving the request-to-network mapping: relay path, subnet identity, member assignment, and failover association.</a:t>
            </a:r>
            <a:endParaRPr lang="en-US" sz="1700" dirty="0"/>
          </a:p>
        </p:txBody>
      </p:sp>
      <p:sp>
        <p:nvSpPr>
          <p:cNvPr id="13" name="Shape 10"/>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4" name="Text 11"/>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DHCP case study</a:t>
            </a:r>
            <a:endParaRPr lang="en-US" sz="900" dirty="0"/>
          </a:p>
        </p:txBody>
      </p:sp>
      <p:sp>
        <p:nvSpPr>
          <p:cNvPr id="15" name="Text 12"/>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DHCP FAILOVER</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DHCP failover associations: the normal behaviors that people misread as faults</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Teach this slide before the troubleshooting playbook so the class knows which behaviors are by design and which ones truly indicate a broken association.</a:t>
            </a:r>
            <a:endParaRPr lang="en-US" sz="1050" dirty="0"/>
          </a:p>
        </p:txBody>
      </p:sp>
      <p:sp>
        <p:nvSpPr>
          <p:cNvPr id="7" name="Text 5"/>
          <p:cNvSpPr/>
          <p:nvPr/>
        </p:nvSpPr>
        <p:spPr>
          <a:xfrm>
            <a:off x="411480" y="1005840"/>
            <a:ext cx="3679850" cy="384048"/>
          </a:xfrm>
          <a:prstGeom prst="rect">
            <a:avLst/>
          </a:prstGeom>
          <a:solidFill>
            <a:srgbClr val="16324F"/>
          </a:solidFill>
          <a:ln w="12700">
            <a:solidFill>
              <a:srgbClr val="16324F"/>
            </a:solidFill>
          </a:ln>
        </p:spPr>
        <p:txBody>
          <a:bodyPr wrap="square" lIns="1524" tIns="1524" rIns="1524" bIns="1524" rtlCol="0" anchor="ctr"/>
          <a:lstStyle/>
          <a:p>
            <a:pPr marL="0" indent="0" algn="ctr">
              <a:buNone/>
            </a:pPr>
            <a:r>
              <a:rPr lang="en-US" sz="1650" b="1" dirty="0">
                <a:solidFill>
                  <a:srgbClr val="FFFFFF"/>
                </a:solidFill>
                <a:latin typeface="Aptos" pitchFamily="34" charset="0"/>
                <a:ea typeface="Aptos" pitchFamily="34" charset="-122"/>
                <a:cs typeface="Aptos" pitchFamily="34" charset="-120"/>
              </a:rPr>
              <a:t>Design rules</a:t>
            </a:r>
            <a:endParaRPr lang="en-US" sz="1650" dirty="0"/>
          </a:p>
        </p:txBody>
      </p:sp>
      <p:sp>
        <p:nvSpPr>
          <p:cNvPr id="8" name="Text 6"/>
          <p:cNvSpPr/>
          <p:nvPr/>
        </p:nvSpPr>
        <p:spPr>
          <a:xfrm>
            <a:off x="411480" y="1444752"/>
            <a:ext cx="3679850" cy="4096512"/>
          </a:xfrm>
          <a:prstGeom prst="rect">
            <a:avLst/>
          </a:prstGeom>
          <a:solidFill>
            <a:srgbClr val="F5F7F9"/>
          </a:solidFill>
          <a:ln w="12700">
            <a:solidFill>
              <a:srgbClr val="D7DEE5"/>
            </a:solidFill>
          </a:ln>
          <a:effectLst>
            <a:outerShdw blurRad="13970" dist="12700" dir="2700000" algn="bl" rotWithShape="0">
              <a:srgbClr val="000000">
                <a:alpha val="14000"/>
              </a:srgbClr>
            </a:outerShdw>
          </a:effectLst>
        </p:spPr>
        <p:txBody>
          <a:bodyPr wrap="square" lIns="2032" tIns="2032" rIns="2032" bIns="2032" rtlCol="0" anchor="t">
            <a:normAutofit/>
          </a:bodyPr>
          <a:lstStyle/>
          <a:p>
            <a:pPr marL="0" indent="0">
              <a:buNone/>
            </a:pPr>
            <a:r>
              <a:rPr lang="en-US" sz="1510" dirty="0">
                <a:solidFill>
                  <a:srgbClr val="23313F"/>
                </a:solidFill>
                <a:latin typeface="Aptos" pitchFamily="34" charset="0"/>
                <a:ea typeface="Aptos" pitchFamily="34" charset="-122"/>
                <a:cs typeface="Aptos" pitchFamily="34" charset="-120"/>
              </a:rPr>
              <a:t>Both peers in the association should be assigned to the relevant network, time must be synchronized, and the team should understand the selected MCLT and partner-down behavior. Document who owns maintenance actions because uncoordinated peer changes are a major source of association drift.</a:t>
            </a:r>
            <a:endParaRPr lang="en-US" sz="1510" dirty="0"/>
          </a:p>
        </p:txBody>
      </p:sp>
      <p:sp>
        <p:nvSpPr>
          <p:cNvPr id="9" name="Text 7"/>
          <p:cNvSpPr/>
          <p:nvPr/>
        </p:nvSpPr>
        <p:spPr>
          <a:xfrm>
            <a:off x="4255922" y="1005840"/>
            <a:ext cx="3679850" cy="384048"/>
          </a:xfrm>
          <a:prstGeom prst="rect">
            <a:avLst/>
          </a:prstGeom>
          <a:solidFill>
            <a:srgbClr val="0E79C1"/>
          </a:solidFill>
          <a:ln w="12700">
            <a:solidFill>
              <a:srgbClr val="0E79C1"/>
            </a:solidFill>
          </a:ln>
        </p:spPr>
        <p:txBody>
          <a:bodyPr wrap="square" lIns="1524" tIns="1524" rIns="1524" bIns="1524" rtlCol="0" anchor="ctr"/>
          <a:lstStyle/>
          <a:p>
            <a:pPr marL="0" indent="0" algn="ctr">
              <a:buNone/>
            </a:pPr>
            <a:r>
              <a:rPr lang="en-US" sz="1650" b="1" dirty="0">
                <a:solidFill>
                  <a:srgbClr val="FFFFFF"/>
                </a:solidFill>
                <a:latin typeface="Aptos" pitchFamily="34" charset="0"/>
                <a:ea typeface="Aptos" pitchFamily="34" charset="-122"/>
                <a:cs typeface="Aptos" pitchFamily="34" charset="-120"/>
              </a:rPr>
              <a:t>Normal behaviors that surprise operators</a:t>
            </a:r>
            <a:endParaRPr lang="en-US" sz="1650" dirty="0"/>
          </a:p>
        </p:txBody>
      </p:sp>
      <p:sp>
        <p:nvSpPr>
          <p:cNvPr id="10" name="Text 8"/>
          <p:cNvSpPr/>
          <p:nvPr/>
        </p:nvSpPr>
        <p:spPr>
          <a:xfrm>
            <a:off x="4255922" y="1444752"/>
            <a:ext cx="3679850" cy="4096512"/>
          </a:xfrm>
          <a:prstGeom prst="rect">
            <a:avLst/>
          </a:prstGeom>
          <a:solidFill>
            <a:srgbClr val="EEF6FB"/>
          </a:solidFill>
          <a:ln w="12700">
            <a:solidFill>
              <a:srgbClr val="D7DEE5"/>
            </a:solidFill>
          </a:ln>
          <a:effectLst>
            <a:outerShdw blurRad="13970" dist="12700" dir="2700000" algn="bl" rotWithShape="0">
              <a:srgbClr val="000000">
                <a:alpha val="14000"/>
              </a:srgbClr>
            </a:outerShdw>
          </a:effectLst>
        </p:spPr>
        <p:txBody>
          <a:bodyPr wrap="square" lIns="2032" tIns="2032" rIns="2032" bIns="2032" rtlCol="0" anchor="t">
            <a:normAutofit/>
          </a:bodyPr>
          <a:lstStyle/>
          <a:p>
            <a:pPr marL="0" indent="0">
              <a:buNone/>
            </a:pPr>
            <a:r>
              <a:rPr lang="en-US" sz="1510" dirty="0">
                <a:solidFill>
                  <a:srgbClr val="23313F"/>
                </a:solidFill>
                <a:latin typeface="Aptos" pitchFamily="34" charset="0"/>
                <a:ea typeface="Aptos" pitchFamily="34" charset="-122"/>
                <a:cs typeface="Aptos" pitchFamily="34" charset="-120"/>
              </a:rPr>
              <a:t>Initial lease durations can look unexpectedly short in a failover design; temporary imbalance between peers can also be normal during certain transitions. Engineers new to failover often read those patterns as evidence of corruption when the protocol is actually doing exactly what it should.</a:t>
            </a:r>
            <a:endParaRPr lang="en-US" sz="1510" dirty="0"/>
          </a:p>
        </p:txBody>
      </p:sp>
      <p:sp>
        <p:nvSpPr>
          <p:cNvPr id="11" name="Text 9"/>
          <p:cNvSpPr/>
          <p:nvPr/>
        </p:nvSpPr>
        <p:spPr>
          <a:xfrm>
            <a:off x="8100365" y="1005840"/>
            <a:ext cx="3679850" cy="384048"/>
          </a:xfrm>
          <a:prstGeom prst="rect">
            <a:avLst/>
          </a:prstGeom>
          <a:solidFill>
            <a:srgbClr val="E6812F"/>
          </a:solidFill>
          <a:ln w="12700">
            <a:solidFill>
              <a:srgbClr val="E6812F"/>
            </a:solidFill>
          </a:ln>
        </p:spPr>
        <p:txBody>
          <a:bodyPr wrap="square" lIns="1524" tIns="1524" rIns="1524" bIns="1524" rtlCol="0" anchor="ctr"/>
          <a:lstStyle/>
          <a:p>
            <a:pPr marL="0" indent="0" algn="ctr">
              <a:buNone/>
            </a:pPr>
            <a:r>
              <a:rPr lang="en-US" sz="1650" b="1" dirty="0">
                <a:solidFill>
                  <a:srgbClr val="FFFFFF"/>
                </a:solidFill>
                <a:latin typeface="Aptos" pitchFamily="34" charset="0"/>
                <a:ea typeface="Aptos" pitchFamily="34" charset="-122"/>
                <a:cs typeface="Aptos" pitchFamily="34" charset="-120"/>
              </a:rPr>
              <a:t>True red flags</a:t>
            </a:r>
            <a:endParaRPr lang="en-US" sz="1650" dirty="0"/>
          </a:p>
        </p:txBody>
      </p:sp>
      <p:sp>
        <p:nvSpPr>
          <p:cNvPr id="12" name="Text 10"/>
          <p:cNvSpPr/>
          <p:nvPr/>
        </p:nvSpPr>
        <p:spPr>
          <a:xfrm>
            <a:off x="8100365" y="1444752"/>
            <a:ext cx="3679850" cy="4096512"/>
          </a:xfrm>
          <a:prstGeom prst="rect">
            <a:avLst/>
          </a:prstGeom>
          <a:solidFill>
            <a:srgbClr val="FFF5E9"/>
          </a:solidFill>
          <a:ln w="12700">
            <a:solidFill>
              <a:srgbClr val="D7DEE5"/>
            </a:solidFill>
          </a:ln>
          <a:effectLst>
            <a:outerShdw blurRad="13970" dist="12700" dir="2700000" algn="bl" rotWithShape="0">
              <a:srgbClr val="000000">
                <a:alpha val="14000"/>
              </a:srgbClr>
            </a:outerShdw>
          </a:effectLst>
        </p:spPr>
        <p:txBody>
          <a:bodyPr wrap="square" lIns="2032" tIns="2032" rIns="2032" bIns="2032" rtlCol="0" anchor="t">
            <a:normAutofit/>
          </a:bodyPr>
          <a:lstStyle/>
          <a:p>
            <a:pPr marL="0" indent="0">
              <a:buNone/>
            </a:pPr>
            <a:r>
              <a:rPr lang="en-US" sz="1510" dirty="0">
                <a:solidFill>
                  <a:srgbClr val="23313F"/>
                </a:solidFill>
                <a:latin typeface="Aptos" pitchFamily="34" charset="0"/>
                <a:ea typeface="Aptos" pitchFamily="34" charset="-122"/>
                <a:cs typeface="Aptos" pitchFamily="34" charset="-120"/>
              </a:rPr>
              <a:t>Deadlock or conflict states, one peer serving a network the other does not own, repeated communication failures, or manual recovery actions performed without capturing evidence first are real risk indicators. Those conditions deserve structured recovery rather than improvisation.</a:t>
            </a:r>
            <a:endParaRPr lang="en-US" sz="1510" dirty="0"/>
          </a:p>
        </p:txBody>
      </p:sp>
      <p:sp>
        <p:nvSpPr>
          <p:cNvPr id="13" name="Text 11"/>
          <p:cNvSpPr/>
          <p:nvPr/>
        </p:nvSpPr>
        <p:spPr>
          <a:xfrm>
            <a:off x="411480" y="5650992"/>
            <a:ext cx="11368735" cy="493776"/>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Recovery posture
</a:t>
            </a:r>
            <a:r>
              <a:rPr lang="en-US" sz="1540" dirty="0">
                <a:solidFill>
                  <a:srgbClr val="23313F"/>
                </a:solidFill>
                <a:latin typeface="Aptos" pitchFamily="34" charset="0"/>
                <a:ea typeface="Aptos" pitchFamily="34" charset="-122"/>
                <a:cs typeface="Aptos" pitchFamily="34" charset="-120"/>
              </a:rPr>
              <a:t>Before resetting or recovering a DHCP failover relationship, collect status from both peers, verify network assignment symmetry, confirm time sync and communication state, and only then use recovery workflows such as deadlock recovery if they are truly warranted.</a:t>
            </a:r>
            <a:endParaRPr lang="en-US" sz="1700" dirty="0"/>
          </a:p>
        </p:txBody>
      </p:sp>
      <p:sp>
        <p:nvSpPr>
          <p:cNvPr id="14" name="Shape 12"/>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5" name="Text 13"/>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DHCP failover</a:t>
            </a:r>
            <a:endParaRPr lang="en-US" sz="900" dirty="0"/>
          </a:p>
        </p:txBody>
      </p:sp>
      <p:sp>
        <p:nvSpPr>
          <p:cNvPr id="16" name="Text 14"/>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IPAM</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IPAM hierarchy: design the object tree so operations and carveouts are easy later</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IPAM is where many advanced Infoblox environments either become auditable and scalable or descend into manual exceptions and naming debt.</a:t>
            </a:r>
            <a:endParaRPr lang="en-US" sz="1050" dirty="0"/>
          </a:p>
        </p:txBody>
      </p:sp>
      <p:sp>
        <p:nvSpPr>
          <p:cNvPr id="7" name="Text 5"/>
          <p:cNvSpPr/>
          <p:nvPr/>
        </p:nvSpPr>
        <p:spPr>
          <a:xfrm>
            <a:off x="411480" y="1005840"/>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Hierarchy that mirrors authority
</a:t>
            </a:r>
            <a:r>
              <a:rPr lang="en-US" sz="1540" dirty="0">
                <a:solidFill>
                  <a:srgbClr val="23313F"/>
                </a:solidFill>
                <a:latin typeface="Aptos" pitchFamily="34" charset="0"/>
                <a:ea typeface="Aptos" pitchFamily="34" charset="-122"/>
                <a:cs typeface="Aptos" pitchFamily="34" charset="-120"/>
              </a:rPr>
              <a:t>Use network containers for major allocation boundaries such as region, program, or business unit; use networks for actual routed subnets; use ranges for service pools; and use host, fixed-address, or reservation objects for endpoint-specific logic. The hierarchy should reflect operational authority, not just address math.</a:t>
            </a:r>
            <a:endParaRPr lang="en-US" sz="1700" dirty="0"/>
          </a:p>
        </p:txBody>
      </p:sp>
      <p:sp>
        <p:nvSpPr>
          <p:cNvPr id="8" name="Text 6"/>
          <p:cNvSpPr/>
          <p:nvPr/>
        </p:nvSpPr>
        <p:spPr>
          <a:xfrm>
            <a:off x="411480" y="2761488"/>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Inheritance is a strength when it is intentional
</a:t>
            </a:r>
            <a:r>
              <a:rPr lang="en-US" sz="1540" dirty="0">
                <a:solidFill>
                  <a:srgbClr val="23313F"/>
                </a:solidFill>
                <a:latin typeface="Aptos" pitchFamily="34" charset="0"/>
                <a:ea typeface="Aptos" pitchFamily="34" charset="-122"/>
                <a:cs typeface="Aptos" pitchFamily="34" charset="-120"/>
              </a:rPr>
              <a:t>Options, views, and metadata inherited through the hierarchy reduce repetitive configuration and simplify audits. But hidden inheritance becomes a trap during migration or carveout because engineers export visible objects and forget the policies those objects inherit from above.</a:t>
            </a:r>
            <a:endParaRPr lang="en-US" sz="1700" dirty="0"/>
          </a:p>
        </p:txBody>
      </p:sp>
      <p:sp>
        <p:nvSpPr>
          <p:cNvPr id="9" name="Text 7"/>
          <p:cNvSpPr/>
          <p:nvPr/>
        </p:nvSpPr>
        <p:spPr>
          <a:xfrm>
            <a:off x="411480" y="4517136"/>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Extensible Attributes are operational metadata, not decoration
</a:t>
            </a:r>
            <a:r>
              <a:rPr lang="en-US" sz="1540" dirty="0">
                <a:solidFill>
                  <a:srgbClr val="23313F"/>
                </a:solidFill>
                <a:latin typeface="Aptos" pitchFamily="34" charset="0"/>
                <a:ea typeface="Aptos" pitchFamily="34" charset="-122"/>
                <a:cs typeface="Aptos" pitchFamily="34" charset="-120"/>
              </a:rPr>
              <a:t>Attributes such as site, VLAN, country, region, owner, or service tier turn IPAM into an operational query system. They make carveout exports, compliance checks, and Splunk enrichment significantly more useful than raw network objects alone.</a:t>
            </a:r>
            <a:endParaRPr lang="en-US" sz="1700" dirty="0"/>
          </a:p>
        </p:txBody>
      </p:sp>
      <p:pic>
        <p:nvPicPr>
          <p:cNvPr id="10" name="Image 0" descr="/mnt/data/infoblox_deck/assets/ipam_netmap.png"/>
          <p:cNvPicPr>
            <a:picLocks noChangeAspect="1"/>
          </p:cNvPicPr>
          <p:nvPr/>
        </p:nvPicPr>
        <p:blipFill>
          <a:blip r:embed="rId3"/>
          <a:stretch>
            <a:fillRect/>
          </a:stretch>
        </p:blipFill>
        <p:spPr>
          <a:xfrm>
            <a:off x="7369917" y="1005840"/>
            <a:ext cx="4307119" cy="3584448"/>
          </a:xfrm>
          <a:prstGeom prst="rect">
            <a:avLst/>
          </a:prstGeom>
        </p:spPr>
      </p:pic>
      <p:sp>
        <p:nvSpPr>
          <p:cNvPr id="11" name="Text 8"/>
          <p:cNvSpPr/>
          <p:nvPr/>
        </p:nvSpPr>
        <p:spPr>
          <a:xfrm>
            <a:off x="7269480" y="4919472"/>
            <a:ext cx="4507992" cy="1133856"/>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Design rule
</a:t>
            </a:r>
            <a:r>
              <a:rPr lang="en-US" sz="1540" dirty="0">
                <a:solidFill>
                  <a:srgbClr val="23313F"/>
                </a:solidFill>
                <a:latin typeface="Aptos" pitchFamily="34" charset="0"/>
                <a:ea typeface="Aptos" pitchFamily="34" charset="-122"/>
                <a:cs typeface="Aptos" pitchFamily="34" charset="-120"/>
              </a:rPr>
              <a:t>If a future operator cannot tell who owns a subnet by looking at the container path and Extensible Attributes, the hierarchy is probably too implicit.</a:t>
            </a:r>
            <a:endParaRPr lang="en-US" sz="1700" dirty="0"/>
          </a:p>
        </p:txBody>
      </p:sp>
      <p:sp>
        <p:nvSpPr>
          <p:cNvPr id="12" name="Shape 9"/>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3" name="Text 10"/>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IPAM</a:t>
            </a:r>
            <a:endParaRPr lang="en-US" sz="900" dirty="0"/>
          </a:p>
        </p:txBody>
      </p:sp>
      <p:sp>
        <p:nvSpPr>
          <p:cNvPr id="14" name="Text 11"/>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IPAM AUDIT</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IPAM event log and audit analysis: prove who changed what, when, and where</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This slide is the bridge between IPAM and monitoring. It explains why many “network incidents” are actually change-analysis incidents.</a:t>
            </a:r>
            <a:endParaRPr lang="en-US" sz="1050" dirty="0"/>
          </a:p>
        </p:txBody>
      </p:sp>
      <p:sp>
        <p:nvSpPr>
          <p:cNvPr id="7" name="Text 5"/>
          <p:cNvSpPr/>
          <p:nvPr/>
        </p:nvSpPr>
        <p:spPr>
          <a:xfrm>
            <a:off x="411480" y="1005840"/>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What the audit log captures
</a:t>
            </a:r>
            <a:r>
              <a:rPr lang="en-US" sz="1540" dirty="0">
                <a:solidFill>
                  <a:srgbClr val="23313F"/>
                </a:solidFill>
                <a:latin typeface="Aptos" pitchFamily="34" charset="0"/>
                <a:ea typeface="Aptos" pitchFamily="34" charset="-122"/>
                <a:cs typeface="Aptos" pitchFamily="34" charset="-120"/>
              </a:rPr>
              <a:t>Infoblox audit mechanisms record actions such as admin login and logout, service restarts, appliance reboot, and add, modify, or delete operations on objects. For advanced environments, WAPI events and structured audit data are equally important because automation-driven changes can be harder to spot in raw syslog alone.</a:t>
            </a:r>
            <a:endParaRPr lang="en-US" sz="1700" dirty="0"/>
          </a:p>
        </p:txBody>
      </p:sp>
      <p:sp>
        <p:nvSpPr>
          <p:cNvPr id="8" name="Text 6"/>
          <p:cNvSpPr/>
          <p:nvPr/>
        </p:nvSpPr>
        <p:spPr>
          <a:xfrm>
            <a:off x="411480" y="2761488"/>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How to analyze an IPAM change
</a:t>
            </a:r>
            <a:r>
              <a:rPr lang="en-US" sz="1540" dirty="0">
                <a:solidFill>
                  <a:srgbClr val="23313F"/>
                </a:solidFill>
                <a:latin typeface="Aptos" pitchFamily="34" charset="0"/>
                <a:ea typeface="Aptos" pitchFamily="34" charset="-122"/>
                <a:cs typeface="Aptos" pitchFamily="34" charset="-120"/>
              </a:rPr>
              <a:t>Look for the object path, admin identity, member, timestamp, and old versus new values. Then line that change up with service logs and user impact. If an address pool moved, an attribute changed, or a network was reassigned minutes before clients failed, you already have a strong hypothesis without guessing.</a:t>
            </a:r>
            <a:endParaRPr lang="en-US" sz="1700" dirty="0"/>
          </a:p>
        </p:txBody>
      </p:sp>
      <p:sp>
        <p:nvSpPr>
          <p:cNvPr id="9" name="Text 7"/>
          <p:cNvSpPr/>
          <p:nvPr/>
        </p:nvSpPr>
        <p:spPr>
          <a:xfrm>
            <a:off x="411480" y="4517136"/>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The audit trail is the operational story
</a:t>
            </a:r>
            <a:r>
              <a:rPr lang="en-US" sz="1540" dirty="0">
                <a:solidFill>
                  <a:srgbClr val="23313F"/>
                </a:solidFill>
                <a:latin typeface="Aptos" pitchFamily="34" charset="0"/>
                <a:ea typeface="Aptos" pitchFamily="34" charset="-122"/>
                <a:cs typeface="Aptos" pitchFamily="34" charset="-120"/>
              </a:rPr>
              <a:t>During migration and carveout, the audit trail tells you whether the system was changed correctly as much as whether the service is currently answering. In advanced environments, accurate chronology is often more valuable than a static screenshot of “current state.”</a:t>
            </a:r>
            <a:endParaRPr lang="en-US" sz="1700" dirty="0"/>
          </a:p>
        </p:txBody>
      </p:sp>
      <p:pic>
        <p:nvPicPr>
          <p:cNvPr id="10" name="Image 0" descr="/mnt/data/infoblox_deck/assets/ipam_ipmap.png"/>
          <p:cNvPicPr>
            <a:picLocks noChangeAspect="1"/>
          </p:cNvPicPr>
          <p:nvPr/>
        </p:nvPicPr>
        <p:blipFill>
          <a:blip r:embed="rId3"/>
          <a:stretch>
            <a:fillRect/>
          </a:stretch>
        </p:blipFill>
        <p:spPr>
          <a:xfrm>
            <a:off x="7269480" y="1295400"/>
            <a:ext cx="4507992" cy="3005328"/>
          </a:xfrm>
          <a:prstGeom prst="rect">
            <a:avLst/>
          </a:prstGeom>
        </p:spPr>
      </p:pic>
      <p:sp>
        <p:nvSpPr>
          <p:cNvPr id="11" name="Text 8"/>
          <p:cNvSpPr/>
          <p:nvPr/>
        </p:nvSpPr>
        <p:spPr>
          <a:xfrm>
            <a:off x="7269480" y="4919472"/>
            <a:ext cx="4507992" cy="1133856"/>
          </a:xfrm>
          <a:prstGeom prst="rect">
            <a:avLst/>
          </a:prstGeom>
          <a:solidFill>
            <a:srgbClr val="EEF6FB"/>
          </a:solidFill>
          <a:ln w="12700">
            <a:solidFill>
              <a:srgbClr val="0E79C1"/>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SIEM hint
</a:t>
            </a:r>
            <a:r>
              <a:rPr lang="en-US" sz="1540" dirty="0">
                <a:solidFill>
                  <a:srgbClr val="23313F"/>
                </a:solidFill>
                <a:latin typeface="Aptos" pitchFamily="34" charset="0"/>
                <a:ea typeface="Aptos" pitchFamily="34" charset="-122"/>
                <a:cs typeface="Aptos" pitchFamily="34" charset="-120"/>
              </a:rPr>
              <a:t>When exporting to Splunk, preserve admin, object type, object name, action, member, and message fields. Without those fields the audit data becomes far less useful for root-cause analysis.</a:t>
            </a:r>
            <a:endParaRPr lang="en-US" sz="1700" dirty="0"/>
          </a:p>
        </p:txBody>
      </p:sp>
      <p:sp>
        <p:nvSpPr>
          <p:cNvPr id="12" name="Shape 9"/>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3" name="Text 10"/>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IPAM audit</a:t>
            </a:r>
            <a:endParaRPr lang="en-US" sz="900" dirty="0"/>
          </a:p>
        </p:txBody>
      </p:sp>
      <p:sp>
        <p:nvSpPr>
          <p:cNvPr id="14" name="Text 11"/>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SPLUNK INTEGRATION</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Sending Infoblox telemetry to Splunk: choose the path that matches the question</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Advanced teams rarely need only one ingestion method. Use raw syslog for broad service visibility and structured reporting/API access for richer audit analytics.</a:t>
            </a:r>
            <a:endParaRPr lang="en-US" sz="1050" dirty="0"/>
          </a:p>
        </p:txBody>
      </p:sp>
      <p:sp>
        <p:nvSpPr>
          <p:cNvPr id="7" name="Text 5"/>
          <p:cNvSpPr/>
          <p:nvPr/>
        </p:nvSpPr>
        <p:spPr>
          <a:xfrm>
            <a:off x="594360" y="1417320"/>
            <a:ext cx="3017520" cy="1417320"/>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Infoblox members / Grid
</a:t>
            </a:r>
            <a:r>
              <a:rPr lang="en-US" sz="1540" dirty="0">
                <a:solidFill>
                  <a:srgbClr val="23313F"/>
                </a:solidFill>
                <a:latin typeface="Aptos" pitchFamily="34" charset="0"/>
                <a:ea typeface="Aptos" pitchFamily="34" charset="-122"/>
                <a:cs typeface="Aptos" pitchFamily="34" charset="-120"/>
              </a:rPr>
              <a:t>DNS, DHCP, IPAM, HA, and audit data originate here. Decide which events need immediate alerting versus long-term analysis.</a:t>
            </a:r>
            <a:endParaRPr lang="en-US" sz="1700" dirty="0"/>
          </a:p>
        </p:txBody>
      </p:sp>
      <p:sp>
        <p:nvSpPr>
          <p:cNvPr id="8" name="Text 6"/>
          <p:cNvSpPr/>
          <p:nvPr/>
        </p:nvSpPr>
        <p:spPr>
          <a:xfrm>
            <a:off x="4069080" y="1417320"/>
            <a:ext cx="3246120" cy="1417320"/>
          </a:xfrm>
          <a:prstGeom prst="rect">
            <a:avLst/>
          </a:prstGeom>
          <a:solidFill>
            <a:srgbClr val="EEF6FB"/>
          </a:solidFill>
          <a:ln w="12700">
            <a:solidFill>
              <a:srgbClr val="0E79C1"/>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External syslog or reporting path
</a:t>
            </a:r>
            <a:r>
              <a:rPr lang="en-US" sz="1540" dirty="0">
                <a:solidFill>
                  <a:srgbClr val="23313F"/>
                </a:solidFill>
                <a:latin typeface="Aptos" pitchFamily="34" charset="0"/>
                <a:ea typeface="Aptos" pitchFamily="34" charset="-122"/>
                <a:cs typeface="Aptos" pitchFamily="34" charset="-120"/>
              </a:rPr>
              <a:t>Syslog is the fastest path for service logs. Reporting-server and audit APIs provide richer structured access to audit and DDI data.</a:t>
            </a:r>
            <a:endParaRPr lang="en-US" sz="1700" dirty="0"/>
          </a:p>
        </p:txBody>
      </p:sp>
      <p:sp>
        <p:nvSpPr>
          <p:cNvPr id="9" name="Text 7"/>
          <p:cNvSpPr/>
          <p:nvPr/>
        </p:nvSpPr>
        <p:spPr>
          <a:xfrm>
            <a:off x="8046720" y="1417320"/>
            <a:ext cx="3566160" cy="1417320"/>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Splunk indexes and knowledge objects
</a:t>
            </a:r>
            <a:r>
              <a:rPr lang="en-US" sz="1540" dirty="0">
                <a:solidFill>
                  <a:srgbClr val="23313F"/>
                </a:solidFill>
                <a:latin typeface="Aptos" pitchFamily="34" charset="0"/>
                <a:ea typeface="Aptos" pitchFamily="34" charset="-122"/>
                <a:cs typeface="Aptos" pitchFamily="34" charset="-120"/>
              </a:rPr>
              <a:t>Normalize DNS, DHCP, IPAM, and audit fields early. Searches and dashboards survive upgrades better when event classes share a stable field model.</a:t>
            </a:r>
            <a:endParaRPr lang="en-US" sz="1700" dirty="0"/>
          </a:p>
        </p:txBody>
      </p:sp>
      <p:sp>
        <p:nvSpPr>
          <p:cNvPr id="10" name="Text 8"/>
          <p:cNvSpPr/>
          <p:nvPr/>
        </p:nvSpPr>
        <p:spPr>
          <a:xfrm>
            <a:off x="594360" y="3154680"/>
            <a:ext cx="5532120" cy="2148840"/>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What to send over syslog
</a:t>
            </a:r>
            <a:r>
              <a:rPr lang="en-US" sz="1500" dirty="0">
                <a:solidFill>
                  <a:srgbClr val="23313F"/>
                </a:solidFill>
                <a:latin typeface="Aptos" pitchFamily="34" charset="0"/>
                <a:ea typeface="Aptos" pitchFamily="34" charset="-122"/>
                <a:cs typeface="Aptos" pitchFamily="34" charset="-120"/>
              </a:rPr>
              <a:t>Send DNS query and response categories when investigating resolution issues; DHCP lease or server events when investigating address delivery; Grid, HA, and service events for platform operations; and audit events for change visibility. Do not send everything at maximum verbosity forever. Tune by use case.</a:t>
            </a:r>
            <a:endParaRPr lang="en-US" sz="1700" dirty="0"/>
          </a:p>
        </p:txBody>
      </p:sp>
      <p:pic>
        <p:nvPicPr>
          <p:cNvPr id="11" name="Image 0" descr="/mnt/data/infoblox_deck/assets/syslog_basic_config.jpg"/>
          <p:cNvPicPr>
            <a:picLocks noChangeAspect="1"/>
          </p:cNvPicPr>
          <p:nvPr/>
        </p:nvPicPr>
        <p:blipFill>
          <a:blip r:embed="rId3"/>
          <a:stretch>
            <a:fillRect/>
          </a:stretch>
        </p:blipFill>
        <p:spPr>
          <a:xfrm>
            <a:off x="7209499" y="2971800"/>
            <a:ext cx="3777563" cy="2606040"/>
          </a:xfrm>
          <a:prstGeom prst="rect">
            <a:avLst/>
          </a:prstGeom>
        </p:spPr>
      </p:pic>
      <p:sp>
        <p:nvSpPr>
          <p:cNvPr id="12" name="Text 9"/>
          <p:cNvSpPr/>
          <p:nvPr/>
        </p:nvSpPr>
        <p:spPr>
          <a:xfrm>
            <a:off x="594360" y="5650992"/>
            <a:ext cx="11064240" cy="493776"/>
          </a:xfrm>
          <a:prstGeom prst="rect">
            <a:avLst/>
          </a:prstGeom>
          <a:solidFill>
            <a:srgbClr val="FFF5E9"/>
          </a:solidFill>
          <a:ln w="12700">
            <a:solidFill>
              <a:srgbClr val="E6812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Structured audit option
</a:t>
            </a:r>
            <a:r>
              <a:rPr lang="en-US" sz="1410" dirty="0">
                <a:solidFill>
                  <a:srgbClr val="23313F"/>
                </a:solidFill>
                <a:latin typeface="Aptos" pitchFamily="34" charset="0"/>
                <a:ea typeface="Aptos" pitchFamily="34" charset="-122"/>
                <a:cs typeface="Aptos" pitchFamily="34" charset="-120"/>
              </a:rPr>
              <a:t>NIOS reporting and API access can expose audit-log and DDI data in a more structured form than raw syslog alone. That is useful when you want precise object-change analysis in Splunk instead of only textual events.</a:t>
            </a:r>
            <a:endParaRPr lang="en-US" sz="1700" dirty="0"/>
          </a:p>
        </p:txBody>
      </p:sp>
      <p:sp>
        <p:nvSpPr>
          <p:cNvPr id="13" name="Shape 10"/>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4" name="Text 11"/>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Splunk integration</a:t>
            </a:r>
            <a:endParaRPr lang="en-US" sz="900" dirty="0"/>
          </a:p>
        </p:txBody>
      </p:sp>
      <p:sp>
        <p:nvSpPr>
          <p:cNvPr id="15" name="Text 12"/>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SPLUNK USE CASES</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High-value Splunk searches for DNS, DHCP, and IPAM operations</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The example SPL below is illustrative; field names vary by app, add-on, and event normalization strategy.</a:t>
            </a:r>
            <a:endParaRPr lang="en-US" sz="1050" dirty="0"/>
          </a:p>
        </p:txBody>
      </p:sp>
      <p:pic>
        <p:nvPicPr>
          <p:cNvPr id="7" name="Image 0" descr="/mnt/data/infoblox_deck/assets/splunk_app_screenshot.png"/>
          <p:cNvPicPr>
            <a:picLocks noChangeAspect="1"/>
          </p:cNvPicPr>
          <p:nvPr/>
        </p:nvPicPr>
        <p:blipFill>
          <a:blip r:embed="rId3"/>
          <a:stretch>
            <a:fillRect/>
          </a:stretch>
        </p:blipFill>
        <p:spPr>
          <a:xfrm>
            <a:off x="6446520" y="2027044"/>
            <a:ext cx="5257800" cy="2575311"/>
          </a:xfrm>
          <a:prstGeom prst="rect">
            <a:avLst/>
          </a:prstGeom>
        </p:spPr>
      </p:pic>
      <p:sp>
        <p:nvSpPr>
          <p:cNvPr id="8" name="Text 5"/>
          <p:cNvSpPr/>
          <p:nvPr/>
        </p:nvSpPr>
        <p:spPr>
          <a:xfrm>
            <a:off x="548640" y="1188720"/>
            <a:ext cx="5577840" cy="1005840"/>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Why Splunk is useful here
</a:t>
            </a:r>
            <a:r>
              <a:rPr lang="en-US" sz="1500" dirty="0">
                <a:solidFill>
                  <a:srgbClr val="23313F"/>
                </a:solidFill>
                <a:latin typeface="Aptos" pitchFamily="34" charset="0"/>
                <a:ea typeface="Aptos" pitchFamily="34" charset="-122"/>
                <a:cs typeface="Aptos" pitchFamily="34" charset="-120"/>
              </a:rPr>
              <a:t>Splunk becomes the cross-domain view: DNS symptoms, DHCP churn, IPAM change events, and platform operations can be searched on the same timeline. That is what turns DDI from isolated tools into an operational evidence chain.</a:t>
            </a:r>
            <a:endParaRPr lang="en-US" sz="1700" dirty="0"/>
          </a:p>
        </p:txBody>
      </p:sp>
      <p:sp>
        <p:nvSpPr>
          <p:cNvPr id="9" name="Text 6"/>
          <p:cNvSpPr/>
          <p:nvPr/>
        </p:nvSpPr>
        <p:spPr>
          <a:xfrm>
            <a:off x="548640" y="2404872"/>
            <a:ext cx="5577840" cy="164592"/>
          </a:xfrm>
          <a:prstGeom prst="rect">
            <a:avLst/>
          </a:prstGeom>
          <a:noFill/>
          <a:ln/>
        </p:spPr>
        <p:txBody>
          <a:bodyPr wrap="square" lIns="0" tIns="0" rIns="0" bIns="0" rtlCol="0" anchor="ctr"/>
          <a:lstStyle/>
          <a:p>
            <a:pPr marL="0" indent="0">
              <a:buNone/>
            </a:pPr>
            <a:r>
              <a:rPr lang="en-US" sz="1020" b="1" dirty="0">
                <a:solidFill>
                  <a:srgbClr val="16324F"/>
                </a:solidFill>
                <a:latin typeface="Aptos" pitchFamily="34" charset="0"/>
                <a:ea typeface="Aptos" pitchFamily="34" charset="-122"/>
                <a:cs typeface="Aptos" pitchFamily="34" charset="-120"/>
              </a:rPr>
              <a:t>Example 1: DNS anomalies</a:t>
            </a:r>
            <a:endParaRPr lang="en-US" sz="1020" dirty="0"/>
          </a:p>
        </p:txBody>
      </p:sp>
      <p:sp>
        <p:nvSpPr>
          <p:cNvPr id="10" name="Text 7"/>
          <p:cNvSpPr/>
          <p:nvPr/>
        </p:nvSpPr>
        <p:spPr>
          <a:xfrm>
            <a:off x="548640" y="2606040"/>
            <a:ext cx="5577840" cy="868680"/>
          </a:xfrm>
          <a:prstGeom prst="rect">
            <a:avLst/>
          </a:prstGeom>
          <a:solidFill>
            <a:srgbClr val="1F2937"/>
          </a:solidFill>
          <a:ln w="12700">
            <a:solidFill>
              <a:srgbClr val="1F2937"/>
            </a:solidFill>
          </a:ln>
        </p:spPr>
        <p:txBody>
          <a:bodyPr wrap="square" lIns="2032" tIns="2032" rIns="2032" bIns="2032" rtlCol="0" anchor="ctr">
            <a:normAutofit/>
          </a:bodyPr>
          <a:lstStyle/>
          <a:p>
            <a:pPr marL="0" indent="0">
              <a:buNone/>
            </a:pPr>
            <a:r>
              <a:rPr lang="en-US" sz="1070" dirty="0">
                <a:solidFill>
                  <a:srgbClr val="F3F4F6"/>
                </a:solidFill>
                <a:latin typeface="Courier New" pitchFamily="34" charset="0"/>
                <a:ea typeface="Courier New" pitchFamily="34" charset="-122"/>
                <a:cs typeface="Courier New" pitchFamily="34" charset="-120"/>
              </a:rPr>
              <a:t>index=infoblox response_code=NXDOMAIN</a:t>
            </a:r>
            <a:endParaRPr lang="en-US" sz="1070" dirty="0"/>
          </a:p>
          <a:p>
            <a:pPr marL="0" indent="0">
              <a:buNone/>
            </a:pPr>
            <a:r>
              <a:rPr lang="en-US" sz="1070" dirty="0">
                <a:solidFill>
                  <a:srgbClr val="F3F4F6"/>
                </a:solidFill>
                <a:latin typeface="Courier New" pitchFamily="34" charset="0"/>
                <a:ea typeface="Courier New" pitchFamily="34" charset="-122"/>
                <a:cs typeface="Courier New" pitchFamily="34" charset="-120"/>
              </a:rPr>
              <a:t>| stats count by src_ip, query</a:t>
            </a:r>
            <a:endParaRPr lang="en-US" sz="1070" dirty="0"/>
          </a:p>
          <a:p>
            <a:pPr marL="0" indent="0">
              <a:buNone/>
            </a:pPr>
            <a:r>
              <a:rPr lang="en-US" sz="1070" dirty="0">
                <a:solidFill>
                  <a:srgbClr val="F3F4F6"/>
                </a:solidFill>
                <a:latin typeface="Courier New" pitchFamily="34" charset="0"/>
                <a:ea typeface="Courier New" pitchFamily="34" charset="-122"/>
                <a:cs typeface="Courier New" pitchFamily="34" charset="-120"/>
              </a:rPr>
              <a:t>| sort -count</a:t>
            </a:r>
            <a:endParaRPr lang="en-US" sz="1070" dirty="0"/>
          </a:p>
        </p:txBody>
      </p:sp>
      <p:sp>
        <p:nvSpPr>
          <p:cNvPr id="11" name="Text 8"/>
          <p:cNvSpPr/>
          <p:nvPr/>
        </p:nvSpPr>
        <p:spPr>
          <a:xfrm>
            <a:off x="548640" y="3593592"/>
            <a:ext cx="5577840" cy="164592"/>
          </a:xfrm>
          <a:prstGeom prst="rect">
            <a:avLst/>
          </a:prstGeom>
          <a:noFill/>
          <a:ln/>
        </p:spPr>
        <p:txBody>
          <a:bodyPr wrap="square" lIns="0" tIns="0" rIns="0" bIns="0" rtlCol="0" anchor="ctr"/>
          <a:lstStyle/>
          <a:p>
            <a:pPr marL="0" indent="0">
              <a:buNone/>
            </a:pPr>
            <a:r>
              <a:rPr lang="en-US" sz="1020" b="1" dirty="0">
                <a:solidFill>
                  <a:srgbClr val="16324F"/>
                </a:solidFill>
                <a:latin typeface="Aptos" pitchFamily="34" charset="0"/>
                <a:ea typeface="Aptos" pitchFamily="34" charset="-122"/>
                <a:cs typeface="Aptos" pitchFamily="34" charset="-120"/>
              </a:rPr>
              <a:t>Example 2: DHCP churn</a:t>
            </a:r>
            <a:endParaRPr lang="en-US" sz="1020" dirty="0"/>
          </a:p>
        </p:txBody>
      </p:sp>
      <p:sp>
        <p:nvSpPr>
          <p:cNvPr id="12" name="Text 9"/>
          <p:cNvSpPr/>
          <p:nvPr/>
        </p:nvSpPr>
        <p:spPr>
          <a:xfrm>
            <a:off x="548640" y="3794760"/>
            <a:ext cx="5577840" cy="868680"/>
          </a:xfrm>
          <a:prstGeom prst="rect">
            <a:avLst/>
          </a:prstGeom>
          <a:solidFill>
            <a:srgbClr val="1F2937"/>
          </a:solidFill>
          <a:ln w="12700">
            <a:solidFill>
              <a:srgbClr val="1F2937"/>
            </a:solidFill>
          </a:ln>
        </p:spPr>
        <p:txBody>
          <a:bodyPr wrap="square" lIns="2032" tIns="2032" rIns="2032" bIns="2032" rtlCol="0" anchor="ctr">
            <a:normAutofit/>
          </a:bodyPr>
          <a:lstStyle/>
          <a:p>
            <a:pPr marL="0" indent="0">
              <a:buNone/>
            </a:pPr>
            <a:r>
              <a:rPr lang="en-US" sz="1070" dirty="0">
                <a:solidFill>
                  <a:srgbClr val="F3F4F6"/>
                </a:solidFill>
                <a:latin typeface="Courier New" pitchFamily="34" charset="0"/>
                <a:ea typeface="Courier New" pitchFamily="34" charset="-122"/>
                <a:cs typeface="Courier New" pitchFamily="34" charset="-120"/>
              </a:rPr>
              <a:t>index=infoblox event_type=dhcp</a:t>
            </a:r>
            <a:endParaRPr lang="en-US" sz="1070" dirty="0"/>
          </a:p>
          <a:p>
            <a:pPr marL="0" indent="0">
              <a:buNone/>
            </a:pPr>
            <a:r>
              <a:rPr lang="en-US" sz="1070" dirty="0">
                <a:solidFill>
                  <a:srgbClr val="F3F4F6"/>
                </a:solidFill>
                <a:latin typeface="Courier New" pitchFamily="34" charset="0"/>
                <a:ea typeface="Courier New" pitchFamily="34" charset="-122"/>
                <a:cs typeface="Courier New" pitchFamily="34" charset="-120"/>
              </a:rPr>
              <a:t>| timechart span=15m count by member</a:t>
            </a:r>
            <a:endParaRPr lang="en-US" sz="1070" dirty="0"/>
          </a:p>
        </p:txBody>
      </p:sp>
      <p:sp>
        <p:nvSpPr>
          <p:cNvPr id="13" name="Text 10"/>
          <p:cNvSpPr/>
          <p:nvPr/>
        </p:nvSpPr>
        <p:spPr>
          <a:xfrm>
            <a:off x="548640" y="4782312"/>
            <a:ext cx="5577840" cy="164592"/>
          </a:xfrm>
          <a:prstGeom prst="rect">
            <a:avLst/>
          </a:prstGeom>
          <a:noFill/>
          <a:ln/>
        </p:spPr>
        <p:txBody>
          <a:bodyPr wrap="square" lIns="0" tIns="0" rIns="0" bIns="0" rtlCol="0" anchor="ctr"/>
          <a:lstStyle/>
          <a:p>
            <a:pPr marL="0" indent="0">
              <a:buNone/>
            </a:pPr>
            <a:r>
              <a:rPr lang="en-US" sz="1020" b="1" dirty="0">
                <a:solidFill>
                  <a:srgbClr val="16324F"/>
                </a:solidFill>
                <a:latin typeface="Aptos" pitchFamily="34" charset="0"/>
                <a:ea typeface="Aptos" pitchFamily="34" charset="-122"/>
                <a:cs typeface="Aptos" pitchFamily="34" charset="-120"/>
              </a:rPr>
              <a:t>Example 3: IPAM / audit trail</a:t>
            </a:r>
            <a:endParaRPr lang="en-US" sz="1020" dirty="0"/>
          </a:p>
        </p:txBody>
      </p:sp>
      <p:sp>
        <p:nvSpPr>
          <p:cNvPr id="14" name="Text 11"/>
          <p:cNvSpPr/>
          <p:nvPr/>
        </p:nvSpPr>
        <p:spPr>
          <a:xfrm>
            <a:off x="548640" y="4983480"/>
            <a:ext cx="5577840" cy="868680"/>
          </a:xfrm>
          <a:prstGeom prst="rect">
            <a:avLst/>
          </a:prstGeom>
          <a:solidFill>
            <a:srgbClr val="1F2937"/>
          </a:solidFill>
          <a:ln w="12700">
            <a:solidFill>
              <a:srgbClr val="1F2937"/>
            </a:solidFill>
          </a:ln>
        </p:spPr>
        <p:txBody>
          <a:bodyPr wrap="square" lIns="2032" tIns="2032" rIns="2032" bIns="2032" rtlCol="0" anchor="ctr">
            <a:normAutofit/>
          </a:bodyPr>
          <a:lstStyle/>
          <a:p>
            <a:pPr marL="0" indent="0">
              <a:buNone/>
            </a:pPr>
            <a:r>
              <a:rPr lang="en-US" sz="1070" dirty="0">
                <a:solidFill>
                  <a:srgbClr val="F3F4F6"/>
                </a:solidFill>
                <a:latin typeface="Courier New" pitchFamily="34" charset="0"/>
                <a:ea typeface="Courier New" pitchFamily="34" charset="-122"/>
                <a:cs typeface="Courier New" pitchFamily="34" charset="-120"/>
              </a:rPr>
              <a:t>index=infoblox event_type=audit action IN (add,modify,delete)</a:t>
            </a:r>
            <a:endParaRPr lang="en-US" sz="1070" dirty="0"/>
          </a:p>
          <a:p>
            <a:pPr marL="0" indent="0">
              <a:buNone/>
            </a:pPr>
            <a:r>
              <a:rPr lang="en-US" sz="1070" dirty="0">
                <a:solidFill>
                  <a:srgbClr val="F3F4F6"/>
                </a:solidFill>
                <a:latin typeface="Courier New" pitchFamily="34" charset="0"/>
                <a:ea typeface="Courier New" pitchFamily="34" charset="-122"/>
                <a:cs typeface="Courier New" pitchFamily="34" charset="-120"/>
              </a:rPr>
              <a:t>| table _time user object_type object_name message member</a:t>
            </a:r>
            <a:endParaRPr lang="en-US" sz="1070" dirty="0"/>
          </a:p>
        </p:txBody>
      </p:sp>
      <p:sp>
        <p:nvSpPr>
          <p:cNvPr id="15" name="Text 12"/>
          <p:cNvSpPr/>
          <p:nvPr/>
        </p:nvSpPr>
        <p:spPr>
          <a:xfrm>
            <a:off x="6446520" y="5650992"/>
            <a:ext cx="5257800" cy="640080"/>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Search design tip
</a:t>
            </a:r>
            <a:r>
              <a:rPr lang="en-US" sz="1440" dirty="0">
                <a:solidFill>
                  <a:srgbClr val="23313F"/>
                </a:solidFill>
                <a:latin typeface="Aptos" pitchFamily="34" charset="0"/>
                <a:ea typeface="Aptos" pitchFamily="34" charset="-122"/>
                <a:cs typeface="Aptos" pitchFamily="34" charset="-120"/>
              </a:rPr>
              <a:t>Build searches that pivot on object, client, or member identity. Those pivots survive real incidents better than dashboard-only views.</a:t>
            </a:r>
            <a:endParaRPr lang="en-US" sz="1700" dirty="0"/>
          </a:p>
        </p:txBody>
      </p:sp>
      <p:sp>
        <p:nvSpPr>
          <p:cNvPr id="16" name="Shape 13"/>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7" name="Text 14"/>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Splunk searches</a:t>
            </a:r>
            <a:endParaRPr lang="en-US" sz="900" dirty="0"/>
          </a:p>
        </p:txBody>
      </p:sp>
      <p:sp>
        <p:nvSpPr>
          <p:cNvPr id="18" name="Text 15"/>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GRID OPERATIONS</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Grid architecture recap: read status before you change anything</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Most advanced operations start by proving the state of the Grid rather than jumping directly into service-level edits.</a:t>
            </a:r>
            <a:endParaRPr lang="en-US" sz="1050" dirty="0"/>
          </a:p>
        </p:txBody>
      </p:sp>
      <p:sp>
        <p:nvSpPr>
          <p:cNvPr id="7" name="Text 5"/>
          <p:cNvSpPr/>
          <p:nvPr/>
        </p:nvSpPr>
        <p:spPr>
          <a:xfrm>
            <a:off x="411480" y="1005840"/>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Grid Master governs change, members govern traffic
</a:t>
            </a:r>
            <a:r>
              <a:rPr lang="en-US" sz="1540" dirty="0">
                <a:solidFill>
                  <a:srgbClr val="23313F"/>
                </a:solidFill>
                <a:latin typeface="Aptos" pitchFamily="34" charset="0"/>
                <a:ea typeface="Aptos" pitchFamily="34" charset="-122"/>
                <a:cs typeface="Aptos" pitchFamily="34" charset="-120"/>
              </a:rPr>
              <a:t>A synchronized Grid means the configuration story is coherent. A healthy member means the service story is coherent. You need both, but they are not the same condition. Teams under pressure often confuse them and then take recovery actions appropriate for the wrong layer.</a:t>
            </a:r>
            <a:endParaRPr lang="en-US" sz="1700" dirty="0"/>
          </a:p>
        </p:txBody>
      </p:sp>
      <p:sp>
        <p:nvSpPr>
          <p:cNvPr id="8" name="Text 6"/>
          <p:cNvSpPr/>
          <p:nvPr/>
        </p:nvSpPr>
        <p:spPr>
          <a:xfrm>
            <a:off x="411480" y="2761488"/>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Read the UI status indicators critically
</a:t>
            </a:r>
            <a:r>
              <a:rPr lang="en-US" sz="1540" dirty="0">
                <a:solidFill>
                  <a:srgbClr val="23313F"/>
                </a:solidFill>
                <a:latin typeface="Aptos" pitchFamily="34" charset="0"/>
                <a:ea typeface="Aptos" pitchFamily="34" charset="-122"/>
                <a:cs typeface="Aptos" pitchFamily="34" charset="-120"/>
              </a:rPr>
              <a:t>States such as Running, Synchronizing, Offline, or HA Broken are not cosmetic. They tell you whether the appliance has the right data, whether the service is active, and whether a failover partner or Grid peer is behaving normally. These indicators should be part of every incident screenshot and change record.</a:t>
            </a:r>
            <a:endParaRPr lang="en-US" sz="1700" dirty="0"/>
          </a:p>
        </p:txBody>
      </p:sp>
      <p:sp>
        <p:nvSpPr>
          <p:cNvPr id="9" name="Text 7"/>
          <p:cNvSpPr/>
          <p:nvPr/>
        </p:nvSpPr>
        <p:spPr>
          <a:xfrm>
            <a:off x="411480" y="4517136"/>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Pending restart explains many “saved but not active” surprises
</a:t>
            </a:r>
            <a:r>
              <a:rPr lang="en-US" sz="1540" dirty="0">
                <a:solidFill>
                  <a:srgbClr val="23313F"/>
                </a:solidFill>
                <a:latin typeface="Aptos" pitchFamily="34" charset="0"/>
                <a:ea typeface="Aptos" pitchFamily="34" charset="-122"/>
                <a:cs typeface="Aptos" pitchFamily="34" charset="-120"/>
              </a:rPr>
              <a:t>In advanced environments, operators often forget that configuration may be saved but not active on the member until the relevant service restart occurs. That is especially important during DNS and DHCP changes where the UI and live traffic can briefly tell different stories.</a:t>
            </a:r>
            <a:endParaRPr lang="en-US" sz="1700" dirty="0"/>
          </a:p>
        </p:txBody>
      </p:sp>
      <p:pic>
        <p:nvPicPr>
          <p:cNvPr id="10" name="Image 0" descr="/mnt/data/infoblox_deck/assets/grid_manager_overview.png"/>
          <p:cNvPicPr>
            <a:picLocks noChangeAspect="1"/>
          </p:cNvPicPr>
          <p:nvPr/>
        </p:nvPicPr>
        <p:blipFill>
          <a:blip r:embed="rId3"/>
          <a:stretch>
            <a:fillRect/>
          </a:stretch>
        </p:blipFill>
        <p:spPr>
          <a:xfrm>
            <a:off x="7432548" y="1005840"/>
            <a:ext cx="4181856" cy="3584448"/>
          </a:xfrm>
          <a:prstGeom prst="rect">
            <a:avLst/>
          </a:prstGeom>
        </p:spPr>
      </p:pic>
      <p:sp>
        <p:nvSpPr>
          <p:cNvPr id="11" name="Text 8"/>
          <p:cNvSpPr/>
          <p:nvPr/>
        </p:nvSpPr>
        <p:spPr>
          <a:xfrm>
            <a:off x="7269480" y="4919472"/>
            <a:ext cx="4507992" cy="1133856"/>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Operator habit
</a:t>
            </a:r>
            <a:r>
              <a:rPr lang="en-US" sz="1480" dirty="0">
                <a:solidFill>
                  <a:srgbClr val="23313F"/>
                </a:solidFill>
                <a:latin typeface="Aptos" pitchFamily="34" charset="0"/>
                <a:ea typeface="Aptos" pitchFamily="34" charset="-122"/>
                <a:cs typeface="Aptos" pitchFamily="34" charset="-120"/>
              </a:rPr>
              <a:t>Before changing config during an incident, take a status snapshot: member state, service state, sync state, and whether any restarts are pending. It becomes your baseline when the situation evolves.</a:t>
            </a:r>
            <a:endParaRPr lang="en-US" sz="1700" dirty="0"/>
          </a:p>
        </p:txBody>
      </p:sp>
      <p:sp>
        <p:nvSpPr>
          <p:cNvPr id="12" name="Shape 9"/>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3" name="Text 10"/>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Grid operations</a:t>
            </a:r>
            <a:endParaRPr lang="en-US" sz="900" dirty="0"/>
          </a:p>
        </p:txBody>
      </p:sp>
      <p:sp>
        <p:nvSpPr>
          <p:cNvPr id="14" name="Text 11"/>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HA</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HA pair architecture and VRRP: what the passive node is really doing</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The passive node is not idle in the simplistic sense. It is learning state, listening for VRRP, and standing by to assume the VIP and virtual MAC.</a:t>
            </a:r>
            <a:endParaRPr lang="en-US" sz="1050" dirty="0"/>
          </a:p>
        </p:txBody>
      </p:sp>
      <p:sp>
        <p:nvSpPr>
          <p:cNvPr id="7" name="Text 5"/>
          <p:cNvSpPr/>
          <p:nvPr/>
        </p:nvSpPr>
        <p:spPr>
          <a:xfrm>
            <a:off x="411480" y="1005840"/>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HA in Infoblox is active and passive, not active and active
</a:t>
            </a:r>
            <a:r>
              <a:rPr lang="en-US" sz="1540" dirty="0">
                <a:solidFill>
                  <a:srgbClr val="23313F"/>
                </a:solidFill>
                <a:latin typeface="Aptos" pitchFamily="34" charset="0"/>
                <a:ea typeface="Aptos" pitchFamily="34" charset="-122"/>
                <a:cs typeface="Aptos" pitchFamily="34" charset="-120"/>
              </a:rPr>
              <a:t>Client traffic is served by the active node through the VIP. The passive node does not answer service traffic under normal conditions, but it continuously participates in the HA relationship so that takeover can happen quickly when the active node fails or when an operator initiates a controlled role swap.</a:t>
            </a:r>
            <a:endParaRPr lang="en-US" sz="1700" dirty="0"/>
          </a:p>
        </p:txBody>
      </p:sp>
      <p:sp>
        <p:nvSpPr>
          <p:cNvPr id="8" name="Text 6"/>
          <p:cNvSpPr/>
          <p:nvPr/>
        </p:nvSpPr>
        <p:spPr>
          <a:xfrm>
            <a:off x="411480" y="2761488"/>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Planning fundamentals: IP addressing and VRID
</a:t>
            </a:r>
            <a:r>
              <a:rPr lang="en-US" sz="1540" dirty="0">
                <a:solidFill>
                  <a:srgbClr val="23313F"/>
                </a:solidFill>
                <a:latin typeface="Aptos" pitchFamily="34" charset="0"/>
                <a:ea typeface="Aptos" pitchFamily="34" charset="-122"/>
                <a:cs typeface="Aptos" pitchFamily="34" charset="-120"/>
              </a:rPr>
              <a:t>Infoblox planning guidance calls for five IPv4 addresses on the same subnet for the pair, including the VIP and node-specific addresses. The HA pair also needs a unique VRID on that subnet so each node can recognize the correct VRRP advertisements for its own partnership.</a:t>
            </a:r>
            <a:endParaRPr lang="en-US" sz="1700" dirty="0"/>
          </a:p>
        </p:txBody>
      </p:sp>
      <p:sp>
        <p:nvSpPr>
          <p:cNvPr id="9" name="Text 7"/>
          <p:cNvSpPr/>
          <p:nvPr/>
        </p:nvSpPr>
        <p:spPr>
          <a:xfrm>
            <a:off x="411480" y="4517136"/>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Why same-subnet design is non-negotiable
</a:t>
            </a:r>
            <a:r>
              <a:rPr lang="en-US" sz="1540" dirty="0">
                <a:solidFill>
                  <a:srgbClr val="23313F"/>
                </a:solidFill>
                <a:latin typeface="Aptos" pitchFamily="34" charset="0"/>
                <a:ea typeface="Aptos" pitchFamily="34" charset="-122"/>
                <a:cs typeface="Aptos" pitchFamily="34" charset="-120"/>
              </a:rPr>
              <a:t>When teams violate the intended HA network design, the failure does not necessarily look like a clean HA error. It shows up as intermittent reachability, broken takeover, or a pair that appears half-healthy because control and client-facing traffic are learning different network truths.</a:t>
            </a:r>
            <a:endParaRPr lang="en-US" sz="1700" dirty="0"/>
          </a:p>
        </p:txBody>
      </p:sp>
      <p:pic>
        <p:nvPicPr>
          <p:cNvPr id="10" name="Image 0" descr="/mnt/data/infoblox_deck/assets/ha_pair_ui.png"/>
          <p:cNvPicPr>
            <a:picLocks noChangeAspect="1"/>
          </p:cNvPicPr>
          <p:nvPr/>
        </p:nvPicPr>
        <p:blipFill>
          <a:blip r:embed="rId3"/>
          <a:stretch>
            <a:fillRect/>
          </a:stretch>
        </p:blipFill>
        <p:spPr>
          <a:xfrm>
            <a:off x="7269480" y="1542594"/>
            <a:ext cx="4507992" cy="2510939"/>
          </a:xfrm>
          <a:prstGeom prst="rect">
            <a:avLst/>
          </a:prstGeom>
        </p:spPr>
      </p:pic>
      <p:sp>
        <p:nvSpPr>
          <p:cNvPr id="11" name="Text 8"/>
          <p:cNvSpPr/>
          <p:nvPr/>
        </p:nvSpPr>
        <p:spPr>
          <a:xfrm>
            <a:off x="7269480" y="4919472"/>
            <a:ext cx="4507992" cy="1133856"/>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Operator takeaway
</a:t>
            </a:r>
            <a:r>
              <a:rPr lang="en-US" sz="1480" dirty="0">
                <a:solidFill>
                  <a:srgbClr val="23313F"/>
                </a:solidFill>
                <a:latin typeface="Aptos" pitchFamily="34" charset="0"/>
                <a:ea typeface="Aptos" pitchFamily="34" charset="-122"/>
                <a:cs typeface="Aptos" pitchFamily="34" charset="-120"/>
              </a:rPr>
              <a:t>When HA behaves strangely, verify VRID, subnet design, and peer identity before blaming services. HA problems often begin as L2/L3 design problems.</a:t>
            </a:r>
            <a:endParaRPr lang="en-US" sz="1700" dirty="0"/>
          </a:p>
        </p:txBody>
      </p:sp>
      <p:sp>
        <p:nvSpPr>
          <p:cNvPr id="12" name="Shape 9"/>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3" name="Text 10"/>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HA</a:t>
            </a:r>
            <a:endParaRPr lang="en-US" sz="900" dirty="0"/>
          </a:p>
        </p:txBody>
      </p:sp>
      <p:sp>
        <p:nvSpPr>
          <p:cNvPr id="14" name="Text 11"/>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HA NETWORK DESIGN</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Network interface design in HA: HA ports, LAN ports, management access, and the encrypted tunnel</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This is where you explain why a pair can be reachable for one protocol but still be unhealthy for HA purposes.</a:t>
            </a:r>
            <a:endParaRPr lang="en-US" sz="1050" dirty="0"/>
          </a:p>
        </p:txBody>
      </p:sp>
      <p:sp>
        <p:nvSpPr>
          <p:cNvPr id="7" name="Text 5"/>
          <p:cNvSpPr/>
          <p:nvPr/>
        </p:nvSpPr>
        <p:spPr>
          <a:xfrm>
            <a:off x="411480" y="1005840"/>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Each interface role carries a different kind of truth
</a:t>
            </a:r>
            <a:r>
              <a:rPr lang="en-US" sz="1540" dirty="0">
                <a:solidFill>
                  <a:srgbClr val="23313F"/>
                </a:solidFill>
                <a:latin typeface="Aptos" pitchFamily="34" charset="0"/>
                <a:ea typeface="Aptos" pitchFamily="34" charset="-122"/>
                <a:cs typeface="Aptos" pitchFamily="34" charset="-120"/>
              </a:rPr>
              <a:t>The HA port is about pair relationship and VIP movement. LAN interfaces carry client-facing service traffic. Management access can behave differently depending on whether MGMT is enabled and whether the session is HTTPS or SSH. If you treat all interfaces as equivalent, troubleshooting becomes guesswork.</a:t>
            </a:r>
            <a:endParaRPr lang="en-US" sz="1700" dirty="0"/>
          </a:p>
        </p:txBody>
      </p:sp>
      <p:sp>
        <p:nvSpPr>
          <p:cNvPr id="8" name="Text 6"/>
          <p:cNvSpPr/>
          <p:nvPr/>
        </p:nvSpPr>
        <p:spPr>
          <a:xfrm>
            <a:off x="411480" y="2761488"/>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The nodes build an encrypted relationship, not just a shared VIP
</a:t>
            </a:r>
            <a:r>
              <a:rPr lang="en-US" sz="1540" dirty="0">
                <a:solidFill>
                  <a:srgbClr val="23313F"/>
                </a:solidFill>
                <a:latin typeface="Aptos" pitchFamily="34" charset="0"/>
                <a:ea typeface="Aptos" pitchFamily="34" charset="-122"/>
                <a:cs typeface="Aptos" pitchFamily="34" charset="-120"/>
              </a:rPr>
              <a:t>Infoblox HA uses authenticated key exchange and an encrypted VPN-style tunnel between peers. The documented control-plane ports matter operationally because firewalls, ACLs, or intermediate filtering can break synchronization even while basic reachability tests still appear healthy.</a:t>
            </a:r>
            <a:endParaRPr lang="en-US" sz="1700" dirty="0"/>
          </a:p>
        </p:txBody>
      </p:sp>
      <p:sp>
        <p:nvSpPr>
          <p:cNvPr id="9" name="Text 7"/>
          <p:cNvSpPr/>
          <p:nvPr/>
        </p:nvSpPr>
        <p:spPr>
          <a:xfrm>
            <a:off x="411480" y="4517136"/>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What to verify when sync is unstable
</a:t>
            </a:r>
            <a:r>
              <a:rPr lang="en-US" sz="1540" dirty="0">
                <a:solidFill>
                  <a:srgbClr val="23313F"/>
                </a:solidFill>
                <a:latin typeface="Aptos" pitchFamily="34" charset="0"/>
                <a:ea typeface="Aptos" pitchFamily="34" charset="-122"/>
                <a:cs typeface="Aptos" pitchFamily="34" charset="-120"/>
              </a:rPr>
              <a:t>Verify port reachability, same-subnet assumptions, cable or switch health, interface roles, and whether the team changed the VPN port or related Grid properties. An HA pair with a healthy LAN path but broken control path is one of the most deceptive failure modes in DDI operations.</a:t>
            </a:r>
            <a:endParaRPr lang="en-US" sz="1700" dirty="0"/>
          </a:p>
        </p:txBody>
      </p:sp>
      <p:pic>
        <p:nvPicPr>
          <p:cNvPr id="10" name="Image 0" descr="/mnt/data/infoblox_deck/assets/ha_ports.png"/>
          <p:cNvPicPr>
            <a:picLocks noChangeAspect="1"/>
          </p:cNvPicPr>
          <p:nvPr/>
        </p:nvPicPr>
        <p:blipFill>
          <a:blip r:embed="rId3"/>
          <a:stretch>
            <a:fillRect/>
          </a:stretch>
        </p:blipFill>
        <p:spPr>
          <a:xfrm>
            <a:off x="8339328" y="1005840"/>
            <a:ext cx="2368296" cy="1691640"/>
          </a:xfrm>
          <a:prstGeom prst="rect">
            <a:avLst/>
          </a:prstGeom>
        </p:spPr>
      </p:pic>
      <p:pic>
        <p:nvPicPr>
          <p:cNvPr id="11" name="Image 1" descr="/mnt/data/infoblox_deck/assets/grid_vpn_tunnel.png"/>
          <p:cNvPicPr>
            <a:picLocks noChangeAspect="1"/>
          </p:cNvPicPr>
          <p:nvPr/>
        </p:nvPicPr>
        <p:blipFill>
          <a:blip r:embed="rId4"/>
          <a:stretch>
            <a:fillRect/>
          </a:stretch>
        </p:blipFill>
        <p:spPr>
          <a:xfrm>
            <a:off x="8060105" y="2907792"/>
            <a:ext cx="2926741" cy="1691640"/>
          </a:xfrm>
          <a:prstGeom prst="rect">
            <a:avLst/>
          </a:prstGeom>
        </p:spPr>
      </p:pic>
      <p:sp>
        <p:nvSpPr>
          <p:cNvPr id="12" name="Text 8"/>
          <p:cNvSpPr/>
          <p:nvPr/>
        </p:nvSpPr>
        <p:spPr>
          <a:xfrm>
            <a:off x="7269480" y="4919472"/>
            <a:ext cx="4507992" cy="1133856"/>
          </a:xfrm>
          <a:prstGeom prst="rect">
            <a:avLst/>
          </a:prstGeom>
          <a:solidFill>
            <a:srgbClr val="FFF5E9"/>
          </a:solidFill>
          <a:ln w="12700">
            <a:solidFill>
              <a:srgbClr val="E6812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Field reminder
</a:t>
            </a:r>
            <a:r>
              <a:rPr lang="en-US" sz="1540" dirty="0">
                <a:solidFill>
                  <a:srgbClr val="23313F"/>
                </a:solidFill>
                <a:latin typeface="Aptos" pitchFamily="34" charset="0"/>
                <a:ea typeface="Aptos" pitchFamily="34" charset="-122"/>
                <a:cs typeface="Aptos" pitchFamily="34" charset="-120"/>
              </a:rPr>
              <a:t>If you changed firewall policy near a pair and HA became unstable, test the documented HA communication ports before you restart anything.</a:t>
            </a:r>
            <a:endParaRPr lang="en-US" sz="1700" dirty="0"/>
          </a:p>
        </p:txBody>
      </p:sp>
      <p:sp>
        <p:nvSpPr>
          <p:cNvPr id="13" name="Shape 9"/>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4" name="Text 10"/>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HA network design</a:t>
            </a:r>
            <a:endParaRPr lang="en-US" sz="900" dirty="0"/>
          </a:p>
        </p:txBody>
      </p:sp>
      <p:sp>
        <p:nvSpPr>
          <p:cNvPr id="15" name="Text 11"/>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HA FAILOVER</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What really happens during HA failover: VIP ownership, virtual MAC movement, and client impact</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A good HA lecture should explain both the appliance mechanics and the network-learning mechanics. You need both to understand post-failover symptoms.</a:t>
            </a:r>
            <a:endParaRPr lang="en-US" sz="1050" dirty="0"/>
          </a:p>
        </p:txBody>
      </p:sp>
      <p:sp>
        <p:nvSpPr>
          <p:cNvPr id="7" name="Text 5"/>
          <p:cNvSpPr/>
          <p:nvPr/>
        </p:nvSpPr>
        <p:spPr>
          <a:xfrm>
            <a:off x="411480" y="1005840"/>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Clients continue targeting the same service identity
</a:t>
            </a:r>
            <a:r>
              <a:rPr lang="en-US" sz="1540" dirty="0">
                <a:solidFill>
                  <a:srgbClr val="23313F"/>
                </a:solidFill>
                <a:latin typeface="Aptos" pitchFamily="34" charset="0"/>
                <a:ea typeface="Aptos" pitchFamily="34" charset="-122"/>
                <a:cs typeface="Aptos" pitchFamily="34" charset="-120"/>
              </a:rPr>
              <a:t>The whole point of the HA pair is that clients continue using the VIP and service identity rather than learning a new destination. On failover, the active role changes, but the client-facing service address does not. That allows continuity, but only if the network learns that the ownership has moved.</a:t>
            </a:r>
            <a:endParaRPr lang="en-US" sz="1700" dirty="0"/>
          </a:p>
        </p:txBody>
      </p:sp>
      <p:sp>
        <p:nvSpPr>
          <p:cNvPr id="8" name="Text 6"/>
          <p:cNvSpPr/>
          <p:nvPr/>
        </p:nvSpPr>
        <p:spPr>
          <a:xfrm>
            <a:off x="411480" y="2761488"/>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The virtual MAC is as important as the VIP
</a:t>
            </a:r>
            <a:r>
              <a:rPr lang="en-US" sz="1540" dirty="0">
                <a:solidFill>
                  <a:srgbClr val="23313F"/>
                </a:solidFill>
                <a:latin typeface="Aptos" pitchFamily="34" charset="0"/>
                <a:ea typeface="Aptos" pitchFamily="34" charset="-122"/>
                <a:cs typeface="Aptos" pitchFamily="34" charset="-120"/>
              </a:rPr>
              <a:t>The pair shares a virtual MAC in addition to the VIP. After failover, the new active node owns both. If adjacent switches or hosts do not refresh ARP and CAM state quickly enough, traffic may continue heading toward the old active path and the pair will look broken even though the HA role change succeeded.</a:t>
            </a:r>
            <a:endParaRPr lang="en-US" sz="1700" dirty="0"/>
          </a:p>
        </p:txBody>
      </p:sp>
      <p:sp>
        <p:nvSpPr>
          <p:cNvPr id="9" name="Text 7"/>
          <p:cNvSpPr/>
          <p:nvPr/>
        </p:nvSpPr>
        <p:spPr>
          <a:xfrm>
            <a:off x="411480" y="4517136"/>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What “minimal interruption” really means
</a:t>
            </a:r>
            <a:r>
              <a:rPr lang="en-US" sz="1540" dirty="0">
                <a:solidFill>
                  <a:srgbClr val="23313F"/>
                </a:solidFill>
                <a:latin typeface="Aptos" pitchFamily="34" charset="0"/>
                <a:ea typeface="Aptos" pitchFamily="34" charset="-122"/>
                <a:cs typeface="Aptos" pitchFamily="34" charset="-120"/>
              </a:rPr>
              <a:t>In-flight transactions can still be interrupted briefly during role change, especially if clients or applications are sensitive to even short DNS or DHCP delays. The correct expectation is brief interruption with fast recovery, not the total absence of any observable blip in every client workflow.</a:t>
            </a:r>
            <a:endParaRPr lang="en-US" sz="1700" dirty="0"/>
          </a:p>
        </p:txBody>
      </p:sp>
      <p:pic>
        <p:nvPicPr>
          <p:cNvPr id="10" name="Image 0" descr="/mnt/data/infoblox_deck/assets/ha_vip_virtual_mac.png"/>
          <p:cNvPicPr>
            <a:picLocks noChangeAspect="1"/>
          </p:cNvPicPr>
          <p:nvPr/>
        </p:nvPicPr>
        <p:blipFill>
          <a:blip r:embed="rId3"/>
          <a:stretch>
            <a:fillRect/>
          </a:stretch>
        </p:blipFill>
        <p:spPr>
          <a:xfrm>
            <a:off x="8319790" y="1005840"/>
            <a:ext cx="2407372" cy="3584448"/>
          </a:xfrm>
          <a:prstGeom prst="rect">
            <a:avLst/>
          </a:prstGeom>
        </p:spPr>
      </p:pic>
      <p:sp>
        <p:nvSpPr>
          <p:cNvPr id="11" name="Text 8"/>
          <p:cNvSpPr/>
          <p:nvPr/>
        </p:nvSpPr>
        <p:spPr>
          <a:xfrm>
            <a:off x="7269480" y="4919472"/>
            <a:ext cx="4507992" cy="1133856"/>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Validation sequence
</a:t>
            </a:r>
            <a:r>
              <a:rPr lang="en-US" sz="1480" dirty="0">
                <a:solidFill>
                  <a:srgbClr val="23313F"/>
                </a:solidFill>
                <a:latin typeface="Aptos" pitchFamily="34" charset="0"/>
                <a:ea typeface="Aptos" pitchFamily="34" charset="-122"/>
                <a:cs typeface="Aptos" pitchFamily="34" charset="-120"/>
              </a:rPr>
              <a:t>After failover, test from the appliance, from a nearby client, and from the switch perspective. Check HA state, ARP tables, and CAM learning before you conclude the new active node is unhealthy.</a:t>
            </a:r>
            <a:endParaRPr lang="en-US" sz="1700" dirty="0"/>
          </a:p>
        </p:txBody>
      </p:sp>
      <p:sp>
        <p:nvSpPr>
          <p:cNvPr id="12" name="Shape 9"/>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3" name="Text 10"/>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HA failover</a:t>
            </a:r>
            <a:endParaRPr lang="en-US" sz="900" dirty="0"/>
          </a:p>
        </p:txBody>
      </p:sp>
      <p:sp>
        <p:nvSpPr>
          <p:cNvPr id="14" name="Text 11"/>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26</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TAKEOVER</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HA in Grid members, manual takeover, and Grid Master Candidate promotion are not the same event</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Advanced operators distinguish local pair failover from Grid control-plane disaster recovery. The wrong procedure on the wrong problem can enlarge the outage.</a:t>
            </a:r>
            <a:endParaRPr lang="en-US" sz="1050" dirty="0"/>
          </a:p>
        </p:txBody>
      </p:sp>
      <p:sp>
        <p:nvSpPr>
          <p:cNvPr id="7" name="Text 5"/>
          <p:cNvSpPr/>
          <p:nvPr/>
        </p:nvSpPr>
        <p:spPr>
          <a:xfrm>
            <a:off x="411480" y="1005840"/>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Member takeover is a service-continuity action
</a:t>
            </a:r>
            <a:r>
              <a:rPr lang="en-US" sz="1540" dirty="0">
                <a:solidFill>
                  <a:srgbClr val="23313F"/>
                </a:solidFill>
                <a:latin typeface="Aptos" pitchFamily="34" charset="0"/>
                <a:ea typeface="Aptos" pitchFamily="34" charset="-122"/>
                <a:cs typeface="Aptos" pitchFamily="34" charset="-120"/>
              </a:rPr>
              <a:t>When a member HA pair changes active node, the member identity remains conceptually the same from the Grid perspective. Services follow the VIP. The main question is whether the pair remained healthy and whether clients learned the new path quickly enough.</a:t>
            </a:r>
            <a:endParaRPr lang="en-US" sz="1700" dirty="0"/>
          </a:p>
        </p:txBody>
      </p:sp>
      <p:sp>
        <p:nvSpPr>
          <p:cNvPr id="8" name="Text 6"/>
          <p:cNvSpPr/>
          <p:nvPr/>
        </p:nvSpPr>
        <p:spPr>
          <a:xfrm>
            <a:off x="411480" y="2761488"/>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Grid Master Candidate promotion is control-plane disaster recovery
</a:t>
            </a:r>
            <a:r>
              <a:rPr lang="en-US" sz="1540" dirty="0">
                <a:solidFill>
                  <a:srgbClr val="23313F"/>
                </a:solidFill>
                <a:latin typeface="Aptos" pitchFamily="34" charset="0"/>
                <a:ea typeface="Aptos" pitchFamily="34" charset="-122"/>
                <a:cs typeface="Aptos" pitchFamily="34" charset="-120"/>
              </a:rPr>
              <a:t>Promoting a Grid Master Candidate is a different class of event. It is about recovering the Grid database and change control when the Grid Master is lost. Document the promote-master procedure, test it in advance, and ensure the documented communication ports are open between candidate and members.</a:t>
            </a:r>
            <a:endParaRPr lang="en-US" sz="1700" dirty="0"/>
          </a:p>
        </p:txBody>
      </p:sp>
      <p:sp>
        <p:nvSpPr>
          <p:cNvPr id="9" name="Text 7"/>
          <p:cNvSpPr/>
          <p:nvPr/>
        </p:nvSpPr>
        <p:spPr>
          <a:xfrm>
            <a:off x="411480" y="4517136"/>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Use staged restarts when recovering the Grid
</a:t>
            </a:r>
            <a:r>
              <a:rPr lang="en-US" sz="1540" dirty="0">
                <a:solidFill>
                  <a:srgbClr val="23313F"/>
                </a:solidFill>
                <a:latin typeface="Aptos" pitchFamily="34" charset="0"/>
                <a:ea typeface="Aptos" pitchFamily="34" charset="-122"/>
                <a:cs typeface="Aptos" pitchFamily="34" charset="-120"/>
              </a:rPr>
              <a:t>Infoblox guidance notes that staggered member restarts can reduce avoidable DNS interruption during candidate promotion. That is a crucial teaching point: recovery should preserve service stability, not simply restore administrative control as fast as possible at any cost.</a:t>
            </a:r>
            <a:endParaRPr lang="en-US" sz="1700" dirty="0"/>
          </a:p>
        </p:txBody>
      </p:sp>
      <p:pic>
        <p:nvPicPr>
          <p:cNvPr id="10" name="Image 0" descr="/mnt/data/infoblox_deck/assets/ha_broken.png"/>
          <p:cNvPicPr>
            <a:picLocks noChangeAspect="1"/>
          </p:cNvPicPr>
          <p:nvPr/>
        </p:nvPicPr>
        <p:blipFill>
          <a:blip r:embed="rId3"/>
          <a:stretch>
            <a:fillRect/>
          </a:stretch>
        </p:blipFill>
        <p:spPr>
          <a:xfrm>
            <a:off x="7269480" y="1576272"/>
            <a:ext cx="4507992" cy="2443584"/>
          </a:xfrm>
          <a:prstGeom prst="rect">
            <a:avLst/>
          </a:prstGeom>
        </p:spPr>
      </p:pic>
      <p:sp>
        <p:nvSpPr>
          <p:cNvPr id="11" name="Text 8"/>
          <p:cNvSpPr/>
          <p:nvPr/>
        </p:nvSpPr>
        <p:spPr>
          <a:xfrm>
            <a:off x="7269480" y="4919472"/>
            <a:ext cx="4507992" cy="1133856"/>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Decision test
</a:t>
            </a:r>
            <a:r>
              <a:rPr lang="en-US" sz="1480" dirty="0">
                <a:solidFill>
                  <a:srgbClr val="23313F"/>
                </a:solidFill>
                <a:latin typeface="Aptos" pitchFamily="34" charset="0"/>
                <a:ea typeface="Aptos" pitchFamily="34" charset="-122"/>
                <a:cs typeface="Aptos" pitchFamily="34" charset="-120"/>
              </a:rPr>
              <a:t>Ask: is this a pair continuity problem, or is it a Grid control-plane problem? If DNS and DHCP are still serving but the Grid Master is lost, do not treat it like a service failover event.</a:t>
            </a:r>
            <a:endParaRPr lang="en-US" sz="1700" dirty="0"/>
          </a:p>
        </p:txBody>
      </p:sp>
      <p:sp>
        <p:nvSpPr>
          <p:cNvPr id="12" name="Shape 9"/>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3" name="Text 10"/>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Takeover</a:t>
            </a:r>
            <a:endParaRPr lang="en-US" sz="900" dirty="0"/>
          </a:p>
        </p:txBody>
      </p:sp>
      <p:sp>
        <p:nvSpPr>
          <p:cNvPr id="14" name="Text 11"/>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27</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MAC AND SWITCHING</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MAC address communication: why a healthy failover can still look unhealthy on the network</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This slide is deliberately network-centric because many Infoblox HA incidents are diagnosed too narrowly as appliance problems.</a:t>
            </a:r>
            <a:endParaRPr lang="en-US" sz="1050" dirty="0"/>
          </a:p>
        </p:txBody>
      </p:sp>
      <p:sp>
        <p:nvSpPr>
          <p:cNvPr id="7" name="Shape 5"/>
          <p:cNvSpPr/>
          <p:nvPr/>
        </p:nvSpPr>
        <p:spPr>
          <a:xfrm>
            <a:off x="1965960" y="2148840"/>
            <a:ext cx="1325880" cy="0"/>
          </a:xfrm>
          <a:prstGeom prst="line">
            <a:avLst/>
          </a:prstGeom>
          <a:noFill/>
          <a:ln w="25400">
            <a:solidFill>
              <a:srgbClr val="4B7F1E"/>
            </a:solidFill>
            <a:prstDash val="solid"/>
            <a:headEnd type="none"/>
            <a:tailEnd type="triangle"/>
          </a:ln>
        </p:spPr>
        <p:txBody>
          <a:bodyPr/>
          <a:lstStyle/>
          <a:p>
            <a:endParaRPr lang="en-US"/>
          </a:p>
        </p:txBody>
      </p:sp>
      <p:sp>
        <p:nvSpPr>
          <p:cNvPr id="8" name="Shape 6"/>
          <p:cNvSpPr/>
          <p:nvPr/>
        </p:nvSpPr>
        <p:spPr>
          <a:xfrm>
            <a:off x="7360920" y="2148840"/>
            <a:ext cx="0" cy="0"/>
          </a:xfrm>
          <a:prstGeom prst="line">
            <a:avLst/>
          </a:prstGeom>
          <a:noFill/>
          <a:ln w="25400">
            <a:solidFill>
              <a:srgbClr val="4B7F1E"/>
            </a:solidFill>
            <a:prstDash val="solid"/>
            <a:headEnd type="none"/>
            <a:tailEnd type="triangle"/>
          </a:ln>
        </p:spPr>
        <p:txBody>
          <a:bodyPr/>
          <a:lstStyle/>
          <a:p>
            <a:endParaRPr lang="en-US"/>
          </a:p>
        </p:txBody>
      </p:sp>
      <p:sp>
        <p:nvSpPr>
          <p:cNvPr id="9" name="Shape 7"/>
          <p:cNvSpPr/>
          <p:nvPr/>
        </p:nvSpPr>
        <p:spPr>
          <a:xfrm>
            <a:off x="6099048" y="2788920"/>
            <a:ext cx="0" cy="960120"/>
          </a:xfrm>
          <a:prstGeom prst="line">
            <a:avLst/>
          </a:prstGeom>
          <a:noFill/>
          <a:ln w="25400">
            <a:solidFill>
              <a:srgbClr val="0E79C1"/>
            </a:solidFill>
            <a:prstDash val="solid"/>
            <a:headEnd type="none"/>
            <a:tailEnd type="triangle"/>
          </a:ln>
        </p:spPr>
        <p:txBody>
          <a:bodyPr/>
          <a:lstStyle/>
          <a:p>
            <a:endParaRPr lang="en-US"/>
          </a:p>
        </p:txBody>
      </p:sp>
      <p:sp>
        <p:nvSpPr>
          <p:cNvPr id="10" name="Text 8"/>
          <p:cNvSpPr/>
          <p:nvPr/>
        </p:nvSpPr>
        <p:spPr>
          <a:xfrm>
            <a:off x="685800" y="1417320"/>
            <a:ext cx="2103120" cy="1005840"/>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Old active node
</a:t>
            </a:r>
            <a:r>
              <a:rPr lang="en-US" sz="1440" dirty="0">
                <a:solidFill>
                  <a:srgbClr val="23313F"/>
                </a:solidFill>
                <a:latin typeface="Aptos" pitchFamily="34" charset="0"/>
                <a:ea typeface="Aptos" pitchFamily="34" charset="-122"/>
                <a:cs typeface="Aptos" pitchFamily="34" charset="-120"/>
              </a:rPr>
              <a:t>Before failover, the switch learned the virtual MAC on this path.</a:t>
            </a:r>
            <a:endParaRPr lang="en-US" sz="1700" dirty="0"/>
          </a:p>
        </p:txBody>
      </p:sp>
      <p:sp>
        <p:nvSpPr>
          <p:cNvPr id="11" name="Text 9"/>
          <p:cNvSpPr/>
          <p:nvPr/>
        </p:nvSpPr>
        <p:spPr>
          <a:xfrm>
            <a:off x="3794760" y="1463040"/>
            <a:ext cx="4617720" cy="914400"/>
          </a:xfrm>
          <a:prstGeom prst="rect">
            <a:avLst/>
          </a:prstGeom>
          <a:solidFill>
            <a:srgbClr val="EEF6FB"/>
          </a:solidFill>
          <a:ln w="12700">
            <a:solidFill>
              <a:srgbClr val="0E79C1"/>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0E79C1"/>
                </a:solidFill>
                <a:latin typeface="Aptos" pitchFamily="34" charset="0"/>
                <a:ea typeface="Aptos" pitchFamily="34" charset="-122"/>
                <a:cs typeface="Aptos" pitchFamily="34" charset="-120"/>
              </a:rPr>
              <a:t>VIP + virtual MAC
</a:t>
            </a:r>
            <a:r>
              <a:rPr lang="en-US" sz="1480" dirty="0">
                <a:solidFill>
                  <a:srgbClr val="23313F"/>
                </a:solidFill>
                <a:latin typeface="Aptos" pitchFamily="34" charset="0"/>
                <a:ea typeface="Aptos" pitchFamily="34" charset="-122"/>
                <a:cs typeface="Aptos" pitchFamily="34" charset="-120"/>
              </a:rPr>
              <a:t>The client-facing service identity does not change; ownership moves.</a:t>
            </a:r>
            <a:endParaRPr lang="en-US" sz="1700" dirty="0"/>
          </a:p>
        </p:txBody>
      </p:sp>
      <p:sp>
        <p:nvSpPr>
          <p:cNvPr id="12" name="Text 10"/>
          <p:cNvSpPr/>
          <p:nvPr/>
        </p:nvSpPr>
        <p:spPr>
          <a:xfrm>
            <a:off x="9372600" y="1417320"/>
            <a:ext cx="2103120" cy="1005840"/>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4B7F1E"/>
                </a:solidFill>
                <a:latin typeface="Aptos" pitchFamily="34" charset="0"/>
                <a:ea typeface="Aptos" pitchFamily="34" charset="-122"/>
                <a:cs typeface="Aptos" pitchFamily="34" charset="-120"/>
              </a:rPr>
              <a:t>New active node
</a:t>
            </a:r>
            <a:r>
              <a:rPr lang="en-US" sz="1440" dirty="0">
                <a:solidFill>
                  <a:srgbClr val="23313F"/>
                </a:solidFill>
                <a:latin typeface="Aptos" pitchFamily="34" charset="0"/>
                <a:ea typeface="Aptos" pitchFamily="34" charset="-122"/>
                <a:cs typeface="Aptos" pitchFamily="34" charset="-120"/>
              </a:rPr>
              <a:t>After failover, this node owns the same VIP and virtual MAC.</a:t>
            </a:r>
            <a:endParaRPr lang="en-US" sz="1700" dirty="0"/>
          </a:p>
        </p:txBody>
      </p:sp>
      <p:sp>
        <p:nvSpPr>
          <p:cNvPr id="13" name="Text 11"/>
          <p:cNvSpPr/>
          <p:nvPr/>
        </p:nvSpPr>
        <p:spPr>
          <a:xfrm>
            <a:off x="4114800" y="2788920"/>
            <a:ext cx="3977640" cy="868680"/>
          </a:xfrm>
          <a:prstGeom prst="rect">
            <a:avLst/>
          </a:prstGeom>
          <a:solidFill>
            <a:srgbClr val="FFF5E9"/>
          </a:solidFill>
          <a:ln w="12700">
            <a:solidFill>
              <a:srgbClr val="E6812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E6812F"/>
                </a:solidFill>
                <a:latin typeface="Aptos" pitchFamily="34" charset="0"/>
                <a:ea typeface="Aptos" pitchFamily="34" charset="-122"/>
                <a:cs typeface="Aptos" pitchFamily="34" charset="-120"/>
              </a:rPr>
              <a:t>Gratuitous ARP / switch relearn
</a:t>
            </a:r>
            <a:r>
              <a:rPr lang="en-US" sz="1420" dirty="0">
                <a:solidFill>
                  <a:srgbClr val="23313F"/>
                </a:solidFill>
                <a:latin typeface="Aptos" pitchFamily="34" charset="0"/>
                <a:ea typeface="Aptos" pitchFamily="34" charset="-122"/>
                <a:cs typeface="Aptos" pitchFamily="34" charset="-120"/>
              </a:rPr>
              <a:t>The network must update where it believes the virtual MAC lives.</a:t>
            </a:r>
            <a:endParaRPr lang="en-US" sz="1700" dirty="0"/>
          </a:p>
        </p:txBody>
      </p:sp>
      <p:sp>
        <p:nvSpPr>
          <p:cNvPr id="14" name="Text 12"/>
          <p:cNvSpPr/>
          <p:nvPr/>
        </p:nvSpPr>
        <p:spPr>
          <a:xfrm>
            <a:off x="685800" y="4069080"/>
            <a:ext cx="3474720" cy="1417320"/>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Common post-failover symptom
</a:t>
            </a:r>
            <a:r>
              <a:rPr lang="en-US" sz="1480" dirty="0">
                <a:solidFill>
                  <a:srgbClr val="23313F"/>
                </a:solidFill>
                <a:latin typeface="Aptos" pitchFamily="34" charset="0"/>
                <a:ea typeface="Aptos" pitchFamily="34" charset="-122"/>
                <a:cs typeface="Aptos" pitchFamily="34" charset="-120"/>
              </a:rPr>
              <a:t>DNS queries or DHCP requests succeed from one test point but fail from another because some devices or switches still point traffic toward the old active path. Operators then assume the new active node is unhealthy when the real problem is stale L2/L3 learning.</a:t>
            </a:r>
            <a:endParaRPr lang="en-US" sz="1700" dirty="0"/>
          </a:p>
        </p:txBody>
      </p:sp>
      <p:sp>
        <p:nvSpPr>
          <p:cNvPr id="15" name="Text 13"/>
          <p:cNvSpPr/>
          <p:nvPr/>
        </p:nvSpPr>
        <p:spPr>
          <a:xfrm>
            <a:off x="4434840" y="4069080"/>
            <a:ext cx="3291840" cy="1417320"/>
          </a:xfrm>
          <a:prstGeom prst="rect">
            <a:avLst/>
          </a:prstGeom>
          <a:solidFill>
            <a:srgbClr val="EEF6FB"/>
          </a:solidFill>
          <a:ln w="12700">
            <a:solidFill>
              <a:srgbClr val="0E79C1"/>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Troubleshooting sequence
</a:t>
            </a:r>
            <a:r>
              <a:rPr lang="en-US" sz="1480" dirty="0">
                <a:solidFill>
                  <a:srgbClr val="23313F"/>
                </a:solidFill>
                <a:latin typeface="Aptos" pitchFamily="34" charset="0"/>
                <a:ea typeface="Aptos" pitchFamily="34" charset="-122"/>
                <a:cs typeface="Aptos" pitchFamily="34" charset="-120"/>
              </a:rPr>
              <a:t>1) Confirm pair state. 2) Inspect switch CAM and nearby host ARP. 3) Test from a directly adjacent client. 4) Capture on the relevant LAN or HA interface only if the path still disagrees with the appliance state.</a:t>
            </a:r>
            <a:endParaRPr lang="en-US" sz="1700" dirty="0"/>
          </a:p>
        </p:txBody>
      </p:sp>
      <p:sp>
        <p:nvSpPr>
          <p:cNvPr id="16" name="Text 14"/>
          <p:cNvSpPr/>
          <p:nvPr/>
        </p:nvSpPr>
        <p:spPr>
          <a:xfrm>
            <a:off x="8001000" y="4069080"/>
            <a:ext cx="3474720" cy="1417320"/>
          </a:xfrm>
          <a:prstGeom prst="rect">
            <a:avLst/>
          </a:prstGeom>
          <a:solidFill>
            <a:srgbClr val="FDEEEE"/>
          </a:solidFill>
          <a:ln w="12700">
            <a:solidFill>
              <a:srgbClr val="D9534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D9534F"/>
                </a:solidFill>
                <a:latin typeface="Aptos" pitchFamily="34" charset="0"/>
                <a:ea typeface="Aptos" pitchFamily="34" charset="-122"/>
                <a:cs typeface="Aptos" pitchFamily="34" charset="-120"/>
              </a:rPr>
              <a:t>Edge case worth teaching
</a:t>
            </a:r>
            <a:r>
              <a:rPr lang="en-US" sz="1480" dirty="0">
                <a:solidFill>
                  <a:srgbClr val="23313F"/>
                </a:solidFill>
                <a:latin typeface="Aptos" pitchFamily="34" charset="0"/>
                <a:ea typeface="Aptos" pitchFamily="34" charset="-122"/>
                <a:cs typeface="Aptos" pitchFamily="34" charset="-120"/>
              </a:rPr>
              <a:t>Public Infoblox guidance notes that certain suspend or unsuspend scenarios can pin the VRRP MAC to one appliance and make HA look broken. That is rare, but it is a good reminder to include network learning in every HA diagnosis.</a:t>
            </a:r>
            <a:endParaRPr lang="en-US" sz="1700" dirty="0"/>
          </a:p>
        </p:txBody>
      </p:sp>
      <p:sp>
        <p:nvSpPr>
          <p:cNvPr id="17" name="Shape 15"/>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8" name="Text 16"/>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MAC communication</a:t>
            </a:r>
            <a:endParaRPr lang="en-US" sz="900" dirty="0"/>
          </a:p>
        </p:txBody>
      </p:sp>
      <p:sp>
        <p:nvSpPr>
          <p:cNvPr id="19" name="Text 17"/>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28</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LICENSING</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License model: static member licenses, pool licenses, grid-wide licenses, and operational order of operations</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Advanced operators treat licensing as part of platform design and change control, not as paperwork handled only during procurement.</a:t>
            </a:r>
            <a:endParaRPr lang="en-US" sz="1050" dirty="0"/>
          </a:p>
        </p:txBody>
      </p:sp>
      <p:sp>
        <p:nvSpPr>
          <p:cNvPr id="7" name="Text 5"/>
          <p:cNvSpPr/>
          <p:nvPr/>
        </p:nvSpPr>
        <p:spPr>
          <a:xfrm>
            <a:off x="411480" y="1005840"/>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Static versus pool versus grid-wide
</a:t>
            </a:r>
            <a:r>
              <a:rPr lang="en-US" sz="1540" dirty="0">
                <a:solidFill>
                  <a:srgbClr val="23313F"/>
                </a:solidFill>
                <a:latin typeface="Aptos" pitchFamily="34" charset="0"/>
                <a:ea typeface="Aptos" pitchFamily="34" charset="-122"/>
                <a:cs typeface="Aptos" pitchFamily="34" charset="-120"/>
              </a:rPr>
              <a:t>Member or static licenses are tied to a specific appliance identity. Pool licenses float and can be allocated more flexibly. Grid-wide licenses are associated with the Grid Master UID and enable capabilities across the environment. Understanding which category a feature falls into matters when you move roles or recover systems.</a:t>
            </a:r>
            <a:endParaRPr lang="en-US" sz="1700" dirty="0"/>
          </a:p>
        </p:txBody>
      </p:sp>
      <p:sp>
        <p:nvSpPr>
          <p:cNvPr id="8" name="Text 6"/>
          <p:cNvSpPr/>
          <p:nvPr/>
        </p:nvSpPr>
        <p:spPr>
          <a:xfrm>
            <a:off x="411480" y="2761488"/>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Install in the right order
</a:t>
            </a:r>
            <a:r>
              <a:rPr lang="en-US" sz="1540" dirty="0">
                <a:solidFill>
                  <a:srgbClr val="23313F"/>
                </a:solidFill>
                <a:latin typeface="Aptos" pitchFamily="34" charset="0"/>
                <a:ea typeface="Aptos" pitchFamily="34" charset="-122"/>
                <a:cs typeface="Aptos" pitchFamily="34" charset="-120"/>
              </a:rPr>
              <a:t>The usual safe sequence is to apply the base NIOS license first, wait for any required restart, and then apply additional feature licenses such as DNS, DHCP, Grid, RPZ, Microsoft management, or reporting-related features. If you reverse the order, the platform can behave in ways that look like partial failure rather than simple missing entitlement.</a:t>
            </a:r>
            <a:endParaRPr lang="en-US" sz="1700" dirty="0"/>
          </a:p>
        </p:txBody>
      </p:sp>
      <p:sp>
        <p:nvSpPr>
          <p:cNvPr id="9" name="Text 7"/>
          <p:cNvSpPr/>
          <p:nvPr/>
        </p:nvSpPr>
        <p:spPr>
          <a:xfrm>
            <a:off x="411480" y="4517136"/>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Design implication for HA and migration
</a:t>
            </a:r>
            <a:r>
              <a:rPr lang="en-US" sz="1540" dirty="0">
                <a:solidFill>
                  <a:srgbClr val="23313F"/>
                </a:solidFill>
                <a:latin typeface="Aptos" pitchFamily="34" charset="0"/>
                <a:ea typeface="Aptos" pitchFamily="34" charset="-122"/>
                <a:cs typeface="Aptos" pitchFamily="34" charset="-120"/>
              </a:rPr>
              <a:t>Licenses need to match the service roles your appliances may assume, not just the roles they have today. If a passive HA node or replacement member lacks the necessary feature entitlement, failover or recovery may technically occur but the expected services will not be available afterward.</a:t>
            </a:r>
            <a:endParaRPr lang="en-US" sz="1700" dirty="0"/>
          </a:p>
        </p:txBody>
      </p:sp>
      <p:pic>
        <p:nvPicPr>
          <p:cNvPr id="10" name="Image 0" descr="/mnt/data/infoblox_deck/assets/licenses_tab.png"/>
          <p:cNvPicPr>
            <a:picLocks noChangeAspect="1"/>
          </p:cNvPicPr>
          <p:nvPr/>
        </p:nvPicPr>
        <p:blipFill>
          <a:blip r:embed="rId3"/>
          <a:stretch>
            <a:fillRect/>
          </a:stretch>
        </p:blipFill>
        <p:spPr>
          <a:xfrm>
            <a:off x="7269480" y="1894515"/>
            <a:ext cx="4507992" cy="1807097"/>
          </a:xfrm>
          <a:prstGeom prst="rect">
            <a:avLst/>
          </a:prstGeom>
        </p:spPr>
      </p:pic>
      <p:sp>
        <p:nvSpPr>
          <p:cNvPr id="11" name="Text 8"/>
          <p:cNvSpPr/>
          <p:nvPr/>
        </p:nvSpPr>
        <p:spPr>
          <a:xfrm>
            <a:off x="7269480" y="4919472"/>
            <a:ext cx="4507992" cy="1133856"/>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Operational rule
</a:t>
            </a:r>
            <a:r>
              <a:rPr lang="en-US" sz="1480" dirty="0">
                <a:solidFill>
                  <a:srgbClr val="23313F"/>
                </a:solidFill>
                <a:latin typeface="Aptos" pitchFamily="34" charset="0"/>
                <a:ea typeface="Aptos" pitchFamily="34" charset="-122"/>
                <a:cs typeface="Aptos" pitchFamily="34" charset="-120"/>
              </a:rPr>
              <a:t>Record license type, feature, appliance, expiry date, and Grid Master UID in your operational documentation. That turns emergency recovery from guesswork into a checklist.</a:t>
            </a:r>
            <a:endParaRPr lang="en-US" sz="1700" dirty="0"/>
          </a:p>
        </p:txBody>
      </p:sp>
      <p:sp>
        <p:nvSpPr>
          <p:cNvPr id="12" name="Shape 9"/>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3" name="Text 10"/>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Licensing</a:t>
            </a:r>
            <a:endParaRPr lang="en-US" sz="900" dirty="0"/>
          </a:p>
        </p:txBody>
      </p:sp>
      <p:sp>
        <p:nvSpPr>
          <p:cNvPr id="14" name="Text 11"/>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29</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LICENSING</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License failure scenarios and monitoring: temporary licenses, expiry, and mismatched HA pairs</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This is one of the most under-taught Infoblox topics because licensing problems often masquerade as service or membership problems.</a:t>
            </a:r>
            <a:endParaRPr lang="en-US" sz="1050" dirty="0"/>
          </a:p>
        </p:txBody>
      </p:sp>
      <p:sp>
        <p:nvSpPr>
          <p:cNvPr id="7" name="Text 5"/>
          <p:cNvSpPr/>
          <p:nvPr/>
        </p:nvSpPr>
        <p:spPr>
          <a:xfrm>
            <a:off x="411480" y="1005840"/>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Temporary licenses are operationally dangerous when forgotten
</a:t>
            </a:r>
            <a:r>
              <a:rPr lang="en-US" sz="1540" dirty="0">
                <a:solidFill>
                  <a:srgbClr val="23313F"/>
                </a:solidFill>
                <a:latin typeface="Aptos" pitchFamily="34" charset="0"/>
                <a:ea typeface="Aptos" pitchFamily="34" charset="-122"/>
                <a:cs typeface="Aptos" pitchFamily="34" charset="-120"/>
              </a:rPr>
              <a:t>Temporary licenses are useful in labs, emergency recovery, or staged deployments, but public Infoblox guidance notes that expiry can stop services and even evict a member from the Grid. In production that can look like a spontaneous appliance or membership failure when the real issue is entitlement expiry.</a:t>
            </a:r>
            <a:endParaRPr lang="en-US" sz="1700" dirty="0"/>
          </a:p>
        </p:txBody>
      </p:sp>
      <p:sp>
        <p:nvSpPr>
          <p:cNvPr id="8" name="Text 6"/>
          <p:cNvSpPr/>
          <p:nvPr/>
        </p:nvSpPr>
        <p:spPr>
          <a:xfrm>
            <a:off x="411480" y="2761488"/>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Mismatched license coverage creates asymmetric recovery risk
</a:t>
            </a:r>
            <a:r>
              <a:rPr lang="en-US" sz="1540" dirty="0">
                <a:solidFill>
                  <a:srgbClr val="23313F"/>
                </a:solidFill>
                <a:latin typeface="Aptos" pitchFamily="34" charset="0"/>
                <a:ea typeface="Aptos" pitchFamily="34" charset="-122"/>
                <a:cs typeface="Aptos" pitchFamily="34" charset="-120"/>
              </a:rPr>
              <a:t>An HA pair may look fine while the active node owns the required features, but recovery fails when the peer takes over without equivalent entitlement. The same risk exists during migration when services are moved to a new member whose hardware and network are ready but whose feature license set is incomplete.</a:t>
            </a:r>
            <a:endParaRPr lang="en-US" sz="1700" dirty="0"/>
          </a:p>
        </p:txBody>
      </p:sp>
      <p:sp>
        <p:nvSpPr>
          <p:cNvPr id="9" name="Text 7"/>
          <p:cNvSpPr/>
          <p:nvPr/>
        </p:nvSpPr>
        <p:spPr>
          <a:xfrm>
            <a:off x="411480" y="4517136"/>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What to monitor proactively
</a:t>
            </a:r>
            <a:r>
              <a:rPr lang="en-US" sz="1540" dirty="0">
                <a:solidFill>
                  <a:srgbClr val="23313F"/>
                </a:solidFill>
                <a:latin typeface="Aptos" pitchFamily="34" charset="0"/>
                <a:ea typeface="Aptos" pitchFamily="34" charset="-122"/>
                <a:cs typeface="Aptos" pitchFamily="34" charset="-120"/>
              </a:rPr>
              <a:t>Track days to expiry, mismatched features between active and passive peers, and any use of temporary licensing outside explicitly approved windows. In Splunk or reporting, those are easy high-value alerts because they prevent avoidable outages rather than merely describing them afterward.</a:t>
            </a:r>
            <a:endParaRPr lang="en-US" sz="1700" dirty="0"/>
          </a:p>
        </p:txBody>
      </p:sp>
      <p:pic>
        <p:nvPicPr>
          <p:cNvPr id="10" name="Image 0" descr="/mnt/data/infoblox_deck/assets/license_cli.png"/>
          <p:cNvPicPr>
            <a:picLocks noChangeAspect="1"/>
          </p:cNvPicPr>
          <p:nvPr/>
        </p:nvPicPr>
        <p:blipFill>
          <a:blip r:embed="rId3"/>
          <a:stretch>
            <a:fillRect/>
          </a:stretch>
        </p:blipFill>
        <p:spPr>
          <a:xfrm>
            <a:off x="7269480" y="1493804"/>
            <a:ext cx="4507992" cy="2608521"/>
          </a:xfrm>
          <a:prstGeom prst="rect">
            <a:avLst/>
          </a:prstGeom>
        </p:spPr>
      </p:pic>
      <p:sp>
        <p:nvSpPr>
          <p:cNvPr id="11" name="Text 8"/>
          <p:cNvSpPr/>
          <p:nvPr/>
        </p:nvSpPr>
        <p:spPr>
          <a:xfrm>
            <a:off x="7269480" y="4919472"/>
            <a:ext cx="4507992" cy="1133856"/>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Runbook item
</a:t>
            </a:r>
            <a:r>
              <a:rPr lang="en-US" sz="1480" dirty="0">
                <a:solidFill>
                  <a:srgbClr val="23313F"/>
                </a:solidFill>
                <a:latin typeface="Aptos" pitchFamily="34" charset="0"/>
                <a:ea typeface="Aptos" pitchFamily="34" charset="-122"/>
                <a:cs typeface="Aptos" pitchFamily="34" charset="-120"/>
              </a:rPr>
              <a:t>Keep the recovery path for licensing with the DR runbook: Grid Master UID, appliance IDs, feature inventory, and who can obtain replacement or corrected licenses quickly.</a:t>
            </a:r>
            <a:endParaRPr lang="en-US" sz="1700" dirty="0"/>
          </a:p>
        </p:txBody>
      </p:sp>
      <p:sp>
        <p:nvSpPr>
          <p:cNvPr id="12" name="Shape 9"/>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3" name="Text 10"/>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Licensing</a:t>
            </a:r>
            <a:endParaRPr lang="en-US" sz="900" dirty="0"/>
          </a:p>
        </p:txBody>
      </p:sp>
      <p:sp>
        <p:nvSpPr>
          <p:cNvPr id="14" name="Text 11"/>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30</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CERTIFICATES</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Certificate management on the Grid Master and members: a reliable lifecycle</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Walk through the lifecycle in order so the audience does not reduce certificates to “upload a file and hope the browser likes it.”</a:t>
            </a:r>
            <a:endParaRPr lang="en-US" sz="1050" dirty="0"/>
          </a:p>
        </p:txBody>
      </p:sp>
      <p:sp>
        <p:nvSpPr>
          <p:cNvPr id="7" name="Text 5"/>
          <p:cNvSpPr/>
          <p:nvPr/>
        </p:nvSpPr>
        <p:spPr>
          <a:xfrm>
            <a:off x="411480" y="1234440"/>
            <a:ext cx="2739314" cy="960120"/>
          </a:xfrm>
          <a:prstGeom prst="rect">
            <a:avLst/>
          </a:prstGeom>
          <a:solidFill>
            <a:srgbClr val="F5F7F9"/>
          </a:solidFill>
          <a:ln w="12700">
            <a:solidFill>
              <a:srgbClr val="D7DEE5"/>
            </a:solidFill>
          </a:ln>
          <a:effectLst>
            <a:outerShdw blurRad="12700" dist="12700" dir="2700000" algn="bl" rotWithShape="0">
              <a:srgbClr val="000000">
                <a:alpha val="14000"/>
              </a:srgbClr>
            </a:outerShdw>
          </a:effectLst>
        </p:spPr>
        <p:txBody>
          <a:bodyPr wrap="square" lIns="1778" tIns="1778" rIns="1778" bIns="1778" rtlCol="0" anchor="ctr">
            <a:normAutofit/>
          </a:bodyPr>
          <a:lstStyle/>
          <a:p>
            <a:pPr marL="0" indent="0">
              <a:buNone/>
            </a:pPr>
            <a:r>
              <a:rPr lang="en-US" sz="1700" b="1" dirty="0">
                <a:solidFill>
                  <a:srgbClr val="16324F"/>
                </a:solidFill>
              </a:rPr>
              <a:t>1. Generate or request
</a:t>
            </a:r>
            <a:r>
              <a:rPr lang="en-US" sz="1470" dirty="0">
                <a:solidFill>
                  <a:srgbClr val="23313F"/>
                </a:solidFill>
              </a:rPr>
              <a:t>Create a CSR or choose the approved certificate source. Ensure CN and SAN values match how admins actually access the Grid Master or member.</a:t>
            </a:r>
            <a:endParaRPr lang="en-US" sz="1700" dirty="0"/>
          </a:p>
        </p:txBody>
      </p:sp>
      <p:sp>
        <p:nvSpPr>
          <p:cNvPr id="8" name="Text 6"/>
          <p:cNvSpPr/>
          <p:nvPr/>
        </p:nvSpPr>
        <p:spPr>
          <a:xfrm>
            <a:off x="3287954" y="1234440"/>
            <a:ext cx="2739314" cy="960120"/>
          </a:xfrm>
          <a:prstGeom prst="rect">
            <a:avLst/>
          </a:prstGeom>
          <a:solidFill>
            <a:srgbClr val="EEF6FB"/>
          </a:solidFill>
          <a:ln w="12700">
            <a:solidFill>
              <a:srgbClr val="0E79C1"/>
            </a:solidFill>
          </a:ln>
          <a:effectLst>
            <a:outerShdw blurRad="12700" dist="12700" dir="2700000" algn="bl" rotWithShape="0">
              <a:srgbClr val="000000">
                <a:alpha val="14000"/>
              </a:srgbClr>
            </a:outerShdw>
          </a:effectLst>
        </p:spPr>
        <p:txBody>
          <a:bodyPr wrap="square" lIns="1778" tIns="1778" rIns="1778" bIns="1778" rtlCol="0" anchor="ctr">
            <a:normAutofit/>
          </a:bodyPr>
          <a:lstStyle/>
          <a:p>
            <a:pPr marL="0" indent="0">
              <a:buNone/>
            </a:pPr>
            <a:r>
              <a:rPr lang="en-US" sz="1700" b="1" dirty="0">
                <a:solidFill>
                  <a:srgbClr val="16324F"/>
                </a:solidFill>
              </a:rPr>
              <a:t>2. Obtain full chain
</a:t>
            </a:r>
            <a:r>
              <a:rPr lang="en-US" sz="1470" dirty="0">
                <a:solidFill>
                  <a:srgbClr val="23313F"/>
                </a:solidFill>
              </a:rPr>
              <a:t>Collect the server certificate and any required intermediate or CA certificates in the required format, typically PEM.</a:t>
            </a:r>
            <a:endParaRPr lang="en-US" sz="1700" dirty="0"/>
          </a:p>
        </p:txBody>
      </p:sp>
      <p:sp>
        <p:nvSpPr>
          <p:cNvPr id="9" name="Text 7"/>
          <p:cNvSpPr/>
          <p:nvPr/>
        </p:nvSpPr>
        <p:spPr>
          <a:xfrm>
            <a:off x="6164428" y="1234440"/>
            <a:ext cx="2739314" cy="960120"/>
          </a:xfrm>
          <a:prstGeom prst="rect">
            <a:avLst/>
          </a:prstGeom>
          <a:solidFill>
            <a:srgbClr val="FFF5E9"/>
          </a:solidFill>
          <a:ln w="12700">
            <a:solidFill>
              <a:srgbClr val="E6812F"/>
            </a:solidFill>
          </a:ln>
          <a:effectLst>
            <a:outerShdw blurRad="12700" dist="12700" dir="2700000" algn="bl" rotWithShape="0">
              <a:srgbClr val="000000">
                <a:alpha val="14000"/>
              </a:srgbClr>
            </a:outerShdw>
          </a:effectLst>
        </p:spPr>
        <p:txBody>
          <a:bodyPr wrap="square" lIns="1778" tIns="1778" rIns="1778" bIns="1778" rtlCol="0" anchor="ctr">
            <a:normAutofit/>
          </a:bodyPr>
          <a:lstStyle/>
          <a:p>
            <a:pPr marL="0" indent="0">
              <a:buNone/>
            </a:pPr>
            <a:r>
              <a:rPr lang="en-US" sz="1700" b="1" dirty="0">
                <a:solidFill>
                  <a:srgbClr val="16324F"/>
                </a:solidFill>
              </a:rPr>
              <a:t>3. Upload and replace
</a:t>
            </a:r>
            <a:r>
              <a:rPr lang="en-US" sz="1470" dirty="0">
                <a:solidFill>
                  <a:srgbClr val="23313F"/>
                </a:solidFill>
              </a:rPr>
              <a:t>Upload the HTTPS certificate to the Grid Master or member. Be ready for the session to end because replacing the certificate can log administrators out.</a:t>
            </a:r>
            <a:endParaRPr lang="en-US" sz="1700" dirty="0"/>
          </a:p>
        </p:txBody>
      </p:sp>
      <p:sp>
        <p:nvSpPr>
          <p:cNvPr id="10" name="Text 8"/>
          <p:cNvSpPr/>
          <p:nvPr/>
        </p:nvSpPr>
        <p:spPr>
          <a:xfrm>
            <a:off x="9040901" y="1234440"/>
            <a:ext cx="2739314" cy="960120"/>
          </a:xfrm>
          <a:prstGeom prst="rect">
            <a:avLst/>
          </a:prstGeom>
          <a:solidFill>
            <a:srgbClr val="F1F9E8"/>
          </a:solidFill>
          <a:ln w="12700">
            <a:solidFill>
              <a:srgbClr val="8BC53F"/>
            </a:solidFill>
          </a:ln>
          <a:effectLst>
            <a:outerShdw blurRad="12700" dist="12700" dir="2700000" algn="bl" rotWithShape="0">
              <a:srgbClr val="000000">
                <a:alpha val="14000"/>
              </a:srgbClr>
            </a:outerShdw>
          </a:effectLst>
        </p:spPr>
        <p:txBody>
          <a:bodyPr wrap="square" lIns="1778" tIns="1778" rIns="1778" bIns="1778" rtlCol="0" anchor="ctr">
            <a:normAutofit/>
          </a:bodyPr>
          <a:lstStyle/>
          <a:p>
            <a:pPr marL="0" indent="0">
              <a:buNone/>
            </a:pPr>
            <a:r>
              <a:rPr lang="en-US" sz="1700" b="1" dirty="0">
                <a:solidFill>
                  <a:srgbClr val="16324F"/>
                </a:solidFill>
              </a:rPr>
              <a:t>4. Verify and monitor
</a:t>
            </a:r>
            <a:r>
              <a:rPr lang="en-US" sz="1470" dirty="0">
                <a:solidFill>
                  <a:srgbClr val="23313F"/>
                </a:solidFill>
              </a:rPr>
              <a:t>Reconnect using the intended FQDN, validate trust, confirm member communication, and record expiry for proactive renewal.</a:t>
            </a:r>
            <a:endParaRPr lang="en-US" sz="1700" dirty="0"/>
          </a:p>
        </p:txBody>
      </p:sp>
      <p:sp>
        <p:nvSpPr>
          <p:cNvPr id="11" name="Text 9"/>
          <p:cNvSpPr/>
          <p:nvPr/>
        </p:nvSpPr>
        <p:spPr>
          <a:xfrm>
            <a:off x="411480" y="2395728"/>
            <a:ext cx="3679850" cy="3493008"/>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Scope matters
</a:t>
            </a:r>
            <a:r>
              <a:rPr lang="en-US" sz="1540" dirty="0">
                <a:solidFill>
                  <a:srgbClr val="23313F"/>
                </a:solidFill>
                <a:latin typeface="Aptos" pitchFamily="34" charset="0"/>
                <a:ea typeface="Aptos" pitchFamily="34" charset="-122"/>
                <a:cs typeface="Aptos" pitchFamily="34" charset="-120"/>
              </a:rPr>
              <a:t>Think in layers: the Grid Master web interface certificate, member certificates, and CA trust stores are related but not identical concerns. A browser trust error is not the same operational event as a member trust or synchronization issue, even if both are certificate-adjacent.</a:t>
            </a:r>
            <a:endParaRPr lang="en-US" sz="1700" dirty="0"/>
          </a:p>
        </p:txBody>
      </p:sp>
      <p:sp>
        <p:nvSpPr>
          <p:cNvPr id="12" name="Text 10"/>
          <p:cNvSpPr/>
          <p:nvPr/>
        </p:nvSpPr>
        <p:spPr>
          <a:xfrm>
            <a:off x="4255922" y="2395728"/>
            <a:ext cx="3679850" cy="3493008"/>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Why naming discipline matters
</a:t>
            </a:r>
            <a:r>
              <a:rPr lang="en-US" sz="1540" dirty="0">
                <a:solidFill>
                  <a:srgbClr val="23313F"/>
                </a:solidFill>
                <a:latin typeface="Aptos" pitchFamily="34" charset="0"/>
                <a:ea typeface="Aptos" pitchFamily="34" charset="-122"/>
                <a:cs typeface="Aptos" pitchFamily="34" charset="-120"/>
              </a:rPr>
              <a:t>If admins reach the Grid by short name one day and by FQDN the next, certificate validation will seem inconsistent. Use stable administrative access names and document them so renewal events do not introduce avoidable confusion.</a:t>
            </a:r>
            <a:endParaRPr lang="en-US" sz="1700" dirty="0"/>
          </a:p>
        </p:txBody>
      </p:sp>
      <p:sp>
        <p:nvSpPr>
          <p:cNvPr id="13" name="Text 11"/>
          <p:cNvSpPr/>
          <p:nvPr/>
        </p:nvSpPr>
        <p:spPr>
          <a:xfrm>
            <a:off x="8100365" y="2395728"/>
            <a:ext cx="3679850" cy="3493008"/>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Monitoring rule
</a:t>
            </a:r>
            <a:r>
              <a:rPr lang="en-US" sz="1540" dirty="0">
                <a:solidFill>
                  <a:srgbClr val="23313F"/>
                </a:solidFill>
                <a:latin typeface="Aptos" pitchFamily="34" charset="0"/>
                <a:ea typeface="Aptos" pitchFamily="34" charset="-122"/>
                <a:cs typeface="Aptos" pitchFamily="34" charset="-120"/>
              </a:rPr>
              <a:t>Track certificate expiry the same way you track license expiry: centrally, with lead time, and with explicit ownership. The right time to discover a missing intermediate certificate is not during an emergency browser login to the Grid Master.</a:t>
            </a:r>
            <a:endParaRPr lang="en-US" sz="1700" dirty="0"/>
          </a:p>
        </p:txBody>
      </p:sp>
      <p:sp>
        <p:nvSpPr>
          <p:cNvPr id="14" name="Shape 12"/>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5" name="Text 13"/>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Certificates</a:t>
            </a:r>
            <a:endParaRPr lang="en-US" sz="900" dirty="0"/>
          </a:p>
        </p:txBody>
      </p:sp>
      <p:sp>
        <p:nvSpPr>
          <p:cNvPr id="16" name="Text 14"/>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31</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CERTIFICATES</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Composite certificate case: the cert was “replaced successfully,” but admins still saw trust warnings and sync concerns</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This scenario is common enough that every advanced Infoblox class should cover it.</a:t>
            </a:r>
            <a:endParaRPr lang="en-US" sz="1050" dirty="0"/>
          </a:p>
        </p:txBody>
      </p:sp>
      <p:sp>
        <p:nvSpPr>
          <p:cNvPr id="7" name="Text 5"/>
          <p:cNvSpPr/>
          <p:nvPr/>
        </p:nvSpPr>
        <p:spPr>
          <a:xfrm>
            <a:off x="411480" y="1005840"/>
            <a:ext cx="5577840" cy="4526280"/>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What the team observed
</a:t>
            </a:r>
            <a:r>
              <a:rPr lang="en-US" sz="1540" dirty="0">
                <a:solidFill>
                  <a:srgbClr val="23313F"/>
                </a:solidFill>
                <a:latin typeface="Aptos" pitchFamily="34" charset="0"/>
                <a:ea typeface="Aptos" pitchFamily="34" charset="-122"/>
                <a:cs typeface="Aptos" pitchFamily="34" charset="-120"/>
              </a:rPr>
              <a:t>• The Grid Master certificate was replaced during a maintenance window and the upload itself appeared to succeed.</a:t>
            </a:r>
            <a:endParaRPr lang="en-US" sz="1700" dirty="0"/>
          </a:p>
          <a:p>
            <a:pPr marL="0" indent="0">
              <a:buNone/>
            </a:pPr>
            <a:endParaRPr lang="en-US" sz="1700" dirty="0"/>
          </a:p>
          <a:p>
            <a:pPr marL="0" indent="0">
              <a:buNone/>
            </a:pPr>
            <a:r>
              <a:rPr lang="en-US" sz="1540" dirty="0">
                <a:solidFill>
                  <a:srgbClr val="23313F"/>
                </a:solidFill>
                <a:latin typeface="Aptos" pitchFamily="34" charset="0"/>
                <a:ea typeface="Aptos" pitchFamily="34" charset="-122"/>
                <a:cs typeface="Aptos" pitchFamily="34" charset="-120"/>
              </a:rPr>
              <a:t>• Some admins could reconnect only after bypassing a browser warning, while others reported that the certificate still looked invalid.</a:t>
            </a:r>
            <a:endParaRPr lang="en-US" sz="1700" dirty="0"/>
          </a:p>
          <a:p>
            <a:pPr marL="0" indent="0">
              <a:buNone/>
            </a:pPr>
            <a:endParaRPr lang="en-US" sz="1700" dirty="0"/>
          </a:p>
          <a:p>
            <a:pPr marL="0" indent="0">
              <a:buNone/>
            </a:pPr>
            <a:r>
              <a:rPr lang="en-US" sz="1540" dirty="0">
                <a:solidFill>
                  <a:srgbClr val="23313F"/>
                </a:solidFill>
                <a:latin typeface="Aptos" pitchFamily="34" charset="0"/>
                <a:ea typeface="Aptos" pitchFamily="34" charset="-122"/>
                <a:cs typeface="Aptos" pitchFamily="34" charset="-120"/>
              </a:rPr>
              <a:t>• Around the same time, a few member communication or admin-login anomalies appeared, which tempted the team to blame a broader software issue.</a:t>
            </a:r>
            <a:endParaRPr lang="en-US" sz="1700" dirty="0"/>
          </a:p>
        </p:txBody>
      </p:sp>
      <p:sp>
        <p:nvSpPr>
          <p:cNvPr id="8" name="Text 6"/>
          <p:cNvSpPr/>
          <p:nvPr/>
        </p:nvSpPr>
        <p:spPr>
          <a:xfrm>
            <a:off x="6199632" y="1005840"/>
            <a:ext cx="5577840" cy="4526280"/>
          </a:xfrm>
          <a:prstGeom prst="rect">
            <a:avLst/>
          </a:prstGeom>
          <a:solidFill>
            <a:srgbClr val="EEF6FB"/>
          </a:solidFill>
          <a:ln w="12700">
            <a:solidFill>
              <a:srgbClr val="0E79C1"/>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What the root cause analysis found
</a:t>
            </a:r>
            <a:r>
              <a:rPr lang="en-US" sz="1540" dirty="0">
                <a:solidFill>
                  <a:srgbClr val="23313F"/>
                </a:solidFill>
                <a:latin typeface="Aptos" pitchFamily="34" charset="0"/>
                <a:ea typeface="Aptos" pitchFamily="34" charset="-122"/>
                <a:cs typeface="Aptos" pitchFamily="34" charset="-120"/>
              </a:rPr>
              <a:t>• The server certificate had been uploaded without the full intermediate chain, so some clients could not build trust even though the leaf certificate was present.</a:t>
            </a:r>
            <a:endParaRPr lang="en-US" sz="1700" dirty="0"/>
          </a:p>
          <a:p>
            <a:pPr marL="0" indent="0">
              <a:buNone/>
            </a:pPr>
            <a:endParaRPr lang="en-US" sz="1700" dirty="0"/>
          </a:p>
          <a:p>
            <a:pPr marL="0" indent="0">
              <a:buNone/>
            </a:pPr>
            <a:r>
              <a:rPr lang="en-US" sz="1540" dirty="0">
                <a:solidFill>
                  <a:srgbClr val="23313F"/>
                </a:solidFill>
                <a:latin typeface="Aptos" pitchFamily="34" charset="0"/>
                <a:ea typeface="Aptos" pitchFamily="34" charset="-122"/>
                <a:cs typeface="Aptos" pitchFamily="34" charset="-120"/>
              </a:rPr>
              <a:t>• The access URL used by administrators was inconsistent with the certificate naming.</a:t>
            </a:r>
            <a:endParaRPr lang="en-US" sz="1700" dirty="0"/>
          </a:p>
          <a:p>
            <a:pPr marL="0" indent="0">
              <a:buNone/>
            </a:pPr>
            <a:endParaRPr lang="en-US" sz="1700" dirty="0"/>
          </a:p>
          <a:p>
            <a:pPr marL="0" indent="0">
              <a:buNone/>
            </a:pPr>
            <a:r>
              <a:rPr lang="en-US" sz="1540" dirty="0">
                <a:solidFill>
                  <a:srgbClr val="23313F"/>
                </a:solidFill>
                <a:latin typeface="Aptos" pitchFamily="34" charset="0"/>
                <a:ea typeface="Aptos" pitchFamily="34" charset="-122"/>
                <a:cs typeface="Aptos" pitchFamily="34" charset="-120"/>
              </a:rPr>
              <a:t>• Time synchronization drift made troubleshooting noisier because certificate validity checks and log timelines did not line up cleanly.</a:t>
            </a:r>
            <a:endParaRPr lang="en-US" sz="1700" dirty="0"/>
          </a:p>
          <a:p>
            <a:pPr marL="0" indent="0">
              <a:buNone/>
            </a:pPr>
            <a:endParaRPr lang="en-US" sz="1700" dirty="0"/>
          </a:p>
          <a:p>
            <a:pPr marL="0" indent="0">
              <a:buNone/>
            </a:pPr>
            <a:r>
              <a:rPr lang="en-US" sz="1540" dirty="0">
                <a:solidFill>
                  <a:srgbClr val="23313F"/>
                </a:solidFill>
                <a:latin typeface="Aptos" pitchFamily="34" charset="0"/>
                <a:ea typeface="Aptos" pitchFamily="34" charset="-122"/>
                <a:cs typeface="Aptos" pitchFamily="34" charset="-120"/>
              </a:rPr>
              <a:t>• Recovery required importing the correct CA chain, validating the intended FQDN, correcting time/NTP where needed, and then re-verifying member and admin behavior.</a:t>
            </a:r>
            <a:endParaRPr lang="en-US" sz="1700" dirty="0"/>
          </a:p>
        </p:txBody>
      </p:sp>
      <p:sp>
        <p:nvSpPr>
          <p:cNvPr id="9" name="Text 7"/>
          <p:cNvSpPr/>
          <p:nvPr/>
        </p:nvSpPr>
        <p:spPr>
          <a:xfrm>
            <a:off x="411480" y="5650992"/>
            <a:ext cx="11368735" cy="493776"/>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Monitoring cues
</a:t>
            </a:r>
            <a:r>
              <a:rPr lang="en-US" sz="1540" dirty="0">
                <a:solidFill>
                  <a:srgbClr val="23313F"/>
                </a:solidFill>
                <a:latin typeface="Aptos" pitchFamily="34" charset="0"/>
                <a:ea typeface="Aptos" pitchFamily="34" charset="-122"/>
                <a:cs typeface="Aptos" pitchFamily="34" charset="-120"/>
              </a:rPr>
              <a:t>Watch for expiring certificates, failed admin logins after certificate changes, NTP drift, and recent certificate-upload audit events. Those signals together often explain certificate incidents faster than browser screenshots alone.</a:t>
            </a:r>
            <a:endParaRPr lang="en-US" sz="1700" dirty="0"/>
          </a:p>
        </p:txBody>
      </p:sp>
      <p:sp>
        <p:nvSpPr>
          <p:cNvPr id="10" name="Shape 8"/>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1" name="Text 9"/>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Certificates</a:t>
            </a:r>
            <a:endParaRPr lang="en-US" sz="900" dirty="0"/>
          </a:p>
        </p:txBody>
      </p:sp>
      <p:sp>
        <p:nvSpPr>
          <p:cNvPr id="12" name="Text 10"/>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32</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HA TROUBLESHOOTING</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HA pair troubleshooting playbook</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This slide is intentionally procedural. The class should leave with a repeatable order of operations rather than a collection of vague tips.</a:t>
            </a:r>
            <a:endParaRPr lang="en-US" sz="1050" dirty="0"/>
          </a:p>
        </p:txBody>
      </p:sp>
      <p:sp>
        <p:nvSpPr>
          <p:cNvPr id="7" name="Text 5"/>
          <p:cNvSpPr/>
          <p:nvPr/>
        </p:nvSpPr>
        <p:spPr>
          <a:xfrm>
            <a:off x="411480" y="1005840"/>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Step 1: establish actual pair state
</a:t>
            </a:r>
            <a:r>
              <a:rPr lang="en-US" sz="1540" dirty="0">
                <a:solidFill>
                  <a:srgbClr val="23313F"/>
                </a:solidFill>
                <a:latin typeface="Aptos" pitchFamily="34" charset="0"/>
                <a:ea typeface="Aptos" pitchFamily="34" charset="-122"/>
                <a:cs typeface="Aptos" pitchFamily="34" charset="-120"/>
              </a:rPr>
              <a:t>Use Grid Manager or CLI to determine whether the pair is healthy, HA Broken, offline, or simply serving from the expected active node. Do not rely on a client symptom alone to infer pair state; a client path problem can mimic a pair problem.</a:t>
            </a:r>
            <a:endParaRPr lang="en-US" sz="1700" dirty="0"/>
          </a:p>
        </p:txBody>
      </p:sp>
      <p:sp>
        <p:nvSpPr>
          <p:cNvPr id="8" name="Text 6"/>
          <p:cNvSpPr/>
          <p:nvPr/>
        </p:nvSpPr>
        <p:spPr>
          <a:xfrm>
            <a:off x="411480" y="2761488"/>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Step 2: validate the network assumptions behind HA
</a:t>
            </a:r>
            <a:r>
              <a:rPr lang="en-US" sz="1540" dirty="0">
                <a:solidFill>
                  <a:srgbClr val="23313F"/>
                </a:solidFill>
                <a:latin typeface="Aptos" pitchFamily="34" charset="0"/>
                <a:ea typeface="Aptos" pitchFamily="34" charset="-122"/>
                <a:cs typeface="Aptos" pitchFamily="34" charset="-120"/>
              </a:rPr>
              <a:t>Check HA cabling, same-subnet design, VRID, firewall policy, the HA tunnel, and the LAN path that carries the VIP. Then confirm that the switch and nearby hosts have relearned the virtual MAC and ARP state if failover occurred.</a:t>
            </a:r>
            <a:endParaRPr lang="en-US" sz="1700" dirty="0"/>
          </a:p>
        </p:txBody>
      </p:sp>
      <p:sp>
        <p:nvSpPr>
          <p:cNvPr id="9" name="Text 7"/>
          <p:cNvSpPr/>
          <p:nvPr/>
        </p:nvSpPr>
        <p:spPr>
          <a:xfrm>
            <a:off x="411480" y="4517136"/>
            <a:ext cx="6583680" cy="1591056"/>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Step 3: decide whether to hold steady or intervene
</a:t>
            </a:r>
            <a:r>
              <a:rPr lang="en-US" sz="1540" dirty="0">
                <a:solidFill>
                  <a:srgbClr val="23313F"/>
                </a:solidFill>
                <a:latin typeface="Aptos" pitchFamily="34" charset="0"/>
                <a:ea typeface="Aptos" pitchFamily="34" charset="-122"/>
                <a:cs typeface="Aptos" pitchFamily="34" charset="-120"/>
              </a:rPr>
              <a:t>If the pair is stable on one node, aggressive intervention can enlarge the outage. Sometimes the safest response is to keep the current active node, collect evidence, and repair the passive side later. Reserve manual takeover or rejoin actions for situations where you understand the failure domain.</a:t>
            </a:r>
            <a:endParaRPr lang="en-US" sz="1700" dirty="0"/>
          </a:p>
        </p:txBody>
      </p:sp>
      <p:pic>
        <p:nvPicPr>
          <p:cNvPr id="10" name="Image 0" descr="/mnt/data/infoblox_deck/assets/members_status.png"/>
          <p:cNvPicPr>
            <a:picLocks noChangeAspect="1"/>
          </p:cNvPicPr>
          <p:nvPr/>
        </p:nvPicPr>
        <p:blipFill>
          <a:blip r:embed="rId3"/>
          <a:stretch>
            <a:fillRect/>
          </a:stretch>
        </p:blipFill>
        <p:spPr>
          <a:xfrm>
            <a:off x="7426574" y="1005840"/>
            <a:ext cx="4193804" cy="3584448"/>
          </a:xfrm>
          <a:prstGeom prst="rect">
            <a:avLst/>
          </a:prstGeom>
        </p:spPr>
      </p:pic>
      <p:sp>
        <p:nvSpPr>
          <p:cNvPr id="11" name="Text 8"/>
          <p:cNvSpPr/>
          <p:nvPr/>
        </p:nvSpPr>
        <p:spPr>
          <a:xfrm>
            <a:off x="7269480" y="4919472"/>
            <a:ext cx="4507992" cy="1133856"/>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Evidence to save before escalation
</a:t>
            </a:r>
            <a:r>
              <a:rPr lang="en-US" sz="1480" dirty="0">
                <a:solidFill>
                  <a:srgbClr val="23313F"/>
                </a:solidFill>
                <a:latin typeface="Aptos" pitchFamily="34" charset="0"/>
                <a:ea typeface="Aptos" pitchFamily="34" charset="-122"/>
                <a:cs typeface="Aptos" pitchFamily="34" charset="-120"/>
              </a:rPr>
              <a:t>Status screenshots, recent HA events, switch ARP/CAM output, interface checks, and timing of any recent network policy changes. Those pieces make vendor escalation dramatically faster if needed.</a:t>
            </a:r>
            <a:endParaRPr lang="en-US" sz="1700" dirty="0"/>
          </a:p>
        </p:txBody>
      </p:sp>
      <p:sp>
        <p:nvSpPr>
          <p:cNvPr id="12" name="Shape 9"/>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3" name="Text 10"/>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HA troubleshooting</a:t>
            </a:r>
            <a:endParaRPr lang="en-US" sz="900" dirty="0"/>
          </a:p>
        </p:txBody>
      </p:sp>
      <p:sp>
        <p:nvSpPr>
          <p:cNvPr id="14" name="Text 11"/>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33</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DHCP FAILOVER TROUBLESHOOTING</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DHCP failover association troubleshooting playbook</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Use this playbook after you have already classified the symptom and proven that DHCP failover is actually involved.</a:t>
            </a:r>
            <a:endParaRPr lang="en-US" sz="1050" dirty="0"/>
          </a:p>
        </p:txBody>
      </p:sp>
      <p:sp>
        <p:nvSpPr>
          <p:cNvPr id="7" name="Text 5"/>
          <p:cNvSpPr/>
          <p:nvPr/>
        </p:nvSpPr>
        <p:spPr>
          <a:xfrm>
            <a:off x="411480" y="1005840"/>
            <a:ext cx="3679850" cy="384048"/>
          </a:xfrm>
          <a:prstGeom prst="rect">
            <a:avLst/>
          </a:prstGeom>
          <a:solidFill>
            <a:srgbClr val="16324F"/>
          </a:solidFill>
          <a:ln w="12700">
            <a:solidFill>
              <a:srgbClr val="16324F"/>
            </a:solidFill>
          </a:ln>
        </p:spPr>
        <p:txBody>
          <a:bodyPr wrap="square" lIns="1524" tIns="1524" rIns="1524" bIns="1524" rtlCol="0" anchor="ctr"/>
          <a:lstStyle/>
          <a:p>
            <a:pPr marL="0" indent="0" algn="ctr">
              <a:buNone/>
            </a:pPr>
            <a:r>
              <a:rPr lang="en-US" sz="1650" b="1" dirty="0">
                <a:solidFill>
                  <a:srgbClr val="FFFFFF"/>
                </a:solidFill>
                <a:latin typeface="Aptos" pitchFamily="34" charset="0"/>
                <a:ea typeface="Aptos" pitchFamily="34" charset="-122"/>
                <a:cs typeface="Aptos" pitchFamily="34" charset="-120"/>
              </a:rPr>
              <a:t>State and communication checks</a:t>
            </a:r>
            <a:endParaRPr lang="en-US" sz="1650" dirty="0"/>
          </a:p>
        </p:txBody>
      </p:sp>
      <p:sp>
        <p:nvSpPr>
          <p:cNvPr id="8" name="Text 6"/>
          <p:cNvSpPr/>
          <p:nvPr/>
        </p:nvSpPr>
        <p:spPr>
          <a:xfrm>
            <a:off x="411480" y="1444752"/>
            <a:ext cx="3679850" cy="4096512"/>
          </a:xfrm>
          <a:prstGeom prst="rect">
            <a:avLst/>
          </a:prstGeom>
          <a:solidFill>
            <a:srgbClr val="F5F7F9"/>
          </a:solidFill>
          <a:ln w="12700">
            <a:solidFill>
              <a:srgbClr val="D7DEE5"/>
            </a:solidFill>
          </a:ln>
          <a:effectLst>
            <a:outerShdw blurRad="13970" dist="12700" dir="2700000" algn="bl" rotWithShape="0">
              <a:srgbClr val="000000">
                <a:alpha val="14000"/>
              </a:srgbClr>
            </a:outerShdw>
          </a:effectLst>
        </p:spPr>
        <p:txBody>
          <a:bodyPr wrap="square" lIns="2032" tIns="2032" rIns="2032" bIns="2032" rtlCol="0" anchor="t">
            <a:normAutofit/>
          </a:bodyPr>
          <a:lstStyle/>
          <a:p>
            <a:pPr marL="0" indent="0">
              <a:buNone/>
            </a:pPr>
            <a:r>
              <a:rPr lang="en-US" sz="1510" dirty="0">
                <a:solidFill>
                  <a:srgbClr val="23313F"/>
                </a:solidFill>
                <a:latin typeface="Aptos" pitchFamily="34" charset="0"/>
                <a:ea typeface="Aptos" pitchFamily="34" charset="-122"/>
                <a:cs typeface="Aptos" pitchFamily="34" charset="-120"/>
              </a:rPr>
              <a:t>Review the association state on both peers, verify the peers can communicate, confirm clocks are aligned, and determine whether the pair is in a normal transient condition or a real fault such as deadlock or persistent partner-down. Capture the state before you touch recovery controls.</a:t>
            </a:r>
            <a:endParaRPr lang="en-US" sz="1510" dirty="0"/>
          </a:p>
        </p:txBody>
      </p:sp>
      <p:sp>
        <p:nvSpPr>
          <p:cNvPr id="9" name="Text 7"/>
          <p:cNvSpPr/>
          <p:nvPr/>
        </p:nvSpPr>
        <p:spPr>
          <a:xfrm>
            <a:off x="4255922" y="1005840"/>
            <a:ext cx="3679850" cy="384048"/>
          </a:xfrm>
          <a:prstGeom prst="rect">
            <a:avLst/>
          </a:prstGeom>
          <a:solidFill>
            <a:srgbClr val="0E79C1"/>
          </a:solidFill>
          <a:ln w="12700">
            <a:solidFill>
              <a:srgbClr val="0E79C1"/>
            </a:solidFill>
          </a:ln>
        </p:spPr>
        <p:txBody>
          <a:bodyPr wrap="square" lIns="1524" tIns="1524" rIns="1524" bIns="1524" rtlCol="0" anchor="ctr"/>
          <a:lstStyle/>
          <a:p>
            <a:pPr marL="0" indent="0" algn="ctr">
              <a:buNone/>
            </a:pPr>
            <a:r>
              <a:rPr lang="en-US" sz="1650" b="1" dirty="0">
                <a:solidFill>
                  <a:srgbClr val="FFFFFF"/>
                </a:solidFill>
                <a:latin typeface="Aptos" pitchFamily="34" charset="0"/>
                <a:ea typeface="Aptos" pitchFamily="34" charset="-122"/>
                <a:cs typeface="Aptos" pitchFamily="34" charset="-120"/>
              </a:rPr>
              <a:t>Data and ownership checks</a:t>
            </a:r>
            <a:endParaRPr lang="en-US" sz="1650" dirty="0"/>
          </a:p>
        </p:txBody>
      </p:sp>
      <p:sp>
        <p:nvSpPr>
          <p:cNvPr id="10" name="Text 8"/>
          <p:cNvSpPr/>
          <p:nvPr/>
        </p:nvSpPr>
        <p:spPr>
          <a:xfrm>
            <a:off x="4255922" y="1444752"/>
            <a:ext cx="3679850" cy="4096512"/>
          </a:xfrm>
          <a:prstGeom prst="rect">
            <a:avLst/>
          </a:prstGeom>
          <a:solidFill>
            <a:srgbClr val="EEF6FB"/>
          </a:solidFill>
          <a:ln w="12700">
            <a:solidFill>
              <a:srgbClr val="D7DEE5"/>
            </a:solidFill>
          </a:ln>
          <a:effectLst>
            <a:outerShdw blurRad="13970" dist="12700" dir="2700000" algn="bl" rotWithShape="0">
              <a:srgbClr val="000000">
                <a:alpha val="14000"/>
              </a:srgbClr>
            </a:outerShdw>
          </a:effectLst>
        </p:spPr>
        <p:txBody>
          <a:bodyPr wrap="square" lIns="2032" tIns="2032" rIns="2032" bIns="2032" rtlCol="0" anchor="t">
            <a:normAutofit/>
          </a:bodyPr>
          <a:lstStyle/>
          <a:p>
            <a:pPr marL="0" indent="0">
              <a:buNone/>
            </a:pPr>
            <a:r>
              <a:rPr lang="en-US" sz="1510" dirty="0">
                <a:solidFill>
                  <a:srgbClr val="23313F"/>
                </a:solidFill>
                <a:latin typeface="Aptos" pitchFamily="34" charset="0"/>
                <a:ea typeface="Aptos" pitchFamily="34" charset="-122"/>
                <a:cs typeface="Aptos" pitchFamily="34" charset="-120"/>
              </a:rPr>
              <a:t>Verify that both peers are actually assigned to the relevant networks and that option inheritance, reservations, and scope ownership are symmetric where expected. One-sided network assignment is a classic reason a failover pair appears broken when the underlying issue is simple object placement.</a:t>
            </a:r>
            <a:endParaRPr lang="en-US" sz="1510" dirty="0"/>
          </a:p>
        </p:txBody>
      </p:sp>
      <p:sp>
        <p:nvSpPr>
          <p:cNvPr id="11" name="Text 9"/>
          <p:cNvSpPr/>
          <p:nvPr/>
        </p:nvSpPr>
        <p:spPr>
          <a:xfrm>
            <a:off x="8100365" y="1005840"/>
            <a:ext cx="3679850" cy="384048"/>
          </a:xfrm>
          <a:prstGeom prst="rect">
            <a:avLst/>
          </a:prstGeom>
          <a:solidFill>
            <a:srgbClr val="E6812F"/>
          </a:solidFill>
          <a:ln w="12700">
            <a:solidFill>
              <a:srgbClr val="E6812F"/>
            </a:solidFill>
          </a:ln>
        </p:spPr>
        <p:txBody>
          <a:bodyPr wrap="square" lIns="1524" tIns="1524" rIns="1524" bIns="1524" rtlCol="0" anchor="ctr"/>
          <a:lstStyle/>
          <a:p>
            <a:pPr marL="0" indent="0" algn="ctr">
              <a:buNone/>
            </a:pPr>
            <a:r>
              <a:rPr lang="en-US" sz="1650" b="1" dirty="0">
                <a:solidFill>
                  <a:srgbClr val="FFFFFF"/>
                </a:solidFill>
                <a:latin typeface="Aptos" pitchFamily="34" charset="0"/>
                <a:ea typeface="Aptos" pitchFamily="34" charset="-122"/>
                <a:cs typeface="Aptos" pitchFamily="34" charset="-120"/>
              </a:rPr>
              <a:t>Recovery decision</a:t>
            </a:r>
            <a:endParaRPr lang="en-US" sz="1650" dirty="0"/>
          </a:p>
        </p:txBody>
      </p:sp>
      <p:sp>
        <p:nvSpPr>
          <p:cNvPr id="12" name="Text 10"/>
          <p:cNvSpPr/>
          <p:nvPr/>
        </p:nvSpPr>
        <p:spPr>
          <a:xfrm>
            <a:off x="8100365" y="1444752"/>
            <a:ext cx="3679850" cy="4096512"/>
          </a:xfrm>
          <a:prstGeom prst="rect">
            <a:avLst/>
          </a:prstGeom>
          <a:solidFill>
            <a:srgbClr val="FFF5E9"/>
          </a:solidFill>
          <a:ln w="12700">
            <a:solidFill>
              <a:srgbClr val="D7DEE5"/>
            </a:solidFill>
          </a:ln>
          <a:effectLst>
            <a:outerShdw blurRad="13970" dist="12700" dir="2700000" algn="bl" rotWithShape="0">
              <a:srgbClr val="000000">
                <a:alpha val="14000"/>
              </a:srgbClr>
            </a:outerShdw>
          </a:effectLst>
        </p:spPr>
        <p:txBody>
          <a:bodyPr wrap="square" lIns="2032" tIns="2032" rIns="2032" bIns="2032" rtlCol="0" anchor="t">
            <a:normAutofit/>
          </a:bodyPr>
          <a:lstStyle/>
          <a:p>
            <a:pPr marL="0" indent="0">
              <a:buNone/>
            </a:pPr>
            <a:r>
              <a:rPr lang="en-US" sz="1510" dirty="0">
                <a:solidFill>
                  <a:srgbClr val="23313F"/>
                </a:solidFill>
                <a:latin typeface="Aptos" pitchFamily="34" charset="0"/>
                <a:ea typeface="Aptos" pitchFamily="34" charset="-122"/>
                <a:cs typeface="Aptos" pitchFamily="34" charset="-120"/>
              </a:rPr>
              <a:t>Use deadlock recovery or deeper reset actions only after collecting evidence and ruling out basic ownership and timing issues. If the incident involves a recent migration, VLAN change, or relay move, re-check network mapping before concluding the association itself is corrupt.</a:t>
            </a:r>
            <a:endParaRPr lang="en-US" sz="1510" dirty="0"/>
          </a:p>
        </p:txBody>
      </p:sp>
      <p:sp>
        <p:nvSpPr>
          <p:cNvPr id="13" name="Text 11"/>
          <p:cNvSpPr/>
          <p:nvPr/>
        </p:nvSpPr>
        <p:spPr>
          <a:xfrm>
            <a:off x="411480" y="5650992"/>
            <a:ext cx="11368735" cy="493776"/>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Collect before you reset
</a:t>
            </a:r>
            <a:r>
              <a:rPr lang="en-US" sz="1540" dirty="0">
                <a:solidFill>
                  <a:srgbClr val="23313F"/>
                </a:solidFill>
                <a:latin typeface="Aptos" pitchFamily="34" charset="0"/>
                <a:ea typeface="Aptos" pitchFamily="34" charset="-122"/>
                <a:cs typeface="Aptos" pitchFamily="34" charset="-120"/>
              </a:rPr>
              <a:t>Save association state from both peers, supporting logs or support bundles, evidence of relay and network assignment, and any recent change records touching VLANs, ranges, or lease timers. Recovery without evidence solves the moment and damages future troubleshooting.</a:t>
            </a:r>
            <a:endParaRPr lang="en-US" sz="1700" dirty="0"/>
          </a:p>
        </p:txBody>
      </p:sp>
      <p:sp>
        <p:nvSpPr>
          <p:cNvPr id="14" name="Shape 12"/>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5" name="Text 13"/>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DHCP failover troubleshooting</a:t>
            </a:r>
            <a:endParaRPr lang="en-US" sz="900" dirty="0"/>
          </a:p>
        </p:txBody>
      </p:sp>
      <p:sp>
        <p:nvSpPr>
          <p:cNvPr id="16" name="Text 14"/>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34</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DNS TROUBLESHOOTING</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DNS resolution troubleshooting playbook</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By this point in the lecture the audience has seen the symptom matrix, the logging model, and a view-order case. This slide condenses that into an operational sequence.</a:t>
            </a:r>
            <a:endParaRPr lang="en-US" sz="1050" dirty="0"/>
          </a:p>
        </p:txBody>
      </p:sp>
      <p:sp>
        <p:nvSpPr>
          <p:cNvPr id="7" name="Text 5"/>
          <p:cNvSpPr/>
          <p:nvPr/>
        </p:nvSpPr>
        <p:spPr>
          <a:xfrm>
            <a:off x="411480" y="1005840"/>
            <a:ext cx="3679850" cy="384048"/>
          </a:xfrm>
          <a:prstGeom prst="rect">
            <a:avLst/>
          </a:prstGeom>
          <a:solidFill>
            <a:srgbClr val="16324F"/>
          </a:solidFill>
          <a:ln w="12700">
            <a:solidFill>
              <a:srgbClr val="16324F"/>
            </a:solidFill>
          </a:ln>
        </p:spPr>
        <p:txBody>
          <a:bodyPr wrap="square" lIns="1524" tIns="1524" rIns="1524" bIns="1524" rtlCol="0" anchor="ctr"/>
          <a:lstStyle/>
          <a:p>
            <a:pPr marL="0" indent="0" algn="ctr">
              <a:buNone/>
            </a:pPr>
            <a:r>
              <a:rPr lang="en-US" sz="1650" b="1" dirty="0">
                <a:solidFill>
                  <a:srgbClr val="FFFFFF"/>
                </a:solidFill>
                <a:latin typeface="Aptos" pitchFamily="34" charset="0"/>
                <a:ea typeface="Aptos" pitchFamily="34" charset="-122"/>
                <a:cs typeface="Aptos" pitchFamily="34" charset="-120"/>
              </a:rPr>
              <a:t>1. Classify and localize</a:t>
            </a:r>
            <a:endParaRPr lang="en-US" sz="1650" dirty="0"/>
          </a:p>
        </p:txBody>
      </p:sp>
      <p:sp>
        <p:nvSpPr>
          <p:cNvPr id="8" name="Text 6"/>
          <p:cNvSpPr/>
          <p:nvPr/>
        </p:nvSpPr>
        <p:spPr>
          <a:xfrm>
            <a:off x="411480" y="1444752"/>
            <a:ext cx="3679850" cy="4096512"/>
          </a:xfrm>
          <a:prstGeom prst="rect">
            <a:avLst/>
          </a:prstGeom>
          <a:solidFill>
            <a:srgbClr val="F5F7F9"/>
          </a:solidFill>
          <a:ln w="12700">
            <a:solidFill>
              <a:srgbClr val="D7DEE5"/>
            </a:solidFill>
          </a:ln>
          <a:effectLst>
            <a:outerShdw blurRad="13970" dist="12700" dir="2700000" algn="bl" rotWithShape="0">
              <a:srgbClr val="000000">
                <a:alpha val="14000"/>
              </a:srgbClr>
            </a:outerShdw>
          </a:effectLst>
        </p:spPr>
        <p:txBody>
          <a:bodyPr wrap="square" lIns="2032" tIns="2032" rIns="2032" bIns="2032" rtlCol="0" anchor="t">
            <a:normAutofit/>
          </a:bodyPr>
          <a:lstStyle/>
          <a:p>
            <a:pPr marL="0" indent="0">
              <a:buNone/>
            </a:pPr>
            <a:r>
              <a:rPr lang="en-US" sz="1510" dirty="0">
                <a:solidFill>
                  <a:srgbClr val="23313F"/>
                </a:solidFill>
                <a:latin typeface="Aptos" pitchFamily="34" charset="0"/>
                <a:ea typeface="Aptos" pitchFamily="34" charset="-122"/>
                <a:cs typeface="Aptos" pitchFamily="34" charset="-120"/>
              </a:rPr>
              <a:t>Decide whether the symptom is NXDOMAIN, SERVFAIL, timeout, or wrong answer. Then prove whether the member is acting authoritatively or recursively for that name and client path. Without that split, every later step is less efficient.</a:t>
            </a:r>
            <a:endParaRPr lang="en-US" sz="1510" dirty="0"/>
          </a:p>
        </p:txBody>
      </p:sp>
      <p:sp>
        <p:nvSpPr>
          <p:cNvPr id="9" name="Text 7"/>
          <p:cNvSpPr/>
          <p:nvPr/>
        </p:nvSpPr>
        <p:spPr>
          <a:xfrm>
            <a:off x="4255922" y="1005840"/>
            <a:ext cx="3679850" cy="384048"/>
          </a:xfrm>
          <a:prstGeom prst="rect">
            <a:avLst/>
          </a:prstGeom>
          <a:solidFill>
            <a:srgbClr val="0E79C1"/>
          </a:solidFill>
          <a:ln w="12700">
            <a:solidFill>
              <a:srgbClr val="0E79C1"/>
            </a:solidFill>
          </a:ln>
        </p:spPr>
        <p:txBody>
          <a:bodyPr wrap="square" lIns="1524" tIns="1524" rIns="1524" bIns="1524" rtlCol="0" anchor="ctr"/>
          <a:lstStyle/>
          <a:p>
            <a:pPr marL="0" indent="0" algn="ctr">
              <a:buNone/>
            </a:pPr>
            <a:r>
              <a:rPr lang="en-US" sz="1650" b="1" dirty="0">
                <a:solidFill>
                  <a:srgbClr val="FFFFFF"/>
                </a:solidFill>
                <a:latin typeface="Aptos" pitchFamily="34" charset="0"/>
                <a:ea typeface="Aptos" pitchFamily="34" charset="-122"/>
                <a:cs typeface="Aptos" pitchFamily="34" charset="-120"/>
              </a:rPr>
              <a:t>2. Prove the selection logic</a:t>
            </a:r>
            <a:endParaRPr lang="en-US" sz="1650" dirty="0"/>
          </a:p>
        </p:txBody>
      </p:sp>
      <p:sp>
        <p:nvSpPr>
          <p:cNvPr id="10" name="Text 8"/>
          <p:cNvSpPr/>
          <p:nvPr/>
        </p:nvSpPr>
        <p:spPr>
          <a:xfrm>
            <a:off x="4255922" y="1444752"/>
            <a:ext cx="3679850" cy="4096512"/>
          </a:xfrm>
          <a:prstGeom prst="rect">
            <a:avLst/>
          </a:prstGeom>
          <a:solidFill>
            <a:srgbClr val="EEF6FB"/>
          </a:solidFill>
          <a:ln w="12700">
            <a:solidFill>
              <a:srgbClr val="D7DEE5"/>
            </a:solidFill>
          </a:ln>
          <a:effectLst>
            <a:outerShdw blurRad="13970" dist="12700" dir="2700000" algn="bl" rotWithShape="0">
              <a:srgbClr val="000000">
                <a:alpha val="14000"/>
              </a:srgbClr>
            </a:outerShdw>
          </a:effectLst>
        </p:spPr>
        <p:txBody>
          <a:bodyPr wrap="square" lIns="2032" tIns="2032" rIns="2032" bIns="2032" rtlCol="0" anchor="t">
            <a:normAutofit/>
          </a:bodyPr>
          <a:lstStyle/>
          <a:p>
            <a:pPr marL="0" indent="0">
              <a:buNone/>
            </a:pPr>
            <a:r>
              <a:rPr lang="en-US" sz="1510" dirty="0">
                <a:solidFill>
                  <a:srgbClr val="23313F"/>
                </a:solidFill>
                <a:latin typeface="Aptos" pitchFamily="34" charset="0"/>
                <a:ea typeface="Aptos" pitchFamily="34" charset="-122"/>
                <a:cs typeface="Aptos" pitchFamily="34" charset="-120"/>
              </a:rPr>
              <a:t>Determine which view answered, whether ACLs and client matching are correct, and whether cache state is masking a recent fix. Compare client-path queries with server-directed queries so you know whether the disagreement is in the member logic or beyond it.</a:t>
            </a:r>
            <a:endParaRPr lang="en-US" sz="1510" dirty="0"/>
          </a:p>
        </p:txBody>
      </p:sp>
      <p:sp>
        <p:nvSpPr>
          <p:cNvPr id="11" name="Text 9"/>
          <p:cNvSpPr/>
          <p:nvPr/>
        </p:nvSpPr>
        <p:spPr>
          <a:xfrm>
            <a:off x="8100365" y="1005840"/>
            <a:ext cx="3679850" cy="384048"/>
          </a:xfrm>
          <a:prstGeom prst="rect">
            <a:avLst/>
          </a:prstGeom>
          <a:solidFill>
            <a:srgbClr val="E6812F"/>
          </a:solidFill>
          <a:ln w="12700">
            <a:solidFill>
              <a:srgbClr val="E6812F"/>
            </a:solidFill>
          </a:ln>
        </p:spPr>
        <p:txBody>
          <a:bodyPr wrap="square" lIns="1524" tIns="1524" rIns="1524" bIns="1524" rtlCol="0" anchor="ctr"/>
          <a:lstStyle/>
          <a:p>
            <a:pPr marL="0" indent="0" algn="ctr">
              <a:buNone/>
            </a:pPr>
            <a:r>
              <a:rPr lang="en-US" sz="1650" b="1" dirty="0">
                <a:solidFill>
                  <a:srgbClr val="FFFFFF"/>
                </a:solidFill>
                <a:latin typeface="Aptos" pitchFamily="34" charset="0"/>
                <a:ea typeface="Aptos" pitchFamily="34" charset="-122"/>
                <a:cs typeface="Aptos" pitchFamily="34" charset="-120"/>
              </a:rPr>
              <a:t>3. Change only after the proof chain is clear</a:t>
            </a:r>
            <a:endParaRPr lang="en-US" sz="1650" dirty="0"/>
          </a:p>
        </p:txBody>
      </p:sp>
      <p:sp>
        <p:nvSpPr>
          <p:cNvPr id="12" name="Text 10"/>
          <p:cNvSpPr/>
          <p:nvPr/>
        </p:nvSpPr>
        <p:spPr>
          <a:xfrm>
            <a:off x="8100365" y="1444752"/>
            <a:ext cx="3679850" cy="4096512"/>
          </a:xfrm>
          <a:prstGeom prst="rect">
            <a:avLst/>
          </a:prstGeom>
          <a:solidFill>
            <a:srgbClr val="FFF5E9"/>
          </a:solidFill>
          <a:ln w="12700">
            <a:solidFill>
              <a:srgbClr val="D7DEE5"/>
            </a:solidFill>
          </a:ln>
          <a:effectLst>
            <a:outerShdw blurRad="13970" dist="12700" dir="2700000" algn="bl" rotWithShape="0">
              <a:srgbClr val="000000">
                <a:alpha val="14000"/>
              </a:srgbClr>
            </a:outerShdw>
          </a:effectLst>
        </p:spPr>
        <p:txBody>
          <a:bodyPr wrap="square" lIns="2032" tIns="2032" rIns="2032" bIns="2032" rtlCol="0" anchor="t">
            <a:normAutofit/>
          </a:bodyPr>
          <a:lstStyle/>
          <a:p>
            <a:pPr marL="0" indent="0">
              <a:buNone/>
            </a:pPr>
            <a:r>
              <a:rPr lang="en-US" sz="1510" dirty="0">
                <a:solidFill>
                  <a:srgbClr val="23313F"/>
                </a:solidFill>
                <a:latin typeface="Aptos" pitchFamily="34" charset="0"/>
                <a:ea typeface="Aptos" pitchFamily="34" charset="-122"/>
                <a:cs typeface="Aptos" pitchFamily="34" charset="-120"/>
              </a:rPr>
              <a:t>If the issue is authoritative data, correct the zone or record and verify restart state. If the issue is recursion, correct forwarders, root-hint pathing, or upstream authority issues. If the issue is policy, fix view order or ACLs. Avoid multi-layer “shotgun” changes that destroy evidence.</a:t>
            </a:r>
            <a:endParaRPr lang="en-US" sz="1510" dirty="0"/>
          </a:p>
        </p:txBody>
      </p:sp>
      <p:sp>
        <p:nvSpPr>
          <p:cNvPr id="13" name="Text 11"/>
          <p:cNvSpPr/>
          <p:nvPr/>
        </p:nvSpPr>
        <p:spPr>
          <a:xfrm>
            <a:off x="411480" y="5650992"/>
            <a:ext cx="11368735" cy="493776"/>
          </a:xfrm>
          <a:prstGeom prst="rect">
            <a:avLst/>
          </a:prstGeom>
          <a:solidFill>
            <a:srgbClr val="F1F9E8"/>
          </a:solidFill>
          <a:ln w="12700">
            <a:solidFill>
              <a:srgbClr val="8BC53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Three commands and artifacts that solve most cases
</a:t>
            </a:r>
            <a:r>
              <a:rPr lang="en-US" sz="1540" dirty="0">
                <a:solidFill>
                  <a:srgbClr val="23313F"/>
                </a:solidFill>
                <a:latin typeface="Aptos" pitchFamily="34" charset="0"/>
                <a:ea typeface="Aptos" pitchFamily="34" charset="-122"/>
                <a:cs typeface="Aptos" pitchFamily="34" charset="-120"/>
              </a:rPr>
              <a:t>1) A query from the affected client path. 2) A query directed at the member itself. 3) The corresponding Infoblox log or audit evidence. When those three disagree, the disagreement usually tells you exactly which layer is wrong.</a:t>
            </a:r>
            <a:endParaRPr lang="en-US" sz="1700" dirty="0"/>
          </a:p>
        </p:txBody>
      </p:sp>
      <p:sp>
        <p:nvSpPr>
          <p:cNvPr id="14" name="Shape 12"/>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5" name="Text 13"/>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DNS troubleshooting</a:t>
            </a:r>
            <a:endParaRPr lang="en-US" sz="900" dirty="0"/>
          </a:p>
        </p:txBody>
      </p:sp>
      <p:sp>
        <p:nvSpPr>
          <p:cNvPr id="16" name="Text 14"/>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35</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868680"/>
            <a:ext cx="12191695" cy="0"/>
          </a:xfrm>
          <a:prstGeom prst="line">
            <a:avLst/>
          </a:prstGeom>
          <a:noFill/>
          <a:ln w="28575">
            <a:solidFill>
              <a:srgbClr val="8BC53F"/>
            </a:solidFill>
            <a:prstDash val="solid"/>
          </a:ln>
        </p:spPr>
        <p:txBody>
          <a:bodyPr/>
          <a:lstStyle/>
          <a:p>
            <a:endParaRPr lang="en-US"/>
          </a:p>
        </p:txBody>
      </p:sp>
      <p:sp>
        <p:nvSpPr>
          <p:cNvPr id="4" name="Text 2"/>
          <p:cNvSpPr/>
          <p:nvPr/>
        </p:nvSpPr>
        <p:spPr>
          <a:xfrm>
            <a:off x="411480" y="146304"/>
            <a:ext cx="1737360" cy="256032"/>
          </a:xfrm>
          <a:prstGeom prst="rect">
            <a:avLst/>
          </a:prstGeom>
          <a:solidFill>
            <a:srgbClr val="16324F"/>
          </a:solidFill>
          <a:ln w="12700">
            <a:solidFill>
              <a:srgbClr val="16324F"/>
            </a:solidFill>
          </a:ln>
        </p:spPr>
        <p:txBody>
          <a:bodyPr wrap="square" lIns="1016" tIns="1016" rIns="1016" bIns="1016"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CLOSE</a:t>
            </a:r>
            <a:endParaRPr lang="en-US" sz="950" dirty="0"/>
          </a:p>
        </p:txBody>
      </p:sp>
      <p:sp>
        <p:nvSpPr>
          <p:cNvPr id="5" name="Text 3"/>
          <p:cNvSpPr/>
          <p:nvPr/>
        </p:nvSpPr>
        <p:spPr>
          <a:xfrm>
            <a:off x="2331720" y="219456"/>
            <a:ext cx="9326880" cy="384048"/>
          </a:xfrm>
          <a:prstGeom prst="rect">
            <a:avLst/>
          </a:prstGeom>
          <a:noFill/>
          <a:ln/>
        </p:spPr>
        <p:txBody>
          <a:bodyPr wrap="square" lIns="0" tIns="0" rIns="0" bIns="0" rtlCol="0" anchor="ctr">
            <a:normAutofit/>
          </a:bodyPr>
          <a:lstStyle/>
          <a:p>
            <a:pPr marL="0" indent="0">
              <a:buNone/>
            </a:pPr>
            <a:r>
              <a:rPr lang="en-US" sz="1800" b="1" dirty="0">
                <a:solidFill>
                  <a:srgbClr val="16324F"/>
                </a:solidFill>
                <a:latin typeface="Aptos Display" pitchFamily="34" charset="0"/>
                <a:ea typeface="Aptos Display" pitchFamily="34" charset="-122"/>
                <a:cs typeface="Aptos Display" pitchFamily="34" charset="-120"/>
              </a:rPr>
              <a:t>Operational checklist to carry back into production</a:t>
            </a:r>
            <a:endParaRPr lang="en-US" sz="1800" dirty="0"/>
          </a:p>
        </p:txBody>
      </p:sp>
      <p:sp>
        <p:nvSpPr>
          <p:cNvPr id="6" name="Text 4"/>
          <p:cNvSpPr/>
          <p:nvPr/>
        </p:nvSpPr>
        <p:spPr>
          <a:xfrm>
            <a:off x="2331720" y="722376"/>
            <a:ext cx="9326880" cy="146304"/>
          </a:xfrm>
          <a:prstGeom prst="rect">
            <a:avLst/>
          </a:prstGeom>
          <a:noFill/>
          <a:ln/>
        </p:spPr>
        <p:txBody>
          <a:bodyPr wrap="square" lIns="0" tIns="0" rIns="0" bIns="0" rtlCol="0" anchor="ctr"/>
          <a:lstStyle/>
          <a:p>
            <a:pPr marL="0" indent="0">
              <a:buNone/>
            </a:pPr>
            <a:r>
              <a:rPr lang="en-US" sz="1050" i="1" dirty="0">
                <a:solidFill>
                  <a:srgbClr val="5D6872"/>
                </a:solidFill>
                <a:latin typeface="Aptos" pitchFamily="34" charset="0"/>
                <a:ea typeface="Aptos" pitchFamily="34" charset="-122"/>
                <a:cs typeface="Aptos" pitchFamily="34" charset="-120"/>
              </a:rPr>
              <a:t>Use this closing slide as the handoff from lecture to practice. It is designed to become a field checklist, not just a summary.</a:t>
            </a:r>
            <a:endParaRPr lang="en-US" sz="1050" dirty="0"/>
          </a:p>
        </p:txBody>
      </p:sp>
      <p:sp>
        <p:nvSpPr>
          <p:cNvPr id="7" name="Text 5"/>
          <p:cNvSpPr/>
          <p:nvPr/>
        </p:nvSpPr>
        <p:spPr>
          <a:xfrm>
            <a:off x="411480" y="1005840"/>
            <a:ext cx="5577840" cy="4526280"/>
          </a:xfrm>
          <a:prstGeom prst="rect">
            <a:avLst/>
          </a:prstGeom>
          <a:solidFill>
            <a:srgbClr val="F5F7F9"/>
          </a:solidFill>
          <a:ln w="12700">
            <a:solidFill>
              <a:srgbClr val="D7DEE5"/>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Before a migration, carveout, or major change
</a:t>
            </a:r>
            <a:r>
              <a:rPr lang="en-US" sz="1540" dirty="0">
                <a:solidFill>
                  <a:srgbClr val="23313F"/>
                </a:solidFill>
                <a:latin typeface="Aptos" pitchFamily="34" charset="0"/>
                <a:ea typeface="Aptos" pitchFamily="34" charset="-122"/>
                <a:cs typeface="Aptos" pitchFamily="34" charset="-120"/>
              </a:rPr>
              <a:t>• Prove authority and ownership: which system owns each zone, scope, reservation, and IPAM object.</a:t>
            </a:r>
            <a:endParaRPr lang="en-US" sz="1700" dirty="0"/>
          </a:p>
          <a:p>
            <a:pPr marL="0" indent="0">
              <a:buNone/>
            </a:pPr>
            <a:endParaRPr lang="en-US" sz="1700" dirty="0"/>
          </a:p>
          <a:p>
            <a:pPr marL="0" indent="0">
              <a:buNone/>
            </a:pPr>
            <a:r>
              <a:rPr lang="en-US" sz="1540" dirty="0">
                <a:solidFill>
                  <a:srgbClr val="23313F"/>
                </a:solidFill>
                <a:latin typeface="Aptos" pitchFamily="34" charset="0"/>
                <a:ea typeface="Aptos" pitchFamily="34" charset="-122"/>
                <a:cs typeface="Aptos" pitchFamily="34" charset="-120"/>
              </a:rPr>
              <a:t>• Lower TTLs or lease timers early enough to matter.</a:t>
            </a:r>
            <a:endParaRPr lang="en-US" sz="1700" dirty="0"/>
          </a:p>
          <a:p>
            <a:pPr marL="0" indent="0">
              <a:buNone/>
            </a:pPr>
            <a:endParaRPr lang="en-US" sz="1700" dirty="0"/>
          </a:p>
          <a:p>
            <a:pPr marL="0" indent="0">
              <a:buNone/>
            </a:pPr>
            <a:r>
              <a:rPr lang="en-US" sz="1540" dirty="0">
                <a:solidFill>
                  <a:srgbClr val="23313F"/>
                </a:solidFill>
                <a:latin typeface="Aptos" pitchFamily="34" charset="0"/>
                <a:ea typeface="Aptos" pitchFamily="34" charset="-122"/>
                <a:cs typeface="Aptos" pitchFamily="34" charset="-120"/>
              </a:rPr>
              <a:t>• Capture a Grid status baseline, including sync state and pending restarts.</a:t>
            </a:r>
            <a:endParaRPr lang="en-US" sz="1700" dirty="0"/>
          </a:p>
          <a:p>
            <a:pPr marL="0" indent="0">
              <a:buNone/>
            </a:pPr>
            <a:endParaRPr lang="en-US" sz="1700" dirty="0"/>
          </a:p>
          <a:p>
            <a:pPr marL="0" indent="0">
              <a:buNone/>
            </a:pPr>
            <a:r>
              <a:rPr lang="en-US" sz="1540" dirty="0">
                <a:solidFill>
                  <a:srgbClr val="23313F"/>
                </a:solidFill>
                <a:latin typeface="Aptos" pitchFamily="34" charset="0"/>
                <a:ea typeface="Aptos" pitchFamily="34" charset="-122"/>
                <a:cs typeface="Aptos" pitchFamily="34" charset="-120"/>
              </a:rPr>
              <a:t>• Validate logging paths before the change window so evidence exists if the cutover goes wrong.</a:t>
            </a:r>
            <a:endParaRPr lang="en-US" sz="1700" dirty="0"/>
          </a:p>
          <a:p>
            <a:pPr marL="0" indent="0">
              <a:buNone/>
            </a:pPr>
            <a:endParaRPr lang="en-US" sz="1700" dirty="0"/>
          </a:p>
          <a:p>
            <a:pPr marL="0" indent="0">
              <a:buNone/>
            </a:pPr>
            <a:r>
              <a:rPr lang="en-US" sz="1540" dirty="0">
                <a:solidFill>
                  <a:srgbClr val="23313F"/>
                </a:solidFill>
                <a:latin typeface="Aptos" pitchFamily="34" charset="0"/>
                <a:ea typeface="Aptos" pitchFamily="34" charset="-122"/>
                <a:cs typeface="Aptos" pitchFamily="34" charset="-120"/>
              </a:rPr>
              <a:t>• Confirm license and certificate readiness on the appliances that may become active or authoritative during recovery.</a:t>
            </a:r>
            <a:endParaRPr lang="en-US" sz="1700" dirty="0"/>
          </a:p>
        </p:txBody>
      </p:sp>
      <p:sp>
        <p:nvSpPr>
          <p:cNvPr id="8" name="Text 6"/>
          <p:cNvSpPr/>
          <p:nvPr/>
        </p:nvSpPr>
        <p:spPr>
          <a:xfrm>
            <a:off x="6199632" y="1005840"/>
            <a:ext cx="5577840" cy="4526280"/>
          </a:xfrm>
          <a:prstGeom prst="rect">
            <a:avLst/>
          </a:prstGeom>
          <a:solidFill>
            <a:srgbClr val="EEF6FB"/>
          </a:solidFill>
          <a:ln w="12700">
            <a:solidFill>
              <a:srgbClr val="0E79C1"/>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r>
              <a:rPr lang="en-US" sz="1700" b="1" dirty="0">
                <a:solidFill>
                  <a:srgbClr val="16324F"/>
                </a:solidFill>
                <a:latin typeface="Aptos" pitchFamily="34" charset="0"/>
                <a:ea typeface="Aptos" pitchFamily="34" charset="-122"/>
                <a:cs typeface="Aptos" pitchFamily="34" charset="-120"/>
              </a:rPr>
              <a:t>Day-two monitoring and troubleshooting discipline
</a:t>
            </a:r>
            <a:r>
              <a:rPr lang="en-US" sz="1540" dirty="0">
                <a:solidFill>
                  <a:srgbClr val="23313F"/>
                </a:solidFill>
                <a:latin typeface="Aptos" pitchFamily="34" charset="0"/>
                <a:ea typeface="Aptos" pitchFamily="34" charset="-122"/>
                <a:cs typeface="Aptos" pitchFamily="34" charset="-120"/>
              </a:rPr>
              <a:t>• Treat DNS, DHCP, IPAM, Grid, and HA as one evidence chain, not five unrelated tools.</a:t>
            </a:r>
            <a:endParaRPr lang="en-US" sz="1700" dirty="0"/>
          </a:p>
          <a:p>
            <a:pPr marL="0" indent="0">
              <a:buNone/>
            </a:pPr>
            <a:endParaRPr lang="en-US" sz="1700" dirty="0"/>
          </a:p>
          <a:p>
            <a:pPr marL="0" indent="0">
              <a:buNone/>
            </a:pPr>
            <a:r>
              <a:rPr lang="en-US" sz="1540" dirty="0">
                <a:solidFill>
                  <a:srgbClr val="23313F"/>
                </a:solidFill>
                <a:latin typeface="Aptos" pitchFamily="34" charset="0"/>
                <a:ea typeface="Aptos" pitchFamily="34" charset="-122"/>
                <a:cs typeface="Aptos" pitchFamily="34" charset="-120"/>
              </a:rPr>
              <a:t>• Start every incident by classifying the symptom and identifying the failure domain.</a:t>
            </a:r>
            <a:endParaRPr lang="en-US" sz="1700" dirty="0"/>
          </a:p>
          <a:p>
            <a:pPr marL="0" indent="0">
              <a:buNone/>
            </a:pPr>
            <a:endParaRPr lang="en-US" sz="1700" dirty="0"/>
          </a:p>
          <a:p>
            <a:pPr marL="0" indent="0">
              <a:buNone/>
            </a:pPr>
            <a:r>
              <a:rPr lang="en-US" sz="1540" dirty="0">
                <a:solidFill>
                  <a:srgbClr val="23313F"/>
                </a:solidFill>
                <a:latin typeface="Aptos" pitchFamily="34" charset="0"/>
                <a:ea typeface="Aptos" pitchFamily="34" charset="-122"/>
                <a:cs typeface="Aptos" pitchFamily="34" charset="-120"/>
              </a:rPr>
              <a:t>• Save screenshots, logs, and status before changing the system.</a:t>
            </a:r>
            <a:endParaRPr lang="en-US" sz="1700" dirty="0"/>
          </a:p>
          <a:p>
            <a:pPr marL="0" indent="0">
              <a:buNone/>
            </a:pPr>
            <a:endParaRPr lang="en-US" sz="1700" dirty="0"/>
          </a:p>
          <a:p>
            <a:pPr marL="0" indent="0">
              <a:buNone/>
            </a:pPr>
            <a:r>
              <a:rPr lang="en-US" sz="1540" dirty="0">
                <a:solidFill>
                  <a:srgbClr val="23313F"/>
                </a:solidFill>
                <a:latin typeface="Aptos" pitchFamily="34" charset="0"/>
                <a:ea typeface="Aptos" pitchFamily="34" charset="-122"/>
                <a:cs typeface="Aptos" pitchFamily="34" charset="-120"/>
              </a:rPr>
              <a:t>• Keep Splunk searches and dashboards aligned to pivots that matter operationally: client, member, object, and action.</a:t>
            </a:r>
            <a:endParaRPr lang="en-US" sz="1700" dirty="0"/>
          </a:p>
          <a:p>
            <a:pPr marL="0" indent="0">
              <a:buNone/>
            </a:pPr>
            <a:endParaRPr lang="en-US" sz="1700" dirty="0"/>
          </a:p>
          <a:p>
            <a:pPr marL="0" indent="0">
              <a:buNone/>
            </a:pPr>
            <a:r>
              <a:rPr lang="en-US" sz="1540" dirty="0">
                <a:solidFill>
                  <a:srgbClr val="23313F"/>
                </a:solidFill>
                <a:latin typeface="Aptos" pitchFamily="34" charset="0"/>
                <a:ea typeface="Aptos" pitchFamily="34" charset="-122"/>
                <a:cs typeface="Aptos" pitchFamily="34" charset="-120"/>
              </a:rPr>
              <a:t>• Rehearse takeover, candidate promotion, and certificate or license renewal before you need them under pressure.</a:t>
            </a:r>
            <a:endParaRPr lang="en-US" sz="1700" dirty="0"/>
          </a:p>
        </p:txBody>
      </p:sp>
      <p:sp>
        <p:nvSpPr>
          <p:cNvPr id="9" name="Text 7"/>
          <p:cNvSpPr/>
          <p:nvPr/>
        </p:nvSpPr>
        <p:spPr>
          <a:xfrm>
            <a:off x="411480" y="5650992"/>
            <a:ext cx="11368735" cy="493776"/>
          </a:xfrm>
          <a:prstGeom prst="rect">
            <a:avLst/>
          </a:prstGeom>
          <a:solidFill>
            <a:srgbClr val="FFF5E9"/>
          </a:solidFill>
          <a:ln w="12700">
            <a:solidFill>
              <a:srgbClr val="E6812F"/>
            </a:solidFill>
          </a:ln>
          <a:effectLst>
            <a:outerShdw blurRad="15240" dist="13970" dir="2700000" algn="bl" rotWithShape="0">
              <a:srgbClr val="000000">
                <a:alpha val="16000"/>
              </a:srgbClr>
            </a:outerShdw>
          </a:effectLst>
        </p:spPr>
        <p:txBody>
          <a:bodyPr wrap="square" lIns="2032" tIns="2032" rIns="2032" bIns="2032" rtlCol="0" anchor="t">
            <a:normAutofit/>
          </a:bodyPr>
          <a:lstStyle/>
          <a:p>
            <a:pPr marL="0" indent="0">
              <a:buNone/>
            </a:pPr>
            <a:endParaRPr lang="en-US" sz="1700" dirty="0"/>
          </a:p>
        </p:txBody>
      </p:sp>
      <p:sp>
        <p:nvSpPr>
          <p:cNvPr id="10" name="Shape 8"/>
          <p:cNvSpPr/>
          <p:nvPr/>
        </p:nvSpPr>
        <p:spPr>
          <a:xfrm>
            <a:off x="411480" y="6492240"/>
            <a:ext cx="11368735" cy="0"/>
          </a:xfrm>
          <a:prstGeom prst="line">
            <a:avLst/>
          </a:prstGeom>
          <a:noFill/>
          <a:ln w="12700">
            <a:solidFill>
              <a:srgbClr val="D7DEE5"/>
            </a:solidFill>
            <a:prstDash val="solid"/>
          </a:ln>
        </p:spPr>
        <p:txBody>
          <a:bodyPr/>
          <a:lstStyle/>
          <a:p>
            <a:endParaRPr lang="en-US"/>
          </a:p>
        </p:txBody>
      </p:sp>
      <p:sp>
        <p:nvSpPr>
          <p:cNvPr id="11" name="Text 9"/>
          <p:cNvSpPr/>
          <p:nvPr/>
        </p:nvSpPr>
        <p:spPr>
          <a:xfrm>
            <a:off x="411480" y="6547104"/>
            <a:ext cx="2560320" cy="164592"/>
          </a:xfrm>
          <a:prstGeom prst="rect">
            <a:avLst/>
          </a:prstGeom>
          <a:noFill/>
          <a:ln/>
        </p:spPr>
        <p:txBody>
          <a:bodyPr wrap="square" lIns="0" tIns="0" rIns="0" bIns="0" rtlCol="0" anchor="ctr"/>
          <a:lstStyle/>
          <a:p>
            <a:pPr marL="0" indent="0">
              <a:buNone/>
            </a:pPr>
            <a:r>
              <a:rPr lang="en-US" sz="900" dirty="0">
                <a:solidFill>
                  <a:srgbClr val="5D6872"/>
                </a:solidFill>
              </a:rPr>
              <a:t>Close</a:t>
            </a:r>
            <a:endParaRPr lang="en-US" sz="900" dirty="0"/>
          </a:p>
        </p:txBody>
      </p:sp>
      <p:sp>
        <p:nvSpPr>
          <p:cNvPr id="12" name="Text 10"/>
          <p:cNvSpPr/>
          <p:nvPr/>
        </p:nvSpPr>
        <p:spPr>
          <a:xfrm>
            <a:off x="11460175" y="6537960"/>
            <a:ext cx="274320" cy="164592"/>
          </a:xfrm>
          <a:prstGeom prst="rect">
            <a:avLst/>
          </a:prstGeom>
          <a:noFill/>
          <a:ln/>
        </p:spPr>
        <p:txBody>
          <a:bodyPr wrap="square" lIns="0" tIns="0" rIns="0" bIns="0" rtlCol="0" anchor="ctr"/>
          <a:lstStyle/>
          <a:p>
            <a:pPr marL="0" indent="0" algn="r">
              <a:buNone/>
            </a:pPr>
            <a:r>
              <a:rPr lang="en-US" sz="950" b="1" dirty="0">
                <a:solidFill>
                  <a:srgbClr val="16324F"/>
                </a:solidFill>
              </a:rPr>
              <a:t>36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6227</TotalTime>
  <Words>11469</Words>
  <Application>Microsoft Office PowerPoint</Application>
  <PresentationFormat>Widescreen</PresentationFormat>
  <Paragraphs>489</Paragraphs>
  <Slides>36</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Aptos</vt:lpstr>
      <vt:lpstr>Aptos Display</vt: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Infoblox DDI Advanced Operations and Troubleshooting</dc:title>
  <dc:subject>Advanced Infoblox DDI Operations</dc:subject>
  <dc:creator>OpenAI</dc:creator>
  <cp:lastModifiedBy>Panda, Himansu</cp:lastModifiedBy>
  <cp:revision>3</cp:revision>
  <dcterms:created xsi:type="dcterms:W3CDTF">2026-04-12T22:46:42Z</dcterms:created>
  <dcterms:modified xsi:type="dcterms:W3CDTF">2026-04-20T12:26:46Z</dcterms:modified>
</cp:coreProperties>
</file>